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3" d="100"/>
          <a:sy n="163" d="100"/>
        </p:scale>
        <p:origin x="1469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‹#›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‹#›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‹#›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39238" y="325685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59620" y="3252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37423" y="3252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299738" y="324653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36569" y="3252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02419" y="325923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13518" y="3252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89719" y="3246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66655" y="324653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90455" y="3252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66655" y="328463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3604" y="3246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7701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052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4653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3341624"/>
            <a:ext cx="3225800" cy="114935"/>
          </a:xfrm>
          <a:custGeom>
            <a:avLst/>
            <a:gdLst/>
            <a:ahLst/>
            <a:cxnLst/>
            <a:rect l="l" t="t" r="r" b="b"/>
            <a:pathLst>
              <a:path w="3225800" h="114935">
                <a:moveTo>
                  <a:pt x="3225584" y="0"/>
                </a:moveTo>
                <a:lnTo>
                  <a:pt x="0" y="0"/>
                </a:lnTo>
                <a:lnTo>
                  <a:pt x="0" y="114376"/>
                </a:lnTo>
                <a:lnTo>
                  <a:pt x="3225584" y="114376"/>
                </a:lnTo>
                <a:lnTo>
                  <a:pt x="3225584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3225584" y="3341624"/>
            <a:ext cx="1383030" cy="114935"/>
          </a:xfrm>
          <a:custGeom>
            <a:avLst/>
            <a:gdLst/>
            <a:ahLst/>
            <a:cxnLst/>
            <a:rect l="l" t="t" r="r" b="b"/>
            <a:pathLst>
              <a:path w="1383029" h="114935">
                <a:moveTo>
                  <a:pt x="1382420" y="0"/>
                </a:moveTo>
                <a:lnTo>
                  <a:pt x="0" y="0"/>
                </a:lnTo>
                <a:lnTo>
                  <a:pt x="0" y="114376"/>
                </a:lnTo>
                <a:lnTo>
                  <a:pt x="1382420" y="114376"/>
                </a:lnTo>
                <a:lnTo>
                  <a:pt x="1382420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‹#›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‹#›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39238" y="325685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59620" y="3252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37423" y="3252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299738" y="324653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36569" y="3252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02419" y="325923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13518" y="3252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89719" y="3246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66655" y="324653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90455" y="3252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66655" y="328463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3604" y="3246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7701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052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4653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2430"/>
            <a:ext cx="410400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956486"/>
            <a:ext cx="4054475" cy="1548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654" y="3315678"/>
            <a:ext cx="2465705" cy="153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67682" y="3315678"/>
            <a:ext cx="366395" cy="153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‹#›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5.xml"/><Relationship Id="rId18" Type="http://schemas.openxmlformats.org/officeDocument/2006/relationships/slide" Target="slide26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4.xml"/><Relationship Id="rId17" Type="http://schemas.openxmlformats.org/officeDocument/2006/relationships/slide" Target="slide24.xml"/><Relationship Id="rId2" Type="http://schemas.openxmlformats.org/officeDocument/2006/relationships/image" Target="../media/image2.png"/><Relationship Id="rId16" Type="http://schemas.openxmlformats.org/officeDocument/2006/relationships/slide" Target="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slide" Target="slide3.xml"/><Relationship Id="rId5" Type="http://schemas.openxmlformats.org/officeDocument/2006/relationships/image" Target="../media/image5.png"/><Relationship Id="rId15" Type="http://schemas.openxmlformats.org/officeDocument/2006/relationships/slide" Target="slide15.xml"/><Relationship Id="rId10" Type="http://schemas.openxmlformats.org/officeDocument/2006/relationships/image" Target="../media/image10.png"/><Relationship Id="rId19" Type="http://schemas.openxmlformats.org/officeDocument/2006/relationships/slide" Target="slide27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hyperlink" Target="https://doi.org/10.1007/s12190-022-01767-2" TargetMode="External"/><Relationship Id="rId7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22/caac.21660" TargetMode="External"/><Relationship Id="rId5" Type="http://schemas.openxmlformats.org/officeDocument/2006/relationships/hyperlink" Target="https://hpvcentre.net/" TargetMode="External"/><Relationship Id="rId10" Type="http://schemas.openxmlformats.org/officeDocument/2006/relationships/image" Target="../media/image79.png"/><Relationship Id="rId4" Type="http://schemas.openxmlformats.org/officeDocument/2006/relationships/hyperlink" Target="https://www.who.int/publications/i/item/9789240014107" TargetMode="External"/><Relationship Id="rId9" Type="http://schemas.openxmlformats.org/officeDocument/2006/relationships/image" Target="../media/image7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270776"/>
            <a:ext cx="4483735" cy="721360"/>
            <a:chOff x="87743" y="270776"/>
            <a:chExt cx="4483735" cy="721360"/>
          </a:xfrm>
        </p:grpSpPr>
        <p:sp>
          <p:nvSpPr>
            <p:cNvPr id="3" name="object 3"/>
            <p:cNvSpPr/>
            <p:nvPr/>
          </p:nvSpPr>
          <p:spPr>
            <a:xfrm>
              <a:off x="87743" y="27077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334029"/>
              <a:ext cx="4432935" cy="657860"/>
            </a:xfrm>
            <a:custGeom>
              <a:avLst/>
              <a:gdLst/>
              <a:ahLst/>
              <a:cxnLst/>
              <a:rect l="l" t="t" r="r" b="b"/>
              <a:pathLst>
                <a:path w="4432935" h="657860">
                  <a:moveTo>
                    <a:pt x="4432566" y="0"/>
                  </a:moveTo>
                  <a:lnTo>
                    <a:pt x="0" y="0"/>
                  </a:lnTo>
                  <a:lnTo>
                    <a:pt x="0" y="657625"/>
                  </a:lnTo>
                  <a:lnTo>
                    <a:pt x="4432566" y="65762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315192"/>
              <a:ext cx="4432935" cy="626110"/>
            </a:xfrm>
            <a:custGeom>
              <a:avLst/>
              <a:gdLst/>
              <a:ahLst/>
              <a:cxnLst/>
              <a:rect l="l" t="t" r="r" b="b"/>
              <a:pathLst>
                <a:path w="4432935" h="626110">
                  <a:moveTo>
                    <a:pt x="4432566" y="0"/>
                  </a:moveTo>
                  <a:lnTo>
                    <a:pt x="0" y="0"/>
                  </a:lnTo>
                  <a:lnTo>
                    <a:pt x="0" y="574861"/>
                  </a:lnTo>
                  <a:lnTo>
                    <a:pt x="4008" y="594586"/>
                  </a:lnTo>
                  <a:lnTo>
                    <a:pt x="14922" y="610739"/>
                  </a:lnTo>
                  <a:lnTo>
                    <a:pt x="31075" y="621653"/>
                  </a:lnTo>
                  <a:lnTo>
                    <a:pt x="50800" y="625661"/>
                  </a:lnTo>
                  <a:lnTo>
                    <a:pt x="4381765" y="625661"/>
                  </a:lnTo>
                  <a:lnTo>
                    <a:pt x="4401490" y="621653"/>
                  </a:lnTo>
                  <a:lnTo>
                    <a:pt x="4417643" y="610739"/>
                  </a:lnTo>
                  <a:lnTo>
                    <a:pt x="4428558" y="594586"/>
                  </a:lnTo>
                  <a:lnTo>
                    <a:pt x="4432566" y="5748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8544" y="334029"/>
            <a:ext cx="4432935" cy="6578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64285" marR="326390" indent="-1030605">
              <a:lnSpc>
                <a:spcPct val="106700"/>
              </a:lnSpc>
              <a:spcBef>
                <a:spcPts val="325"/>
              </a:spcBef>
            </a:pPr>
            <a:r>
              <a:rPr b="1" spc="-35" dirty="0">
                <a:latin typeface="Georgia"/>
                <a:cs typeface="Georgia"/>
              </a:rPr>
              <a:t>Mathematical</a:t>
            </a:r>
            <a:r>
              <a:rPr b="1" spc="35" dirty="0">
                <a:latin typeface="Georgia"/>
                <a:cs typeface="Georgia"/>
              </a:rPr>
              <a:t> </a:t>
            </a:r>
            <a:r>
              <a:rPr b="1" spc="-40" dirty="0">
                <a:latin typeface="Georgia"/>
                <a:cs typeface="Georgia"/>
              </a:rPr>
              <a:t>Modelling</a:t>
            </a:r>
            <a:r>
              <a:rPr b="1" spc="40" dirty="0">
                <a:latin typeface="Georgia"/>
                <a:cs typeface="Georgia"/>
              </a:rPr>
              <a:t> </a:t>
            </a:r>
            <a:r>
              <a:rPr b="1" spc="-10" dirty="0">
                <a:latin typeface="Georgia"/>
                <a:cs typeface="Georgia"/>
              </a:rPr>
              <a:t>of</a:t>
            </a:r>
            <a:r>
              <a:rPr b="1" spc="40" dirty="0">
                <a:latin typeface="Georgia"/>
                <a:cs typeface="Georgia"/>
              </a:rPr>
              <a:t> </a:t>
            </a:r>
            <a:r>
              <a:rPr b="1" spc="-10" dirty="0">
                <a:latin typeface="Georgia"/>
                <a:cs typeface="Georgia"/>
              </a:rPr>
              <a:t>Cervical</a:t>
            </a:r>
            <a:r>
              <a:rPr b="1" spc="40" dirty="0">
                <a:latin typeface="Georgia"/>
                <a:cs typeface="Georgia"/>
              </a:rPr>
              <a:t> </a:t>
            </a:r>
            <a:r>
              <a:rPr b="1" spc="-10" dirty="0">
                <a:latin typeface="Georgia"/>
                <a:cs typeface="Georgia"/>
              </a:rPr>
              <a:t>Cancer </a:t>
            </a:r>
            <a:r>
              <a:rPr b="1" dirty="0">
                <a:latin typeface="Georgia"/>
                <a:cs typeface="Georgia"/>
              </a:rPr>
              <a:t>With</a:t>
            </a:r>
            <a:r>
              <a:rPr b="1" spc="225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HPV</a:t>
            </a:r>
            <a:r>
              <a:rPr b="1" spc="225" dirty="0">
                <a:latin typeface="Georgia"/>
                <a:cs typeface="Georgia"/>
              </a:rPr>
              <a:t> </a:t>
            </a:r>
            <a:r>
              <a:rPr b="1" spc="-10" dirty="0">
                <a:latin typeface="Georgia"/>
                <a:cs typeface="Georgia"/>
              </a:rPr>
              <a:t>Infection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5297" y="1071725"/>
            <a:ext cx="3358515" cy="12744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4450" algn="ctr">
              <a:lnSpc>
                <a:spcPct val="100000"/>
              </a:lnSpc>
              <a:spcBef>
                <a:spcPts val="700"/>
              </a:spcBef>
            </a:pPr>
            <a:r>
              <a:rPr sz="1100" b="1" spc="-35" dirty="0">
                <a:latin typeface="Georgia"/>
                <a:cs typeface="Georgia"/>
              </a:rPr>
              <a:t>Presented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by:</a:t>
            </a:r>
            <a:endParaRPr sz="1100" dirty="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1100" dirty="0">
                <a:latin typeface="Times New Roman"/>
                <a:cs typeface="Times New Roman"/>
              </a:rPr>
              <a:t>Abhishek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Pal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</a:t>
            </a:r>
            <a:r>
              <a:rPr lang="en-IN" sz="1100" spc="-10" dirty="0">
                <a:latin typeface="Times New Roman"/>
                <a:cs typeface="Times New Roman"/>
              </a:rPr>
              <a:t>CSE/22002/</a:t>
            </a:r>
            <a:r>
              <a:rPr sz="1100" spc="-10" dirty="0">
                <a:latin typeface="Times New Roman"/>
                <a:cs typeface="Times New Roman"/>
              </a:rPr>
              <a:t>856)</a:t>
            </a:r>
            <a:endParaRPr sz="11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Aditya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Vishwakarma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</a:t>
            </a:r>
            <a:r>
              <a:rPr lang="en-IN" sz="1100" spc="-10" dirty="0">
                <a:latin typeface="Times New Roman"/>
                <a:cs typeface="Times New Roman"/>
              </a:rPr>
              <a:t>CSE/22006/</a:t>
            </a:r>
            <a:r>
              <a:rPr sz="1100" spc="-10" dirty="0">
                <a:latin typeface="Times New Roman"/>
                <a:cs typeface="Times New Roman"/>
              </a:rPr>
              <a:t>860)</a:t>
            </a:r>
            <a:endParaRPr sz="11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Amit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 err="1">
                <a:latin typeface="Times New Roman"/>
                <a:cs typeface="Times New Roman"/>
              </a:rPr>
              <a:t>Chausali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</a:t>
            </a:r>
            <a:r>
              <a:rPr lang="en-IN" sz="1100" spc="-10" dirty="0">
                <a:latin typeface="Times New Roman"/>
                <a:cs typeface="Times New Roman"/>
              </a:rPr>
              <a:t>CSE/22012/</a:t>
            </a:r>
            <a:r>
              <a:rPr sz="1100" spc="-10" dirty="0">
                <a:latin typeface="Times New Roman"/>
                <a:cs typeface="Times New Roman"/>
              </a:rPr>
              <a:t>866)</a:t>
            </a:r>
            <a:endParaRPr sz="11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Arindam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Mondal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</a:t>
            </a:r>
            <a:r>
              <a:rPr lang="en-IN" sz="1100" spc="-10" dirty="0">
                <a:latin typeface="Times New Roman"/>
                <a:cs typeface="Times New Roman"/>
              </a:rPr>
              <a:t>CSE/22026/</a:t>
            </a:r>
            <a:r>
              <a:rPr sz="1100" spc="-10" dirty="0">
                <a:latin typeface="Times New Roman"/>
                <a:cs typeface="Times New Roman"/>
              </a:rPr>
              <a:t>880)</a:t>
            </a:r>
            <a:endParaRPr sz="11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100" b="1" spc="-20" dirty="0">
                <a:latin typeface="Georgia"/>
                <a:cs typeface="Georgia"/>
              </a:rPr>
              <a:t>Under</a:t>
            </a:r>
            <a:r>
              <a:rPr sz="1100" b="1" spc="5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the</a:t>
            </a:r>
            <a:r>
              <a:rPr sz="1100" b="1" spc="55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Supervision</a:t>
            </a:r>
            <a:r>
              <a:rPr sz="1100" b="1" spc="6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of</a:t>
            </a:r>
            <a:r>
              <a:rPr sz="1100" b="1" spc="5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Dr.</a:t>
            </a:r>
            <a:r>
              <a:rPr sz="1100" b="1" spc="165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Sudeshna</a:t>
            </a:r>
            <a:r>
              <a:rPr sz="1100" b="1" spc="6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Mondal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782" y="3017671"/>
            <a:ext cx="39636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55" dirty="0">
                <a:latin typeface="Georgia"/>
                <a:cs typeface="Georgia"/>
              </a:rPr>
              <a:t>INDIAN</a:t>
            </a:r>
            <a:r>
              <a:rPr sz="800" b="1" spc="125" dirty="0">
                <a:latin typeface="Georgia"/>
                <a:cs typeface="Georgia"/>
              </a:rPr>
              <a:t> </a:t>
            </a:r>
            <a:r>
              <a:rPr sz="800" b="1" spc="65" dirty="0">
                <a:latin typeface="Georgia"/>
                <a:cs typeface="Georgia"/>
              </a:rPr>
              <a:t>INSTITUTE</a:t>
            </a:r>
            <a:r>
              <a:rPr sz="800" b="1" spc="130" dirty="0">
                <a:latin typeface="Georgia"/>
                <a:cs typeface="Georgia"/>
              </a:rPr>
              <a:t> </a:t>
            </a:r>
            <a:r>
              <a:rPr sz="800" b="1" spc="70" dirty="0">
                <a:latin typeface="Georgia"/>
                <a:cs typeface="Georgia"/>
              </a:rPr>
              <a:t>OF</a:t>
            </a:r>
            <a:r>
              <a:rPr sz="800" b="1" spc="130" dirty="0">
                <a:latin typeface="Georgia"/>
                <a:cs typeface="Georgia"/>
              </a:rPr>
              <a:t> </a:t>
            </a:r>
            <a:r>
              <a:rPr sz="800" b="1" spc="60" dirty="0">
                <a:latin typeface="Georgia"/>
                <a:cs typeface="Georgia"/>
              </a:rPr>
              <a:t>INFORMATION</a:t>
            </a:r>
            <a:r>
              <a:rPr sz="800" b="1" spc="125" dirty="0">
                <a:latin typeface="Georgia"/>
                <a:cs typeface="Georgia"/>
              </a:rPr>
              <a:t> </a:t>
            </a:r>
            <a:r>
              <a:rPr sz="800" b="1" spc="55" dirty="0">
                <a:latin typeface="Georgia"/>
                <a:cs typeface="Georgia"/>
              </a:rPr>
              <a:t>TECHNOLOGY,KALYANI</a:t>
            </a:r>
            <a:endParaRPr sz="800">
              <a:latin typeface="Georgia"/>
              <a:cs typeface="Georgi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2899" y="2977034"/>
            <a:ext cx="216535" cy="25897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11" name="object 11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1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83565"/>
          </a:xfrm>
          <a:custGeom>
            <a:avLst/>
            <a:gdLst/>
            <a:ahLst/>
            <a:cxnLst/>
            <a:rect l="l" t="t" r="r" b="b"/>
            <a:pathLst>
              <a:path w="4608195" h="583565">
                <a:moveTo>
                  <a:pt x="4608004" y="0"/>
                </a:moveTo>
                <a:lnTo>
                  <a:pt x="0" y="0"/>
                </a:lnTo>
                <a:lnTo>
                  <a:pt x="0" y="582980"/>
                </a:lnTo>
                <a:lnTo>
                  <a:pt x="4608004" y="58298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2430"/>
            <a:ext cx="4176395" cy="4718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spc="10" dirty="0"/>
              <a:t>Mathematical</a:t>
            </a:r>
            <a:r>
              <a:rPr spc="165" dirty="0"/>
              <a:t> </a:t>
            </a:r>
            <a:r>
              <a:rPr spc="10" dirty="0"/>
              <a:t>Modelling</a:t>
            </a:r>
            <a:r>
              <a:rPr spc="165" dirty="0"/>
              <a:t> </a:t>
            </a:r>
            <a:r>
              <a:rPr spc="10" dirty="0"/>
              <a:t>of</a:t>
            </a:r>
            <a:r>
              <a:rPr spc="165" dirty="0"/>
              <a:t> </a:t>
            </a:r>
            <a:r>
              <a:rPr spc="10" dirty="0"/>
              <a:t>Cervical</a:t>
            </a:r>
            <a:r>
              <a:rPr spc="170" dirty="0"/>
              <a:t> </a:t>
            </a:r>
            <a:r>
              <a:rPr spc="10" dirty="0"/>
              <a:t>Cancer</a:t>
            </a:r>
            <a:r>
              <a:rPr spc="165" dirty="0"/>
              <a:t> </a:t>
            </a:r>
            <a:r>
              <a:rPr spc="10" dirty="0"/>
              <a:t>with</a:t>
            </a:r>
            <a:r>
              <a:rPr spc="165" dirty="0"/>
              <a:t> </a:t>
            </a:r>
            <a:r>
              <a:rPr spc="30" dirty="0"/>
              <a:t>HPV </a:t>
            </a:r>
            <a:r>
              <a:rPr spc="-10" dirty="0"/>
              <a:t>Infection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792352"/>
            <a:ext cx="155054" cy="1550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778" y="78860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20" dirty="0">
                <a:solidFill>
                  <a:srgbClr val="EAEAF7"/>
                </a:solidFill>
                <a:latin typeface="Georgia"/>
                <a:cs typeface="Georgia"/>
              </a:rPr>
              <a:t>1</a:t>
            </a:r>
            <a:endParaRPr sz="800">
              <a:latin typeface="Georgia"/>
              <a:cs typeface="Georgi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30" y="1059929"/>
            <a:ext cx="155054" cy="1550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327518"/>
            <a:ext cx="155054" cy="15505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830" y="1595094"/>
            <a:ext cx="155054" cy="15505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1862670"/>
            <a:ext cx="155054" cy="15505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830" y="2130247"/>
            <a:ext cx="155054" cy="15505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8778" y="212649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Georgia"/>
                <a:cs typeface="Georgia"/>
              </a:rPr>
              <a:t>6</a:t>
            </a:r>
            <a:endParaRPr sz="800">
              <a:latin typeface="Georgia"/>
              <a:cs typeface="Georg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830" y="2397823"/>
            <a:ext cx="155054" cy="15505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8778" y="239407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Georgia"/>
                <a:cs typeface="Georgia"/>
              </a:rPr>
              <a:t>7</a:t>
            </a:r>
            <a:endParaRPr sz="800">
              <a:latin typeface="Georgia"/>
              <a:cs typeface="Georgi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830" y="2665412"/>
            <a:ext cx="155054" cy="15505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8778" y="266165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Georgia"/>
                <a:cs typeface="Georgia"/>
              </a:rPr>
              <a:t>8</a:t>
            </a:r>
            <a:endParaRPr sz="8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830" y="2932988"/>
            <a:ext cx="155054" cy="15505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28778" y="292922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Georgia"/>
                <a:cs typeface="Georgia"/>
              </a:rPr>
              <a:t>9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8778" y="760385"/>
            <a:ext cx="1570355" cy="23323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3333B2"/>
                </a:solidFill>
                <a:latin typeface="Times New Roman"/>
                <a:cs typeface="Times New Roman"/>
                <a:hlinkClick r:id="rId11" action="ppaction://hlinksldjump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 marL="170180" indent="-157480">
              <a:lnSpc>
                <a:spcPct val="100000"/>
              </a:lnSpc>
              <a:spcBef>
                <a:spcPts val="785"/>
              </a:spcBef>
              <a:buClr>
                <a:srgbClr val="EAEAF7"/>
              </a:buClr>
              <a:buSzPct val="72727"/>
              <a:buFont typeface="Georgia"/>
              <a:buAutoNum type="arabicPlain" startAt="2"/>
              <a:tabLst>
                <a:tab pos="170180" algn="l"/>
              </a:tabLst>
            </a:pPr>
            <a:r>
              <a:rPr sz="1100" spc="-10" dirty="0">
                <a:solidFill>
                  <a:srgbClr val="3333B2"/>
                </a:solidFill>
                <a:latin typeface="Times New Roman"/>
                <a:cs typeface="Times New Roman"/>
                <a:hlinkClick r:id="rId12" action="ppaction://hlinksldjump"/>
              </a:rPr>
              <a:t>Objectives</a:t>
            </a:r>
            <a:endParaRPr sz="1100">
              <a:latin typeface="Times New Roman"/>
              <a:cs typeface="Times New Roman"/>
            </a:endParaRPr>
          </a:p>
          <a:p>
            <a:pPr marL="170180" indent="-157480">
              <a:lnSpc>
                <a:spcPct val="100000"/>
              </a:lnSpc>
              <a:spcBef>
                <a:spcPts val="790"/>
              </a:spcBef>
              <a:buClr>
                <a:srgbClr val="EAEAF7"/>
              </a:buClr>
              <a:buSzPct val="72727"/>
              <a:buFont typeface="Georgia"/>
              <a:buAutoNum type="arabicPlain" startAt="2"/>
              <a:tabLst>
                <a:tab pos="170180" algn="l"/>
              </a:tabLst>
            </a:pPr>
            <a:r>
              <a:rPr sz="1100" dirty="0">
                <a:solidFill>
                  <a:srgbClr val="3333B2"/>
                </a:solidFill>
                <a:latin typeface="Times New Roman"/>
                <a:cs typeface="Times New Roman"/>
                <a:hlinkClick r:id="rId13" action="ppaction://hlinksldjump"/>
              </a:rPr>
              <a:t>Model</a:t>
            </a:r>
            <a:r>
              <a:rPr sz="1100" spc="150" dirty="0">
                <a:solidFill>
                  <a:srgbClr val="3333B2"/>
                </a:solidFill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Times New Roman"/>
                <a:cs typeface="Times New Roman"/>
                <a:hlinkClick r:id="rId13" action="ppaction://hlinksldjump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 marL="170180" indent="-157480">
              <a:lnSpc>
                <a:spcPct val="100000"/>
              </a:lnSpc>
              <a:spcBef>
                <a:spcPts val="785"/>
              </a:spcBef>
              <a:buClr>
                <a:srgbClr val="EAEAF7"/>
              </a:buClr>
              <a:buSzPct val="72727"/>
              <a:buFont typeface="Georgia"/>
              <a:buAutoNum type="arabicPlain" startAt="2"/>
              <a:tabLst>
                <a:tab pos="170180" algn="l"/>
              </a:tabLst>
            </a:pPr>
            <a:r>
              <a:rPr sz="1100" spc="10" dirty="0">
                <a:solidFill>
                  <a:srgbClr val="3333B2"/>
                </a:solidFill>
                <a:latin typeface="Times New Roman"/>
                <a:cs typeface="Times New Roman"/>
                <a:hlinkClick r:id="rId14" action="ppaction://hlinksldjump"/>
              </a:rPr>
              <a:t>Mathematical</a:t>
            </a:r>
            <a:r>
              <a:rPr sz="1100" spc="445" dirty="0">
                <a:solidFill>
                  <a:srgbClr val="3333B2"/>
                </a:solidFill>
                <a:latin typeface="Times New Roman"/>
                <a:cs typeface="Times New Roman"/>
                <a:hlinkClick r:id="rId14" action="ppaction://hlinksldjump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Times New Roman"/>
                <a:cs typeface="Times New Roman"/>
                <a:hlinkClick r:id="rId14" action="ppaction://hlinksldjump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 marL="169545" marR="29845" indent="-157480">
              <a:lnSpc>
                <a:spcPct val="159600"/>
              </a:lnSpc>
              <a:buClr>
                <a:srgbClr val="EAEAF7"/>
              </a:buClr>
              <a:buSzPct val="72727"/>
              <a:buFont typeface="Georgia"/>
              <a:buAutoNum type="arabicPlain" startAt="2"/>
              <a:tabLst>
                <a:tab pos="173355" algn="l"/>
              </a:tabLst>
            </a:pPr>
            <a:r>
              <a:rPr sz="1100" dirty="0">
                <a:solidFill>
                  <a:srgbClr val="3333B2"/>
                </a:solidFill>
                <a:latin typeface="Times New Roman"/>
                <a:cs typeface="Times New Roman"/>
                <a:hlinkClick r:id="rId15" action="ppaction://hlinksldjump"/>
              </a:rPr>
              <a:t>Bifurcation</a:t>
            </a:r>
            <a:r>
              <a:rPr sz="1100" spc="380" dirty="0">
                <a:solidFill>
                  <a:srgbClr val="3333B2"/>
                </a:solidFill>
                <a:latin typeface="Times New Roman"/>
                <a:cs typeface="Times New Roman"/>
                <a:hlinkClick r:id="rId15" action="ppaction://hlinksldjump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Times New Roman"/>
                <a:cs typeface="Times New Roman"/>
                <a:hlinkClick r:id="rId15" action="ppaction://hlinksldjump"/>
              </a:rPr>
              <a:t>Analysis</a:t>
            </a:r>
            <a:r>
              <a:rPr sz="1100" spc="-10" dirty="0">
                <a:solidFill>
                  <a:srgbClr val="3333B2"/>
                </a:solidFill>
                <a:latin typeface="Times New Roman"/>
                <a:cs typeface="Times New Roman"/>
              </a:rPr>
              <a:t> 	</a:t>
            </a:r>
            <a:r>
              <a:rPr sz="1100" dirty="0">
                <a:solidFill>
                  <a:srgbClr val="3333B2"/>
                </a:solidFill>
                <a:latin typeface="Times New Roman"/>
                <a:cs typeface="Times New Roman"/>
                <a:hlinkClick r:id="rId16" action="ppaction://hlinksldjump"/>
              </a:rPr>
              <a:t>Sensitivity</a:t>
            </a:r>
            <a:r>
              <a:rPr sz="1100" spc="315" dirty="0">
                <a:solidFill>
                  <a:srgbClr val="3333B2"/>
                </a:solidFill>
                <a:latin typeface="Times New Roman"/>
                <a:cs typeface="Times New Roman"/>
                <a:hlinkClick r:id="rId16" action="ppaction://hlinksldjump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Times New Roman"/>
                <a:cs typeface="Times New Roman"/>
                <a:hlinkClick r:id="rId16" action="ppaction://hlinksldjump"/>
              </a:rPr>
              <a:t>Analysis</a:t>
            </a:r>
            <a:r>
              <a:rPr sz="1100" spc="-10" dirty="0">
                <a:solidFill>
                  <a:srgbClr val="3333B2"/>
                </a:solidFill>
                <a:latin typeface="Times New Roman"/>
                <a:cs typeface="Times New Roman"/>
              </a:rPr>
              <a:t> 	</a:t>
            </a:r>
            <a:r>
              <a:rPr sz="1100" dirty="0">
                <a:solidFill>
                  <a:srgbClr val="3333B2"/>
                </a:solidFill>
                <a:latin typeface="Times New Roman"/>
                <a:cs typeface="Times New Roman"/>
                <a:hlinkClick r:id="rId17" action="ppaction://hlinksldjump"/>
              </a:rPr>
              <a:t>Result</a:t>
            </a:r>
            <a:r>
              <a:rPr sz="1100" spc="185" dirty="0">
                <a:solidFill>
                  <a:srgbClr val="3333B2"/>
                </a:solidFill>
                <a:latin typeface="Times New Roman"/>
                <a:cs typeface="Times New Roman"/>
                <a:hlinkClick r:id="rId17" action="ppaction://hlinksldjump"/>
              </a:rPr>
              <a:t> </a:t>
            </a:r>
            <a:r>
              <a:rPr sz="1100" spc="50" dirty="0">
                <a:solidFill>
                  <a:srgbClr val="3333B2"/>
                </a:solidFill>
                <a:latin typeface="Times New Roman"/>
                <a:cs typeface="Times New Roman"/>
                <a:hlinkClick r:id="rId17" action="ppaction://hlinksldjump"/>
              </a:rPr>
              <a:t>and</a:t>
            </a:r>
            <a:r>
              <a:rPr sz="1100" spc="190" dirty="0">
                <a:solidFill>
                  <a:srgbClr val="3333B2"/>
                </a:solidFill>
                <a:latin typeface="Times New Roman"/>
                <a:cs typeface="Times New Roman"/>
                <a:hlinkClick r:id="rId17" action="ppaction://hlinksldjump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Times New Roman"/>
                <a:cs typeface="Times New Roman"/>
                <a:hlinkClick r:id="rId17" action="ppaction://hlinksldjump"/>
              </a:rPr>
              <a:t>Conclusion</a:t>
            </a:r>
            <a:r>
              <a:rPr sz="1100" spc="-10" dirty="0">
                <a:solidFill>
                  <a:srgbClr val="3333B2"/>
                </a:solidFill>
                <a:latin typeface="Times New Roman"/>
                <a:cs typeface="Times New Roman"/>
              </a:rPr>
              <a:t> 	</a:t>
            </a:r>
            <a:r>
              <a:rPr sz="1100" dirty="0">
                <a:solidFill>
                  <a:srgbClr val="3333B2"/>
                </a:solidFill>
                <a:latin typeface="Times New Roman"/>
                <a:cs typeface="Times New Roman"/>
                <a:hlinkClick r:id="rId18" action="ppaction://hlinksldjump"/>
              </a:rPr>
              <a:t>Future</a:t>
            </a:r>
            <a:r>
              <a:rPr sz="1100" spc="350" dirty="0">
                <a:solidFill>
                  <a:srgbClr val="3333B2"/>
                </a:solidFill>
                <a:latin typeface="Times New Roman"/>
                <a:cs typeface="Times New Roman"/>
                <a:hlinkClick r:id="rId18" action="ppaction://hlinksldjump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Times New Roman"/>
                <a:cs typeface="Times New Roman"/>
                <a:hlinkClick r:id="rId18" action="ppaction://hlinksldjump"/>
              </a:rPr>
              <a:t>Direction</a:t>
            </a:r>
            <a:r>
              <a:rPr sz="1100" spc="-10" dirty="0">
                <a:solidFill>
                  <a:srgbClr val="3333B2"/>
                </a:solidFill>
                <a:latin typeface="Times New Roman"/>
                <a:cs typeface="Times New Roman"/>
              </a:rPr>
              <a:t> 	</a:t>
            </a:r>
            <a:r>
              <a:rPr sz="1100" spc="-10" dirty="0">
                <a:solidFill>
                  <a:srgbClr val="3333B2"/>
                </a:solidFill>
                <a:latin typeface="Times New Roman"/>
                <a:cs typeface="Times New Roman"/>
                <a:hlinkClick r:id="rId19" action="ppaction://hlinksldjump"/>
              </a:rPr>
              <a:t>References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20" name="object 20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2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46" y="1041984"/>
            <a:ext cx="63220" cy="632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9908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Cervical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cancer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fourth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most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60" dirty="0">
                <a:latin typeface="Georgia"/>
                <a:cs typeface="Georgia"/>
              </a:rPr>
              <a:t>common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cancer</a:t>
            </a:r>
            <a:r>
              <a:rPr sz="1100" b="1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among </a:t>
            </a:r>
            <a:r>
              <a:rPr sz="1100" dirty="0">
                <a:latin typeface="Times New Roman"/>
                <a:cs typeface="Times New Roman"/>
              </a:rPr>
              <a:t>women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globally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25299"/>
              </a:lnSpc>
            </a:pP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b="1" spc="-114" dirty="0">
                <a:latin typeface="Georgia"/>
                <a:cs typeface="Georgia"/>
              </a:rPr>
              <a:t>600,000</a:t>
            </a:r>
            <a:r>
              <a:rPr sz="1100" b="1" spc="125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new</a:t>
            </a:r>
            <a:r>
              <a:rPr sz="1100" b="1" spc="125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cases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b="1" spc="-105" dirty="0">
                <a:latin typeface="Georgia"/>
                <a:cs typeface="Georgia"/>
              </a:rPr>
              <a:t>340,000</a:t>
            </a:r>
            <a:r>
              <a:rPr sz="1100" b="1" spc="12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deaths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reported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annually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65" dirty="0">
                <a:latin typeface="Times New Roman"/>
                <a:cs typeface="Times New Roman"/>
              </a:rPr>
              <a:t>than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Georgia"/>
                <a:cs typeface="Georgia"/>
              </a:rPr>
              <a:t>95%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cases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60" dirty="0">
                <a:latin typeface="Times New Roman"/>
                <a:cs typeface="Times New Roman"/>
              </a:rPr>
              <a:t>attributed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Georgia"/>
                <a:cs typeface="Georgia"/>
              </a:rPr>
              <a:t>HPV</a:t>
            </a:r>
            <a:r>
              <a:rPr sz="1100" b="1" spc="155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infection</a:t>
            </a:r>
            <a:endParaRPr sz="1100">
              <a:latin typeface="Georgia"/>
              <a:cs typeface="Georgia"/>
            </a:endParaRPr>
          </a:p>
          <a:p>
            <a:pPr marL="12700" marR="340360">
              <a:lnSpc>
                <a:spcPct val="102699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Disease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burden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significantly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higher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middle-</a:t>
            </a:r>
            <a:r>
              <a:rPr sz="1100" spc="-10" dirty="0">
                <a:latin typeface="Times New Roman"/>
                <a:cs typeface="Times New Roman"/>
              </a:rPr>
              <a:t>income countries</a:t>
            </a:r>
            <a:endParaRPr sz="1100">
              <a:latin typeface="Times New Roman"/>
              <a:cs typeface="Times New Roman"/>
            </a:endParaRPr>
          </a:p>
          <a:p>
            <a:pPr marL="12700" marR="74930">
              <a:lnSpc>
                <a:spcPct val="102600"/>
              </a:lnSpc>
              <a:spcBef>
                <a:spcPts val="300"/>
              </a:spcBef>
            </a:pPr>
            <a:r>
              <a:rPr sz="1100" spc="10" dirty="0">
                <a:latin typeface="Times New Roman"/>
                <a:cs typeface="Times New Roman"/>
              </a:rPr>
              <a:t>Mathematical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Modelling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offers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insights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into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disease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dynamics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intervention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strategies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46" y="1424089"/>
            <a:ext cx="63220" cy="632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46" y="1634121"/>
            <a:ext cx="63220" cy="632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46" y="1844154"/>
            <a:ext cx="63220" cy="632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46" y="2226259"/>
            <a:ext cx="63220" cy="6322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11" name="object 11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3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Objective</a:t>
            </a:r>
            <a:r>
              <a:rPr spc="160" dirty="0"/>
              <a:t> </a:t>
            </a:r>
            <a:r>
              <a:rPr dirty="0"/>
              <a:t>of</a:t>
            </a:r>
            <a:r>
              <a:rPr spc="155" dirty="0"/>
              <a:t> </a:t>
            </a:r>
            <a:r>
              <a:rPr spc="55" dirty="0"/>
              <a:t>the</a:t>
            </a:r>
            <a:r>
              <a:rPr spc="160" dirty="0"/>
              <a:t> </a:t>
            </a:r>
            <a:r>
              <a:rPr spc="40" dirty="0"/>
              <a:t>Project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46" y="1220787"/>
            <a:ext cx="63220" cy="632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5788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20" dirty="0">
                <a:latin typeface="Times New Roman"/>
                <a:cs typeface="Times New Roman"/>
              </a:rPr>
              <a:t>Develop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compartmental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mathematical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model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understand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spread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control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HPV.</a:t>
            </a:r>
            <a:endParaRPr sz="1100">
              <a:latin typeface="Times New Roman"/>
              <a:cs typeface="Times New Roman"/>
            </a:endParaRPr>
          </a:p>
          <a:p>
            <a:pPr marL="12700" marR="1803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Analyze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progression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HPV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infection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cervical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cancer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population.</a:t>
            </a:r>
            <a:endParaRPr sz="1100">
              <a:latin typeface="Times New Roman"/>
              <a:cs typeface="Times New Roman"/>
            </a:endParaRPr>
          </a:p>
          <a:p>
            <a:pPr marL="12700" marR="14732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Determine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persists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 </a:t>
            </a:r>
            <a:r>
              <a:rPr sz="1100" spc="-10" dirty="0">
                <a:latin typeface="Times New Roman"/>
                <a:cs typeface="Times New Roman"/>
              </a:rPr>
              <a:t>eliminated.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46" y="1602892"/>
            <a:ext cx="63220" cy="632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46" y="1984997"/>
            <a:ext cx="63220" cy="6322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9" name="object 9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4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2430"/>
            <a:ext cx="13093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Flowchart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5712" y="90276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540006" y="270003"/>
                </a:moveTo>
                <a:lnTo>
                  <a:pt x="535656" y="221469"/>
                </a:lnTo>
                <a:lnTo>
                  <a:pt x="523114" y="175789"/>
                </a:lnTo>
                <a:lnTo>
                  <a:pt x="503143" y="133726"/>
                </a:lnTo>
                <a:lnTo>
                  <a:pt x="476505" y="96042"/>
                </a:lnTo>
                <a:lnTo>
                  <a:pt x="443963" y="63500"/>
                </a:lnTo>
                <a:lnTo>
                  <a:pt x="406279" y="36862"/>
                </a:lnTo>
                <a:lnTo>
                  <a:pt x="364216" y="16891"/>
                </a:lnTo>
                <a:lnTo>
                  <a:pt x="318537" y="4350"/>
                </a:lnTo>
                <a:lnTo>
                  <a:pt x="270003" y="0"/>
                </a:lnTo>
                <a:lnTo>
                  <a:pt x="221469" y="4350"/>
                </a:lnTo>
                <a:lnTo>
                  <a:pt x="175789" y="16891"/>
                </a:lnTo>
                <a:lnTo>
                  <a:pt x="133726" y="36862"/>
                </a:lnTo>
                <a:lnTo>
                  <a:pt x="96042" y="63500"/>
                </a:lnTo>
                <a:lnTo>
                  <a:pt x="63500" y="96042"/>
                </a:lnTo>
                <a:lnTo>
                  <a:pt x="36862" y="133726"/>
                </a:lnTo>
                <a:lnTo>
                  <a:pt x="16891" y="175789"/>
                </a:lnTo>
                <a:lnTo>
                  <a:pt x="4350" y="221469"/>
                </a:lnTo>
                <a:lnTo>
                  <a:pt x="0" y="270003"/>
                </a:lnTo>
                <a:lnTo>
                  <a:pt x="4350" y="318537"/>
                </a:lnTo>
                <a:lnTo>
                  <a:pt x="16891" y="364216"/>
                </a:lnTo>
                <a:lnTo>
                  <a:pt x="36862" y="406279"/>
                </a:lnTo>
                <a:lnTo>
                  <a:pt x="63500" y="443963"/>
                </a:lnTo>
                <a:lnTo>
                  <a:pt x="96042" y="476505"/>
                </a:lnTo>
                <a:lnTo>
                  <a:pt x="133726" y="503143"/>
                </a:lnTo>
                <a:lnTo>
                  <a:pt x="175789" y="523114"/>
                </a:lnTo>
                <a:lnTo>
                  <a:pt x="221469" y="535656"/>
                </a:lnTo>
                <a:lnTo>
                  <a:pt x="270003" y="540006"/>
                </a:lnTo>
                <a:lnTo>
                  <a:pt x="318537" y="535656"/>
                </a:lnTo>
                <a:lnTo>
                  <a:pt x="364216" y="523114"/>
                </a:lnTo>
                <a:lnTo>
                  <a:pt x="406279" y="503143"/>
                </a:lnTo>
                <a:lnTo>
                  <a:pt x="443963" y="476505"/>
                </a:lnTo>
                <a:lnTo>
                  <a:pt x="476505" y="443963"/>
                </a:lnTo>
                <a:lnTo>
                  <a:pt x="503143" y="406279"/>
                </a:lnTo>
                <a:lnTo>
                  <a:pt x="523114" y="364216"/>
                </a:lnTo>
                <a:lnTo>
                  <a:pt x="535656" y="318537"/>
                </a:lnTo>
                <a:lnTo>
                  <a:pt x="540006" y="27000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6546" y="1068856"/>
            <a:ext cx="1104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14" dirty="0"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23731" y="90276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540006" y="270003"/>
                </a:moveTo>
                <a:lnTo>
                  <a:pt x="535656" y="221469"/>
                </a:lnTo>
                <a:lnTo>
                  <a:pt x="523114" y="175789"/>
                </a:lnTo>
                <a:lnTo>
                  <a:pt x="503143" y="133726"/>
                </a:lnTo>
                <a:lnTo>
                  <a:pt x="476505" y="96042"/>
                </a:lnTo>
                <a:lnTo>
                  <a:pt x="443963" y="63500"/>
                </a:lnTo>
                <a:lnTo>
                  <a:pt x="406279" y="36862"/>
                </a:lnTo>
                <a:lnTo>
                  <a:pt x="364216" y="16891"/>
                </a:lnTo>
                <a:lnTo>
                  <a:pt x="318537" y="4350"/>
                </a:lnTo>
                <a:lnTo>
                  <a:pt x="270003" y="0"/>
                </a:lnTo>
                <a:lnTo>
                  <a:pt x="221469" y="4350"/>
                </a:lnTo>
                <a:lnTo>
                  <a:pt x="175789" y="16891"/>
                </a:lnTo>
                <a:lnTo>
                  <a:pt x="133726" y="36862"/>
                </a:lnTo>
                <a:lnTo>
                  <a:pt x="96042" y="63500"/>
                </a:lnTo>
                <a:lnTo>
                  <a:pt x="63500" y="96042"/>
                </a:lnTo>
                <a:lnTo>
                  <a:pt x="36862" y="133726"/>
                </a:lnTo>
                <a:lnTo>
                  <a:pt x="16891" y="175789"/>
                </a:lnTo>
                <a:lnTo>
                  <a:pt x="4350" y="221469"/>
                </a:lnTo>
                <a:lnTo>
                  <a:pt x="0" y="270003"/>
                </a:lnTo>
                <a:lnTo>
                  <a:pt x="4350" y="318537"/>
                </a:lnTo>
                <a:lnTo>
                  <a:pt x="16891" y="364216"/>
                </a:lnTo>
                <a:lnTo>
                  <a:pt x="36862" y="406279"/>
                </a:lnTo>
                <a:lnTo>
                  <a:pt x="63500" y="443963"/>
                </a:lnTo>
                <a:lnTo>
                  <a:pt x="96042" y="476505"/>
                </a:lnTo>
                <a:lnTo>
                  <a:pt x="133726" y="503143"/>
                </a:lnTo>
                <a:lnTo>
                  <a:pt x="175789" y="523114"/>
                </a:lnTo>
                <a:lnTo>
                  <a:pt x="221469" y="535656"/>
                </a:lnTo>
                <a:lnTo>
                  <a:pt x="270003" y="540006"/>
                </a:lnTo>
                <a:lnTo>
                  <a:pt x="318537" y="535656"/>
                </a:lnTo>
                <a:lnTo>
                  <a:pt x="364216" y="523114"/>
                </a:lnTo>
                <a:lnTo>
                  <a:pt x="406279" y="503143"/>
                </a:lnTo>
                <a:lnTo>
                  <a:pt x="443963" y="476505"/>
                </a:lnTo>
                <a:lnTo>
                  <a:pt x="476505" y="443963"/>
                </a:lnTo>
                <a:lnTo>
                  <a:pt x="503143" y="406279"/>
                </a:lnTo>
                <a:lnTo>
                  <a:pt x="523114" y="364216"/>
                </a:lnTo>
                <a:lnTo>
                  <a:pt x="535656" y="318537"/>
                </a:lnTo>
                <a:lnTo>
                  <a:pt x="540006" y="27000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45131" y="1068856"/>
            <a:ext cx="86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50" dirty="0"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91749" y="902765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540006" y="270003"/>
                </a:moveTo>
                <a:lnTo>
                  <a:pt x="535656" y="221469"/>
                </a:lnTo>
                <a:lnTo>
                  <a:pt x="523114" y="175789"/>
                </a:lnTo>
                <a:lnTo>
                  <a:pt x="503143" y="133726"/>
                </a:lnTo>
                <a:lnTo>
                  <a:pt x="476505" y="96042"/>
                </a:lnTo>
                <a:lnTo>
                  <a:pt x="443963" y="63500"/>
                </a:lnTo>
                <a:lnTo>
                  <a:pt x="406279" y="36862"/>
                </a:lnTo>
                <a:lnTo>
                  <a:pt x="364216" y="16891"/>
                </a:lnTo>
                <a:lnTo>
                  <a:pt x="318537" y="4350"/>
                </a:lnTo>
                <a:lnTo>
                  <a:pt x="270003" y="0"/>
                </a:lnTo>
                <a:lnTo>
                  <a:pt x="221469" y="4350"/>
                </a:lnTo>
                <a:lnTo>
                  <a:pt x="175789" y="16891"/>
                </a:lnTo>
                <a:lnTo>
                  <a:pt x="133726" y="36862"/>
                </a:lnTo>
                <a:lnTo>
                  <a:pt x="96042" y="63500"/>
                </a:lnTo>
                <a:lnTo>
                  <a:pt x="63500" y="96042"/>
                </a:lnTo>
                <a:lnTo>
                  <a:pt x="36862" y="133726"/>
                </a:lnTo>
                <a:lnTo>
                  <a:pt x="16891" y="175789"/>
                </a:lnTo>
                <a:lnTo>
                  <a:pt x="4350" y="221469"/>
                </a:lnTo>
                <a:lnTo>
                  <a:pt x="0" y="270003"/>
                </a:lnTo>
                <a:lnTo>
                  <a:pt x="4350" y="318537"/>
                </a:lnTo>
                <a:lnTo>
                  <a:pt x="16891" y="364216"/>
                </a:lnTo>
                <a:lnTo>
                  <a:pt x="36862" y="406279"/>
                </a:lnTo>
                <a:lnTo>
                  <a:pt x="63500" y="443963"/>
                </a:lnTo>
                <a:lnTo>
                  <a:pt x="96042" y="476505"/>
                </a:lnTo>
                <a:lnTo>
                  <a:pt x="133726" y="503143"/>
                </a:lnTo>
                <a:lnTo>
                  <a:pt x="175789" y="523114"/>
                </a:lnTo>
                <a:lnTo>
                  <a:pt x="221469" y="535656"/>
                </a:lnTo>
                <a:lnTo>
                  <a:pt x="270003" y="540006"/>
                </a:lnTo>
                <a:lnTo>
                  <a:pt x="318537" y="535656"/>
                </a:lnTo>
                <a:lnTo>
                  <a:pt x="364216" y="523114"/>
                </a:lnTo>
                <a:lnTo>
                  <a:pt x="406279" y="503143"/>
                </a:lnTo>
                <a:lnTo>
                  <a:pt x="443963" y="476505"/>
                </a:lnTo>
                <a:lnTo>
                  <a:pt x="476505" y="443963"/>
                </a:lnTo>
                <a:lnTo>
                  <a:pt x="503143" y="406279"/>
                </a:lnTo>
                <a:lnTo>
                  <a:pt x="523114" y="364216"/>
                </a:lnTo>
                <a:lnTo>
                  <a:pt x="535656" y="318537"/>
                </a:lnTo>
                <a:lnTo>
                  <a:pt x="540006" y="27000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94557" y="1068856"/>
            <a:ext cx="1244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50" dirty="0">
                <a:latin typeface="Calibri"/>
                <a:cs typeface="Calibri"/>
              </a:rPr>
              <a:t>C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79049" y="2014101"/>
            <a:ext cx="540385" cy="540385"/>
          </a:xfrm>
          <a:custGeom>
            <a:avLst/>
            <a:gdLst/>
            <a:ahLst/>
            <a:cxnLst/>
            <a:rect l="l" t="t" r="r" b="b"/>
            <a:pathLst>
              <a:path w="540385" h="540385">
                <a:moveTo>
                  <a:pt x="540006" y="270003"/>
                </a:moveTo>
                <a:lnTo>
                  <a:pt x="535656" y="221469"/>
                </a:lnTo>
                <a:lnTo>
                  <a:pt x="523114" y="175789"/>
                </a:lnTo>
                <a:lnTo>
                  <a:pt x="503143" y="133726"/>
                </a:lnTo>
                <a:lnTo>
                  <a:pt x="476505" y="96042"/>
                </a:lnTo>
                <a:lnTo>
                  <a:pt x="443963" y="63500"/>
                </a:lnTo>
                <a:lnTo>
                  <a:pt x="406279" y="36862"/>
                </a:lnTo>
                <a:lnTo>
                  <a:pt x="364216" y="16891"/>
                </a:lnTo>
                <a:lnTo>
                  <a:pt x="318537" y="4350"/>
                </a:lnTo>
                <a:lnTo>
                  <a:pt x="270003" y="0"/>
                </a:lnTo>
                <a:lnTo>
                  <a:pt x="221469" y="4350"/>
                </a:lnTo>
                <a:lnTo>
                  <a:pt x="175789" y="16891"/>
                </a:lnTo>
                <a:lnTo>
                  <a:pt x="133726" y="36862"/>
                </a:lnTo>
                <a:lnTo>
                  <a:pt x="96042" y="63500"/>
                </a:lnTo>
                <a:lnTo>
                  <a:pt x="63500" y="96042"/>
                </a:lnTo>
                <a:lnTo>
                  <a:pt x="36862" y="133726"/>
                </a:lnTo>
                <a:lnTo>
                  <a:pt x="16891" y="175789"/>
                </a:lnTo>
                <a:lnTo>
                  <a:pt x="4350" y="221469"/>
                </a:lnTo>
                <a:lnTo>
                  <a:pt x="0" y="270003"/>
                </a:lnTo>
                <a:lnTo>
                  <a:pt x="4350" y="318537"/>
                </a:lnTo>
                <a:lnTo>
                  <a:pt x="16891" y="364216"/>
                </a:lnTo>
                <a:lnTo>
                  <a:pt x="36862" y="406279"/>
                </a:lnTo>
                <a:lnTo>
                  <a:pt x="63500" y="443963"/>
                </a:lnTo>
                <a:lnTo>
                  <a:pt x="96042" y="476505"/>
                </a:lnTo>
                <a:lnTo>
                  <a:pt x="133726" y="503143"/>
                </a:lnTo>
                <a:lnTo>
                  <a:pt x="175789" y="523114"/>
                </a:lnTo>
                <a:lnTo>
                  <a:pt x="221469" y="535656"/>
                </a:lnTo>
                <a:lnTo>
                  <a:pt x="270003" y="540006"/>
                </a:lnTo>
                <a:lnTo>
                  <a:pt x="318537" y="535656"/>
                </a:lnTo>
                <a:lnTo>
                  <a:pt x="364216" y="523114"/>
                </a:lnTo>
                <a:lnTo>
                  <a:pt x="406279" y="503143"/>
                </a:lnTo>
                <a:lnTo>
                  <a:pt x="443963" y="476505"/>
                </a:lnTo>
                <a:lnTo>
                  <a:pt x="476505" y="443963"/>
                </a:lnTo>
                <a:lnTo>
                  <a:pt x="503143" y="406279"/>
                </a:lnTo>
                <a:lnTo>
                  <a:pt x="523114" y="364216"/>
                </a:lnTo>
                <a:lnTo>
                  <a:pt x="535656" y="318537"/>
                </a:lnTo>
                <a:lnTo>
                  <a:pt x="540006" y="27000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83207" y="2180182"/>
            <a:ext cx="130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75" dirty="0">
                <a:latin typeface="Calibri"/>
                <a:cs typeface="Calibri"/>
              </a:rPr>
              <a:t>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95709" y="1150302"/>
            <a:ext cx="826135" cy="45085"/>
            <a:chOff x="1095709" y="1150302"/>
            <a:chExt cx="826135" cy="45085"/>
          </a:xfrm>
        </p:grpSpPr>
        <p:sp>
          <p:nvSpPr>
            <p:cNvPr id="13" name="object 13"/>
            <p:cNvSpPr/>
            <p:nvPr/>
          </p:nvSpPr>
          <p:spPr>
            <a:xfrm>
              <a:off x="1098249" y="1172768"/>
              <a:ext cx="817244" cy="0"/>
            </a:xfrm>
            <a:custGeom>
              <a:avLst/>
              <a:gdLst/>
              <a:ahLst/>
              <a:cxnLst/>
              <a:rect l="l" t="t" r="r" b="b"/>
              <a:pathLst>
                <a:path w="817244">
                  <a:moveTo>
                    <a:pt x="0" y="0"/>
                  </a:moveTo>
                  <a:lnTo>
                    <a:pt x="81713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00197" y="115252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24063" y="889456"/>
            <a:ext cx="371475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915"/>
              </a:lnSpc>
              <a:spcBef>
                <a:spcPts val="95"/>
              </a:spcBef>
            </a:pPr>
            <a:r>
              <a:rPr sz="800" i="1" u="sng" spc="2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i="1" u="sng" spc="1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βSI</a:t>
            </a:r>
            <a:r>
              <a:rPr sz="800" i="1" u="sng" spc="5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sz="800">
              <a:latin typeface="Calibri"/>
              <a:cs typeface="Calibri"/>
            </a:endParaRPr>
          </a:p>
          <a:p>
            <a:pPr marL="38100">
              <a:lnSpc>
                <a:spcPts val="915"/>
              </a:lnSpc>
            </a:pPr>
            <a:r>
              <a:rPr sz="800" spc="120" dirty="0">
                <a:latin typeface="Calibri"/>
                <a:cs typeface="Calibri"/>
              </a:rPr>
              <a:t>1+</a:t>
            </a:r>
            <a:r>
              <a:rPr sz="800" i="1" spc="120" dirty="0">
                <a:latin typeface="Calibri"/>
                <a:cs typeface="Calibri"/>
              </a:rPr>
              <a:t>α</a:t>
            </a:r>
            <a:r>
              <a:rPr sz="900" spc="179" baseline="23148" dirty="0">
                <a:latin typeface="Cambria"/>
                <a:cs typeface="Cambria"/>
              </a:rPr>
              <a:t>′</a:t>
            </a:r>
            <a:r>
              <a:rPr sz="800" i="1" spc="120" dirty="0">
                <a:latin typeface="Calibri"/>
                <a:cs typeface="Calibri"/>
              </a:rPr>
              <a:t>I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63728" y="1150302"/>
            <a:ext cx="826135" cy="45085"/>
            <a:chOff x="2463728" y="1150302"/>
            <a:chExt cx="826135" cy="45085"/>
          </a:xfrm>
        </p:grpSpPr>
        <p:sp>
          <p:nvSpPr>
            <p:cNvPr id="17" name="object 17"/>
            <p:cNvSpPr/>
            <p:nvPr/>
          </p:nvSpPr>
          <p:spPr>
            <a:xfrm>
              <a:off x="2466268" y="1172768"/>
              <a:ext cx="817244" cy="0"/>
            </a:xfrm>
            <a:custGeom>
              <a:avLst/>
              <a:gdLst/>
              <a:ahLst/>
              <a:cxnLst/>
              <a:rect l="l" t="t" r="r" b="b"/>
              <a:pathLst>
                <a:path w="817245">
                  <a:moveTo>
                    <a:pt x="0" y="0"/>
                  </a:moveTo>
                  <a:lnTo>
                    <a:pt x="81713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68216" y="115252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795727" y="973085"/>
            <a:ext cx="1536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50" dirty="0">
                <a:latin typeface="Calibri"/>
                <a:cs typeface="Calibri"/>
              </a:rPr>
              <a:t>δI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57831" y="1414941"/>
            <a:ext cx="318770" cy="625475"/>
            <a:chOff x="1757831" y="1414941"/>
            <a:chExt cx="318770" cy="625475"/>
          </a:xfrm>
        </p:grpSpPr>
        <p:sp>
          <p:nvSpPr>
            <p:cNvPr id="21" name="object 21"/>
            <p:cNvSpPr/>
            <p:nvPr/>
          </p:nvSpPr>
          <p:spPr>
            <a:xfrm>
              <a:off x="1771550" y="1417481"/>
              <a:ext cx="302260" cy="617220"/>
            </a:xfrm>
            <a:custGeom>
              <a:avLst/>
              <a:gdLst/>
              <a:ahLst/>
              <a:cxnLst/>
              <a:rect l="l" t="t" r="r" b="b"/>
              <a:pathLst>
                <a:path w="302260" h="617219">
                  <a:moveTo>
                    <a:pt x="302248" y="0"/>
                  </a:moveTo>
                  <a:lnTo>
                    <a:pt x="0" y="616683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60054" y="2011623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30" h="26035">
                  <a:moveTo>
                    <a:pt x="36354" y="17817"/>
                  </a:moveTo>
                  <a:lnTo>
                    <a:pt x="29493" y="17757"/>
                  </a:lnTo>
                  <a:lnTo>
                    <a:pt x="21377" y="19988"/>
                  </a:lnTo>
                  <a:lnTo>
                    <a:pt x="14117" y="23166"/>
                  </a:lnTo>
                  <a:lnTo>
                    <a:pt x="9825" y="25950"/>
                  </a:lnTo>
                  <a:lnTo>
                    <a:pt x="9395" y="20852"/>
                  </a:lnTo>
                  <a:lnTo>
                    <a:pt x="7460" y="13167"/>
                  </a:lnTo>
                  <a:lnTo>
                    <a:pt x="4251" y="538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57120" y="1611057"/>
            <a:ext cx="165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40" dirty="0">
                <a:latin typeface="Calibri"/>
                <a:cs typeface="Calibri"/>
              </a:rPr>
              <a:t>γI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75328" y="1268862"/>
            <a:ext cx="545465" cy="747395"/>
            <a:chOff x="1075328" y="1268862"/>
            <a:chExt cx="545465" cy="747395"/>
          </a:xfrm>
        </p:grpSpPr>
        <p:sp>
          <p:nvSpPr>
            <p:cNvPr id="25" name="object 25"/>
            <p:cNvSpPr/>
            <p:nvPr/>
          </p:nvSpPr>
          <p:spPr>
            <a:xfrm>
              <a:off x="1081032" y="1283607"/>
              <a:ext cx="537210" cy="730250"/>
            </a:xfrm>
            <a:custGeom>
              <a:avLst/>
              <a:gdLst/>
              <a:ahLst/>
              <a:cxnLst/>
              <a:rect l="l" t="t" r="r" b="b"/>
              <a:pathLst>
                <a:path w="537210" h="730250">
                  <a:moveTo>
                    <a:pt x="537018" y="729747"/>
                  </a:moveTo>
                  <a:lnTo>
                    <a:pt x="529929" y="677550"/>
                  </a:lnTo>
                  <a:lnTo>
                    <a:pt x="520812" y="627100"/>
                  </a:lnTo>
                  <a:lnTo>
                    <a:pt x="509659" y="578380"/>
                  </a:lnTo>
                  <a:lnTo>
                    <a:pt x="496459" y="531375"/>
                  </a:lnTo>
                  <a:lnTo>
                    <a:pt x="481205" y="486070"/>
                  </a:lnTo>
                  <a:lnTo>
                    <a:pt x="463889" y="442449"/>
                  </a:lnTo>
                  <a:lnTo>
                    <a:pt x="444501" y="400498"/>
                  </a:lnTo>
                  <a:lnTo>
                    <a:pt x="423032" y="360200"/>
                  </a:lnTo>
                  <a:lnTo>
                    <a:pt x="399475" y="321540"/>
                  </a:lnTo>
                  <a:lnTo>
                    <a:pt x="373820" y="284503"/>
                  </a:lnTo>
                  <a:lnTo>
                    <a:pt x="346059" y="249073"/>
                  </a:lnTo>
                  <a:lnTo>
                    <a:pt x="316183" y="215236"/>
                  </a:lnTo>
                  <a:lnTo>
                    <a:pt x="284184" y="182975"/>
                  </a:lnTo>
                  <a:lnTo>
                    <a:pt x="250052" y="152275"/>
                  </a:lnTo>
                  <a:lnTo>
                    <a:pt x="213779" y="123121"/>
                  </a:lnTo>
                  <a:lnTo>
                    <a:pt x="175357" y="95498"/>
                  </a:lnTo>
                  <a:lnTo>
                    <a:pt x="134777" y="69389"/>
                  </a:lnTo>
                  <a:lnTo>
                    <a:pt x="92029" y="44780"/>
                  </a:lnTo>
                  <a:lnTo>
                    <a:pt x="47106" y="21655"/>
                  </a:ln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77550" y="1271084"/>
              <a:ext cx="26034" cy="37465"/>
            </a:xfrm>
            <a:custGeom>
              <a:avLst/>
              <a:gdLst/>
              <a:ahLst/>
              <a:cxnLst/>
              <a:rect l="l" t="t" r="r" b="b"/>
              <a:pathLst>
                <a:path w="26034" h="37465">
                  <a:moveTo>
                    <a:pt x="9346" y="37137"/>
                  </a:moveTo>
                  <a:lnTo>
                    <a:pt x="9090" y="30280"/>
                  </a:lnTo>
                  <a:lnTo>
                    <a:pt x="6488" y="22275"/>
                  </a:lnTo>
                  <a:lnTo>
                    <a:pt x="2978" y="15170"/>
                  </a:lnTo>
                  <a:lnTo>
                    <a:pt x="0" y="11011"/>
                  </a:lnTo>
                  <a:lnTo>
                    <a:pt x="5072" y="10347"/>
                  </a:lnTo>
                  <a:lnTo>
                    <a:pt x="12660" y="8059"/>
                  </a:lnTo>
                  <a:lnTo>
                    <a:pt x="20285" y="4494"/>
                  </a:lnTo>
                  <a:lnTo>
                    <a:pt x="25469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97622" y="1463902"/>
            <a:ext cx="220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25" dirty="0">
                <a:latin typeface="Calibri"/>
                <a:cs typeface="Calibri"/>
              </a:rPr>
              <a:t>αR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03249" y="1442762"/>
            <a:ext cx="45085" cy="90805"/>
            <a:chOff x="803249" y="1442762"/>
            <a:chExt cx="45085" cy="90805"/>
          </a:xfrm>
        </p:grpSpPr>
        <p:sp>
          <p:nvSpPr>
            <p:cNvPr id="29" name="object 29"/>
            <p:cNvSpPr/>
            <p:nvPr/>
          </p:nvSpPr>
          <p:spPr>
            <a:xfrm>
              <a:off x="825715" y="1445302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5">
                  <a:moveTo>
                    <a:pt x="0" y="0"/>
                  </a:moveTo>
                  <a:lnTo>
                    <a:pt x="0" y="8165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5471" y="151177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40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88149" y="1415388"/>
            <a:ext cx="1943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85" dirty="0">
                <a:latin typeface="Calibri"/>
                <a:cs typeface="Calibri"/>
              </a:rPr>
              <a:t>µS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292400" y="1423263"/>
            <a:ext cx="59055" cy="109855"/>
            <a:chOff x="2292400" y="1423263"/>
            <a:chExt cx="59055" cy="109855"/>
          </a:xfrm>
        </p:grpSpPr>
        <p:sp>
          <p:nvSpPr>
            <p:cNvPr id="33" name="object 33"/>
            <p:cNvSpPr/>
            <p:nvPr/>
          </p:nvSpPr>
          <p:spPr>
            <a:xfrm>
              <a:off x="2294940" y="1425803"/>
              <a:ext cx="40640" cy="101600"/>
            </a:xfrm>
            <a:custGeom>
              <a:avLst/>
              <a:gdLst/>
              <a:ahLst/>
              <a:cxnLst/>
              <a:rect l="l" t="t" r="r" b="b"/>
              <a:pathLst>
                <a:path w="40639" h="101600">
                  <a:moveTo>
                    <a:pt x="0" y="0"/>
                  </a:moveTo>
                  <a:lnTo>
                    <a:pt x="40631" y="101566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311138" y="1505754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38100" h="25400">
                  <a:moveTo>
                    <a:pt x="37590" y="0"/>
                  </a:moveTo>
                  <a:lnTo>
                    <a:pt x="32946" y="5051"/>
                  </a:lnTo>
                  <a:lnTo>
                    <a:pt x="29162" y="12569"/>
                  </a:lnTo>
                  <a:lnTo>
                    <a:pt x="26654" y="20087"/>
                  </a:lnTo>
                  <a:lnTo>
                    <a:pt x="25843" y="25138"/>
                  </a:lnTo>
                  <a:lnTo>
                    <a:pt x="21772" y="22040"/>
                  </a:lnTo>
                  <a:lnTo>
                    <a:pt x="14772" y="18325"/>
                  </a:lnTo>
                  <a:lnTo>
                    <a:pt x="6846" y="15491"/>
                  </a:lnTo>
                  <a:lnTo>
                    <a:pt x="0" y="15036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373464" y="1415388"/>
            <a:ext cx="1701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05" dirty="0">
                <a:latin typeface="Calibri"/>
                <a:cs typeface="Calibri"/>
              </a:rPr>
              <a:t>µI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919046" y="2261638"/>
            <a:ext cx="90805" cy="45085"/>
            <a:chOff x="1919046" y="2261638"/>
            <a:chExt cx="90805" cy="45085"/>
          </a:xfrm>
        </p:grpSpPr>
        <p:sp>
          <p:nvSpPr>
            <p:cNvPr id="37" name="object 37"/>
            <p:cNvSpPr/>
            <p:nvPr/>
          </p:nvSpPr>
          <p:spPr>
            <a:xfrm>
              <a:off x="1921586" y="2284104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>
                  <a:moveTo>
                    <a:pt x="0" y="0"/>
                  </a:moveTo>
                  <a:lnTo>
                    <a:pt x="8165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88053" y="2263860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044788" y="2166707"/>
            <a:ext cx="2146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20" dirty="0">
                <a:latin typeface="Calibri"/>
                <a:cs typeface="Calibri"/>
              </a:rPr>
              <a:t>µR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539286" y="1442762"/>
            <a:ext cx="45085" cy="90805"/>
            <a:chOff x="3539286" y="1442762"/>
            <a:chExt cx="45085" cy="90805"/>
          </a:xfrm>
        </p:grpSpPr>
        <p:sp>
          <p:nvSpPr>
            <p:cNvPr id="41" name="object 41"/>
            <p:cNvSpPr/>
            <p:nvPr/>
          </p:nvSpPr>
          <p:spPr>
            <a:xfrm>
              <a:off x="3561753" y="1445302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5">
                  <a:moveTo>
                    <a:pt x="0" y="0"/>
                  </a:moveTo>
                  <a:lnTo>
                    <a:pt x="0" y="8165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541509" y="151177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597465" y="1416163"/>
            <a:ext cx="552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Calibri"/>
                <a:cs typeface="Calibri"/>
              </a:rPr>
              <a:t>µ</a:t>
            </a:r>
            <a:r>
              <a:rPr sz="1100" i="1" spc="3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75" dirty="0">
                <a:latin typeface="Calibri"/>
                <a:cs typeface="Calibri"/>
              </a:rPr>
              <a:t>ξ</a:t>
            </a:r>
            <a:r>
              <a:rPr sz="1100" spc="75" dirty="0">
                <a:latin typeface="Tahoma"/>
                <a:cs typeface="Tahoma"/>
              </a:rPr>
              <a:t>)</a:t>
            </a:r>
            <a:r>
              <a:rPr sz="1100" i="1" spc="75" dirty="0">
                <a:latin typeface="Calibri"/>
                <a:cs typeface="Calibri"/>
              </a:rPr>
              <a:t>C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65711" y="1150500"/>
            <a:ext cx="87630" cy="45085"/>
            <a:chOff x="465711" y="1150500"/>
            <a:chExt cx="87630" cy="45085"/>
          </a:xfrm>
        </p:grpSpPr>
        <p:sp>
          <p:nvSpPr>
            <p:cNvPr id="45" name="object 45"/>
            <p:cNvSpPr/>
            <p:nvPr/>
          </p:nvSpPr>
          <p:spPr>
            <a:xfrm>
              <a:off x="465711" y="1172768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5">
                  <a:moveTo>
                    <a:pt x="0" y="0"/>
                  </a:moveTo>
                  <a:lnTo>
                    <a:pt x="8165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32179" y="115252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48640" y="973072"/>
            <a:ext cx="121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0" dirty="0">
                <a:latin typeface="Tahoma"/>
                <a:cs typeface="Tahoma"/>
              </a:rPr>
              <a:t>Λ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49" name="object 49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5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Model</a:t>
            </a:r>
            <a:r>
              <a:rPr spc="130" dirty="0"/>
              <a:t> </a:t>
            </a:r>
            <a:r>
              <a:rPr spc="-10" dirty="0"/>
              <a:t>Equations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46" y="534924"/>
            <a:ext cx="63220" cy="632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528" y="724357"/>
            <a:ext cx="50926" cy="509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2528" y="876185"/>
            <a:ext cx="50926" cy="509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2528" y="1028014"/>
            <a:ext cx="50926" cy="5092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2528" y="1179842"/>
            <a:ext cx="50926" cy="5092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424371"/>
            <a:ext cx="3604895" cy="10598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b="1" spc="10" dirty="0">
                <a:latin typeface="Georgia"/>
                <a:cs typeface="Georgia"/>
              </a:rPr>
              <a:t>SICR</a:t>
            </a:r>
            <a:r>
              <a:rPr sz="1100" b="1" spc="21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Model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Population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divided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into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four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compartments</a:t>
            </a:r>
            <a:endParaRPr sz="1100">
              <a:latin typeface="Times New Roman"/>
              <a:cs typeface="Times New Roman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b="1" dirty="0">
                <a:latin typeface="Georgia"/>
                <a:cs typeface="Georgia"/>
              </a:rPr>
              <a:t>S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Susceptible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individuals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ts val="1195"/>
              </a:lnSpc>
            </a:pPr>
            <a:r>
              <a:rPr sz="1000" b="1" dirty="0">
                <a:latin typeface="Georgia"/>
                <a:cs typeface="Georgia"/>
              </a:rPr>
              <a:t>I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Infected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individuals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(with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HPV)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ts val="1195"/>
              </a:lnSpc>
            </a:pPr>
            <a:r>
              <a:rPr sz="1000" b="1" spc="55" dirty="0">
                <a:latin typeface="Georgia"/>
                <a:cs typeface="Georgia"/>
              </a:rPr>
              <a:t>C</a:t>
            </a:r>
            <a:r>
              <a:rPr sz="1000" spc="55" dirty="0">
                <a:latin typeface="Times New Roman"/>
                <a:cs typeface="Times New Roman"/>
              </a:rPr>
              <a:t>: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Cancer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individuals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(with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cervical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cancer)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ts val="1200"/>
              </a:lnSpc>
            </a:pPr>
            <a:r>
              <a:rPr sz="1000" b="1" dirty="0">
                <a:latin typeface="Georgia"/>
                <a:cs typeface="Georgia"/>
              </a:rPr>
              <a:t>R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Recovered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individuals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(after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HPV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infection)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latin typeface="Times New Roman"/>
                <a:cs typeface="Times New Roman"/>
              </a:rPr>
              <a:t>Total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population: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i="1" spc="155" dirty="0">
                <a:latin typeface="Calibri"/>
                <a:cs typeface="Calibri"/>
              </a:rPr>
              <a:t>N</a:t>
            </a:r>
            <a:r>
              <a:rPr sz="1100" i="1" spc="-10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Calibri"/>
                <a:cs typeface="Calibri"/>
              </a:rPr>
              <a:t>t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i="1" spc="60" dirty="0">
                <a:latin typeface="Calibri"/>
                <a:cs typeface="Calibri"/>
              </a:rPr>
              <a:t>S</a:t>
            </a:r>
            <a:r>
              <a:rPr sz="1100" spc="60" dirty="0">
                <a:latin typeface="Tahoma"/>
                <a:cs typeface="Tahoma"/>
              </a:rPr>
              <a:t>(</a:t>
            </a:r>
            <a:r>
              <a:rPr sz="1100" i="1" spc="60" dirty="0">
                <a:latin typeface="Calibri"/>
                <a:cs typeface="Calibri"/>
              </a:rPr>
              <a:t>t</a:t>
            </a:r>
            <a:r>
              <a:rPr sz="1100" spc="6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75" dirty="0">
                <a:latin typeface="Calibri"/>
                <a:cs typeface="Calibri"/>
              </a:rPr>
              <a:t>I</a:t>
            </a:r>
            <a:r>
              <a:rPr sz="1100" spc="75" dirty="0">
                <a:latin typeface="Tahoma"/>
                <a:cs typeface="Tahoma"/>
              </a:rPr>
              <a:t>(</a:t>
            </a:r>
            <a:r>
              <a:rPr sz="1100" i="1" spc="75" dirty="0">
                <a:latin typeface="Calibri"/>
                <a:cs typeface="Calibri"/>
              </a:rPr>
              <a:t>t</a:t>
            </a:r>
            <a:r>
              <a:rPr sz="1100" spc="75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70" dirty="0">
                <a:latin typeface="Calibri"/>
                <a:cs typeface="Calibri"/>
              </a:rPr>
              <a:t>C</a:t>
            </a:r>
            <a:r>
              <a:rPr sz="1100" spc="70" dirty="0">
                <a:latin typeface="Tahoma"/>
                <a:cs typeface="Tahoma"/>
              </a:rPr>
              <a:t>(</a:t>
            </a:r>
            <a:r>
              <a:rPr sz="1100" i="1" spc="70" dirty="0">
                <a:latin typeface="Calibri"/>
                <a:cs typeface="Calibri"/>
              </a:rPr>
              <a:t>t</a:t>
            </a:r>
            <a:r>
              <a:rPr sz="1100" spc="7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40" dirty="0">
                <a:latin typeface="Calibri"/>
                <a:cs typeface="Calibri"/>
              </a:rPr>
              <a:t>R</a:t>
            </a:r>
            <a:r>
              <a:rPr sz="1100" spc="40" dirty="0">
                <a:latin typeface="Tahoma"/>
                <a:cs typeface="Tahoma"/>
              </a:rPr>
              <a:t>(</a:t>
            </a:r>
            <a:r>
              <a:rPr sz="1100" i="1" spc="40" dirty="0">
                <a:latin typeface="Calibri"/>
                <a:cs typeface="Calibri"/>
              </a:rPr>
              <a:t>t</a:t>
            </a:r>
            <a:r>
              <a:rPr sz="1100" spc="4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46" y="1377581"/>
            <a:ext cx="63220" cy="6322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416392" y="1960499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>
                <a:moveTo>
                  <a:pt x="0" y="0"/>
                </a:moveTo>
                <a:lnTo>
                  <a:pt x="16504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25155" y="1938933"/>
            <a:ext cx="1479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Calibri"/>
                <a:cs typeface="Calibri"/>
              </a:rPr>
              <a:t>dt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3692" y="1750173"/>
            <a:ext cx="625475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030"/>
              </a:lnSpc>
              <a:spcBef>
                <a:spcPts val="90"/>
              </a:spcBef>
            </a:pPr>
            <a:r>
              <a:rPr sz="1100" i="1" spc="60" dirty="0">
                <a:latin typeface="Calibri"/>
                <a:cs typeface="Calibri"/>
              </a:rPr>
              <a:t>dS</a:t>
            </a:r>
            <a:endParaRPr sz="1100">
              <a:latin typeface="Calibri"/>
              <a:cs typeface="Calibri"/>
            </a:endParaRPr>
          </a:p>
          <a:p>
            <a:pPr marL="231140">
              <a:lnSpc>
                <a:spcPts val="1030"/>
              </a:lnSpc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90" dirty="0">
                <a:latin typeface="Tahoma"/>
                <a:cs typeface="Tahoma"/>
              </a:rPr>
              <a:t>Λ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180" dirty="0">
                <a:latin typeface="Cambria"/>
                <a:cs typeface="Cambria"/>
              </a:rPr>
              <a:t>−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41702" y="1750173"/>
            <a:ext cx="2647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45" dirty="0">
                <a:latin typeface="Calibri"/>
                <a:cs typeface="Calibri"/>
              </a:rPr>
              <a:t>βSI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62086" y="1960499"/>
            <a:ext cx="435609" cy="0"/>
          </a:xfrm>
          <a:custGeom>
            <a:avLst/>
            <a:gdLst/>
            <a:ahLst/>
            <a:cxnLst/>
            <a:rect l="l" t="t" r="r" b="b"/>
            <a:pathLst>
              <a:path w="435610">
                <a:moveTo>
                  <a:pt x="0" y="0"/>
                </a:moveTo>
                <a:lnTo>
                  <a:pt x="43501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23986" y="1938933"/>
            <a:ext cx="500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85" dirty="0">
                <a:latin typeface="Calibri"/>
                <a:cs typeface="Calibri"/>
              </a:rPr>
              <a:t>α</a:t>
            </a:r>
            <a:r>
              <a:rPr sz="1200" spc="127" baseline="20833" dirty="0">
                <a:latin typeface="Cambria"/>
                <a:cs typeface="Cambria"/>
              </a:rPr>
              <a:t>′</a:t>
            </a:r>
            <a:r>
              <a:rPr sz="1100" i="1" spc="85" dirty="0"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30373" y="1843899"/>
            <a:ext cx="704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4" dirty="0">
                <a:latin typeface="Cambria"/>
                <a:cs typeface="Cambria"/>
              </a:rPr>
              <a:t>—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i="1" spc="110" dirty="0">
                <a:latin typeface="Calibri"/>
                <a:cs typeface="Calibri"/>
              </a:rPr>
              <a:t>µS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125" dirty="0">
                <a:latin typeface="Calibri"/>
                <a:cs typeface="Calibri"/>
              </a:rPr>
              <a:t>αR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37563" y="2307628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389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424863" y="2097302"/>
            <a:ext cx="7162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63550" algn="l"/>
              </a:tabLst>
            </a:pPr>
            <a:r>
              <a:rPr sz="1100" i="1" spc="75" dirty="0">
                <a:latin typeface="Calibri"/>
                <a:cs typeface="Calibri"/>
              </a:rPr>
              <a:t>dI</a:t>
            </a:r>
            <a:r>
              <a:rPr sz="1100" i="1" dirty="0">
                <a:latin typeface="Calibri"/>
                <a:cs typeface="Calibri"/>
              </a:rPr>
              <a:t>	</a:t>
            </a:r>
            <a:r>
              <a:rPr sz="1100" i="1" spc="145" dirty="0">
                <a:latin typeface="Calibri"/>
                <a:cs typeface="Calibri"/>
              </a:rPr>
              <a:t>βSI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96542" y="2307628"/>
            <a:ext cx="435609" cy="0"/>
          </a:xfrm>
          <a:custGeom>
            <a:avLst/>
            <a:gdLst/>
            <a:ahLst/>
            <a:cxnLst/>
            <a:rect l="l" t="t" r="r" b="b"/>
            <a:pathLst>
              <a:path w="435610">
                <a:moveTo>
                  <a:pt x="0" y="0"/>
                </a:moveTo>
                <a:lnTo>
                  <a:pt x="43501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10335" y="2191028"/>
            <a:ext cx="1816735" cy="2870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 marR="30480" indent="186055">
              <a:lnSpc>
                <a:spcPct val="56699"/>
              </a:lnSpc>
              <a:spcBef>
                <a:spcPts val="660"/>
              </a:spcBef>
              <a:tabLst>
                <a:tab pos="386080" algn="l"/>
                <a:tab pos="866775" algn="l"/>
              </a:tabLst>
            </a:pP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	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i="1" spc="165" dirty="0">
                <a:latin typeface="Calibri"/>
                <a:cs typeface="Calibri"/>
              </a:rPr>
              <a:t>γI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i="1" spc="75" dirty="0">
                <a:latin typeface="Calibri"/>
                <a:cs typeface="Calibri"/>
              </a:rPr>
              <a:t>δI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i="1" spc="105" dirty="0">
                <a:latin typeface="Calibri"/>
                <a:cs typeface="Calibri"/>
              </a:rPr>
              <a:t>µI </a:t>
            </a:r>
            <a:r>
              <a:rPr sz="1100" i="1" spc="-25" dirty="0">
                <a:latin typeface="Calibri"/>
                <a:cs typeface="Calibri"/>
              </a:rPr>
              <a:t>dt</a:t>
            </a:r>
            <a:r>
              <a:rPr sz="1100" i="1" dirty="0">
                <a:latin typeface="Calibri"/>
                <a:cs typeface="Calibri"/>
              </a:rPr>
              <a:t>	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85" dirty="0">
                <a:latin typeface="Calibri"/>
                <a:cs typeface="Calibri"/>
              </a:rPr>
              <a:t>α</a:t>
            </a:r>
            <a:r>
              <a:rPr sz="1200" spc="127" baseline="20833" dirty="0">
                <a:latin typeface="Cambria"/>
                <a:cs typeface="Cambria"/>
              </a:rPr>
              <a:t>′</a:t>
            </a:r>
            <a:r>
              <a:rPr sz="1100" i="1" spc="85" dirty="0"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00403" y="2654769"/>
            <a:ext cx="181610" cy="0"/>
          </a:xfrm>
          <a:custGeom>
            <a:avLst/>
            <a:gdLst/>
            <a:ahLst/>
            <a:cxnLst/>
            <a:rect l="l" t="t" r="r" b="b"/>
            <a:pathLst>
              <a:path w="181609">
                <a:moveTo>
                  <a:pt x="0" y="0"/>
                </a:moveTo>
                <a:lnTo>
                  <a:pt x="1810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417154" y="2633191"/>
            <a:ext cx="1479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Calibri"/>
                <a:cs typeface="Calibri"/>
              </a:rPr>
              <a:t>dt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87703" y="2444431"/>
            <a:ext cx="124206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030"/>
              </a:lnSpc>
              <a:spcBef>
                <a:spcPts val="90"/>
              </a:spcBef>
            </a:pPr>
            <a:r>
              <a:rPr sz="1100" i="1" spc="75" dirty="0">
                <a:latin typeface="Calibri"/>
                <a:cs typeface="Calibri"/>
              </a:rPr>
              <a:t>dC</a:t>
            </a:r>
            <a:endParaRPr sz="1100">
              <a:latin typeface="Calibri"/>
              <a:cs typeface="Calibri"/>
            </a:endParaRPr>
          </a:p>
          <a:p>
            <a:pPr marL="247015">
              <a:lnSpc>
                <a:spcPts val="1030"/>
              </a:lnSpc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75" dirty="0">
                <a:latin typeface="Calibri"/>
                <a:cs typeface="Calibri"/>
              </a:rPr>
              <a:t>δI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i="1" spc="155" dirty="0">
                <a:latin typeface="Calibri"/>
                <a:cs typeface="Calibri"/>
              </a:rPr>
              <a:t>ξC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i="1" spc="95" dirty="0">
                <a:latin typeface="Calibri"/>
                <a:cs typeface="Calibri"/>
              </a:rPr>
              <a:t>µC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403070" y="2990342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4">
                <a:moveTo>
                  <a:pt x="0" y="0"/>
                </a:moveTo>
                <a:lnTo>
                  <a:pt x="17837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418488" y="2968776"/>
            <a:ext cx="1479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Calibri"/>
                <a:cs typeface="Calibri"/>
              </a:rPr>
              <a:t>dt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90370" y="2780016"/>
            <a:ext cx="127762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030"/>
              </a:lnSpc>
              <a:spcBef>
                <a:spcPts val="90"/>
              </a:spcBef>
            </a:pPr>
            <a:r>
              <a:rPr sz="1100" i="1" spc="90" dirty="0">
                <a:latin typeface="Calibri"/>
                <a:cs typeface="Calibri"/>
              </a:rPr>
              <a:t>dR</a:t>
            </a:r>
            <a:endParaRPr sz="1100">
              <a:latin typeface="Calibri"/>
              <a:cs typeface="Calibri"/>
            </a:endParaRPr>
          </a:p>
          <a:p>
            <a:pPr marL="244475">
              <a:lnSpc>
                <a:spcPts val="1030"/>
              </a:lnSpc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165" dirty="0">
                <a:latin typeface="Calibri"/>
                <a:cs typeface="Calibri"/>
              </a:rPr>
              <a:t>γI</a:t>
            </a:r>
            <a:r>
              <a:rPr sz="1100" i="1" spc="90" dirty="0">
                <a:latin typeface="Calibri"/>
                <a:cs typeface="Calibri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i="1" spc="150" dirty="0">
                <a:latin typeface="Calibri"/>
                <a:cs typeface="Calibri"/>
              </a:rPr>
              <a:t>αR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µR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29" name="object 29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6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2430"/>
            <a:ext cx="20510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Description</a:t>
            </a:r>
            <a:r>
              <a:rPr sz="14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Parameters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08566" y="698115"/>
          <a:ext cx="3696970" cy="1897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3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b="1" spc="-10" dirty="0">
                          <a:latin typeface="Georgia"/>
                          <a:cs typeface="Georgia"/>
                        </a:rPr>
                        <a:t>Parameter</a:t>
                      </a:r>
                      <a:endParaRPr sz="1000">
                        <a:latin typeface="Georgia"/>
                        <a:cs typeface="Georgia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b="1" spc="-10" dirty="0">
                          <a:latin typeface="Georgia"/>
                          <a:cs typeface="Georgia"/>
                        </a:rPr>
                        <a:t>Description</a:t>
                      </a:r>
                      <a:endParaRPr sz="1000">
                        <a:latin typeface="Georgia"/>
                        <a:cs typeface="Georgia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20" dirty="0">
                          <a:latin typeface="Lucida Sans Unicode"/>
                          <a:cs typeface="Lucida Sans Unicode"/>
                        </a:rPr>
                        <a:t>Λ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Georgia"/>
                          <a:cs typeface="Georgia"/>
                        </a:rPr>
                        <a:t>Birth</a:t>
                      </a:r>
                      <a:r>
                        <a:rPr sz="1000" spc="1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1000" spc="1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into</a:t>
                      </a:r>
                      <a:r>
                        <a:rPr sz="1000" spc="1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1000" spc="1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susceptible</a:t>
                      </a:r>
                      <a:r>
                        <a:rPr sz="1000" spc="1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spc="-10" dirty="0">
                          <a:latin typeface="Georgia"/>
                          <a:cs typeface="Georgia"/>
                        </a:rPr>
                        <a:t>individuals</a:t>
                      </a:r>
                      <a:endParaRPr sz="1000">
                        <a:latin typeface="Georgia"/>
                        <a:cs typeface="Georgia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i="1" spc="20" dirty="0">
                          <a:latin typeface="Palatino Linotype"/>
                          <a:cs typeface="Palatino Linotype"/>
                        </a:rPr>
                        <a:t>β</a:t>
                      </a:r>
                      <a:endParaRPr sz="1000">
                        <a:latin typeface="Palatino Linotype"/>
                        <a:cs typeface="Palatino Linotype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Georgia"/>
                          <a:cs typeface="Georgia"/>
                        </a:rPr>
                        <a:t>Transmission</a:t>
                      </a:r>
                      <a:r>
                        <a:rPr sz="1000" spc="1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1000" spc="114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000" spc="1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contact</a:t>
                      </a:r>
                      <a:r>
                        <a:rPr sz="1000" spc="114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with</a:t>
                      </a:r>
                      <a:r>
                        <a:rPr sz="1000" spc="114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spc="-10" dirty="0">
                          <a:latin typeface="Georgia"/>
                          <a:cs typeface="Georgia"/>
                        </a:rPr>
                        <a:t>individuals</a:t>
                      </a:r>
                      <a:endParaRPr sz="1000">
                        <a:latin typeface="Georgia"/>
                        <a:cs typeface="Georgia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algn="ctr">
                        <a:lnSpc>
                          <a:spcPts val="919"/>
                        </a:lnSpc>
                      </a:pPr>
                      <a:r>
                        <a:rPr sz="1500" i="1" spc="75" baseline="-25000" dirty="0">
                          <a:latin typeface="Palatino Linotype"/>
                          <a:cs typeface="Palatino Linotype"/>
                        </a:rPr>
                        <a:t>α</a:t>
                      </a:r>
                      <a:r>
                        <a:rPr sz="650" spc="50" dirty="0">
                          <a:latin typeface="Cambria"/>
                          <a:cs typeface="Cambria"/>
                        </a:rPr>
                        <a:t>′</a:t>
                      </a:r>
                      <a:endParaRPr sz="6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Georgia"/>
                          <a:cs typeface="Georgia"/>
                        </a:rPr>
                        <a:t>Saturation</a:t>
                      </a:r>
                      <a:r>
                        <a:rPr sz="1000" spc="19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spc="-10" dirty="0">
                          <a:latin typeface="Georgia"/>
                          <a:cs typeface="Georgia"/>
                        </a:rPr>
                        <a:t>factor</a:t>
                      </a:r>
                      <a:endParaRPr sz="1000">
                        <a:latin typeface="Georgia"/>
                        <a:cs typeface="Georgia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i="1" spc="-50" dirty="0">
                          <a:latin typeface="Palatino Linotype"/>
                          <a:cs typeface="Palatino Linotype"/>
                        </a:rPr>
                        <a:t>γ</a:t>
                      </a:r>
                      <a:endParaRPr sz="1000">
                        <a:latin typeface="Palatino Linotype"/>
                        <a:cs typeface="Palatino Linotype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Georgia"/>
                          <a:cs typeface="Georgia"/>
                        </a:rPr>
                        <a:t>Recovery</a:t>
                      </a:r>
                      <a:r>
                        <a:rPr sz="1000" spc="1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1000" spc="1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due</a:t>
                      </a:r>
                      <a:r>
                        <a:rPr sz="1000" spc="1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to</a:t>
                      </a:r>
                      <a:r>
                        <a:rPr sz="1000" spc="1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natural</a:t>
                      </a:r>
                      <a:r>
                        <a:rPr sz="1000" spc="1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spc="-10" dirty="0">
                          <a:latin typeface="Georgia"/>
                          <a:cs typeface="Georgia"/>
                        </a:rPr>
                        <a:t>immunity</a:t>
                      </a:r>
                      <a:endParaRPr sz="1000">
                        <a:latin typeface="Georgia"/>
                        <a:cs typeface="Georgia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i="1" spc="-50" dirty="0">
                          <a:latin typeface="Palatino Linotype"/>
                          <a:cs typeface="Palatino Linotype"/>
                        </a:rPr>
                        <a:t>δ</a:t>
                      </a:r>
                      <a:endParaRPr sz="1000">
                        <a:latin typeface="Palatino Linotype"/>
                        <a:cs typeface="Palatino Linotype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Georgia"/>
                          <a:cs typeface="Georgia"/>
                        </a:rPr>
                        <a:t>Progression</a:t>
                      </a:r>
                      <a:r>
                        <a:rPr sz="1000" spc="1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1000" spc="1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000" spc="10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spc="60" dirty="0">
                          <a:latin typeface="Georgia"/>
                          <a:cs typeface="Georgia"/>
                        </a:rPr>
                        <a:t>HPV</a:t>
                      </a:r>
                      <a:r>
                        <a:rPr sz="1000" spc="1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to</a:t>
                      </a:r>
                      <a:r>
                        <a:rPr sz="1000" spc="1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cervical</a:t>
                      </a:r>
                      <a:r>
                        <a:rPr sz="1000" spc="1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spc="-10" dirty="0">
                          <a:latin typeface="Georgia"/>
                          <a:cs typeface="Georgia"/>
                        </a:rPr>
                        <a:t>cancer</a:t>
                      </a:r>
                      <a:endParaRPr sz="1000">
                        <a:latin typeface="Georgia"/>
                        <a:cs typeface="Georgia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i="1" spc="-50" dirty="0">
                          <a:latin typeface="Palatino Linotype"/>
                          <a:cs typeface="Palatino Linotype"/>
                        </a:rPr>
                        <a:t>ξ</a:t>
                      </a:r>
                      <a:endParaRPr sz="1000">
                        <a:latin typeface="Palatino Linotype"/>
                        <a:cs typeface="Palatino Linotype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Georgia"/>
                          <a:cs typeface="Georgia"/>
                        </a:rPr>
                        <a:t>Death</a:t>
                      </a:r>
                      <a:r>
                        <a:rPr sz="1000" spc="1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1000" spc="1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000" spc="1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individuals</a:t>
                      </a:r>
                      <a:r>
                        <a:rPr sz="1000" spc="1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with</a:t>
                      </a:r>
                      <a:r>
                        <a:rPr sz="1000" spc="1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cervical</a:t>
                      </a:r>
                      <a:r>
                        <a:rPr sz="1000" spc="1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spc="-10" dirty="0">
                          <a:latin typeface="Georgia"/>
                          <a:cs typeface="Georgia"/>
                        </a:rPr>
                        <a:t>cancer</a:t>
                      </a:r>
                      <a:endParaRPr sz="1000">
                        <a:latin typeface="Georgia"/>
                        <a:cs typeface="Georgia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i="1" spc="-50" dirty="0">
                          <a:latin typeface="Palatino Linotype"/>
                          <a:cs typeface="Palatino Linotype"/>
                        </a:rPr>
                        <a:t>µ</a:t>
                      </a:r>
                      <a:endParaRPr sz="1000">
                        <a:latin typeface="Palatino Linotype"/>
                        <a:cs typeface="Palatino Linotype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Georgia"/>
                          <a:cs typeface="Georgia"/>
                        </a:rPr>
                        <a:t>Natural</a:t>
                      </a:r>
                      <a:r>
                        <a:rPr sz="1000" spc="1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1000" spc="1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000" spc="1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spc="-10" dirty="0">
                          <a:latin typeface="Georgia"/>
                          <a:cs typeface="Georgia"/>
                        </a:rPr>
                        <a:t>mortality</a:t>
                      </a:r>
                      <a:endParaRPr sz="1000">
                        <a:latin typeface="Georgia"/>
                        <a:cs typeface="Georgia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i="1" spc="15" dirty="0">
                          <a:latin typeface="Palatino Linotype"/>
                          <a:cs typeface="Palatino Linotype"/>
                        </a:rPr>
                        <a:t>α</a:t>
                      </a:r>
                      <a:endParaRPr sz="1000">
                        <a:latin typeface="Palatino Linotype"/>
                        <a:cs typeface="Palatino Linotype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1000" spc="10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000" spc="10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loss</a:t>
                      </a:r>
                      <a:r>
                        <a:rPr sz="1000" spc="10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1000" spc="10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000" spc="-10" dirty="0">
                          <a:latin typeface="Georgia"/>
                          <a:cs typeface="Georgia"/>
                        </a:rPr>
                        <a:t>immunity</a:t>
                      </a:r>
                      <a:endParaRPr sz="1000">
                        <a:latin typeface="Georgia"/>
                        <a:cs typeface="Georgia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84047" y="2651892"/>
            <a:ext cx="28409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0" dirty="0">
                <a:solidFill>
                  <a:srgbClr val="3333B2"/>
                </a:solidFill>
                <a:latin typeface="Times New Roman"/>
                <a:cs typeface="Times New Roman"/>
              </a:rPr>
              <a:t>Table</a:t>
            </a:r>
            <a:r>
              <a:rPr sz="1000" spc="13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000" spc="20" dirty="0">
                <a:solidFill>
                  <a:srgbClr val="3333B2"/>
                </a:solidFill>
                <a:latin typeface="Times New Roman"/>
                <a:cs typeface="Times New Roman"/>
              </a:rPr>
              <a:t>1:</a:t>
            </a:r>
            <a:r>
              <a:rPr sz="1000" spc="13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Model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Parameters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and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20" dirty="0">
                <a:latin typeface="Times New Roman"/>
                <a:cs typeface="Times New Roman"/>
              </a:rPr>
              <a:t>Their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Descriptions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7" name="object 7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7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Basic</a:t>
            </a:r>
            <a:r>
              <a:rPr spc="300" dirty="0"/>
              <a:t> </a:t>
            </a:r>
            <a:r>
              <a:rPr dirty="0"/>
              <a:t>Reproduction</a:t>
            </a:r>
            <a:r>
              <a:rPr spc="300" dirty="0"/>
              <a:t> </a:t>
            </a:r>
            <a:r>
              <a:rPr dirty="0"/>
              <a:t>Number</a:t>
            </a:r>
            <a:r>
              <a:rPr spc="300" dirty="0"/>
              <a:t> </a:t>
            </a:r>
            <a:r>
              <a:rPr spc="-20" dirty="0"/>
              <a:t>(</a:t>
            </a:r>
            <a:r>
              <a:rPr i="1" spc="-20" dirty="0">
                <a:latin typeface="Arial"/>
                <a:cs typeface="Arial"/>
              </a:rPr>
              <a:t>R</a:t>
            </a:r>
            <a:r>
              <a:rPr sz="1500" spc="-30" baseline="-11111" dirty="0">
                <a:latin typeface="Tahoma"/>
                <a:cs typeface="Tahoma"/>
              </a:rPr>
              <a:t>0</a:t>
            </a:r>
            <a:r>
              <a:rPr sz="1400" spc="-20" dirty="0"/>
              <a:t>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46" y="842848"/>
            <a:ext cx="63220" cy="632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757363"/>
            <a:ext cx="408559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basic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reproduction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number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450" baseline="-10416" dirty="0">
                <a:latin typeface="Calibri"/>
                <a:cs typeface="Calibri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tells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you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how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many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people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one </a:t>
            </a:r>
            <a:r>
              <a:rPr sz="1100" dirty="0">
                <a:latin typeface="Times New Roman"/>
                <a:cs typeface="Times New Roman"/>
              </a:rPr>
              <a:t>infected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person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infect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average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fully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susceptible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(healthy)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population.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0651" y="153601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0057" y="1384184"/>
            <a:ext cx="1022985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3225">
              <a:lnSpc>
                <a:spcPts val="1030"/>
              </a:lnSpc>
              <a:spcBef>
                <a:spcPts val="90"/>
              </a:spcBef>
              <a:tabLst>
                <a:tab pos="571500" algn="l"/>
                <a:tab pos="971550" algn="l"/>
              </a:tabLst>
            </a:pPr>
            <a:r>
              <a:rPr sz="11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100" i="1" u="sng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βS</a:t>
            </a:r>
            <a:r>
              <a:rPr sz="1200" u="sng" spc="97" baseline="-1041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0</a:t>
            </a:r>
            <a:r>
              <a:rPr sz="1200" u="sng" baseline="-1041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200" baseline="-10416">
              <a:latin typeface="Calibri"/>
              <a:cs typeface="Calibri"/>
            </a:endParaRPr>
          </a:p>
          <a:p>
            <a:pPr marL="38100">
              <a:lnSpc>
                <a:spcPts val="1030"/>
              </a:lnSpc>
            </a:pPr>
            <a:r>
              <a:rPr sz="1100" i="1" spc="225" dirty="0">
                <a:latin typeface="Calibri"/>
                <a:cs typeface="Calibri"/>
              </a:rPr>
              <a:t>R</a:t>
            </a:r>
            <a:r>
              <a:rPr sz="1100" i="1" spc="140" dirty="0">
                <a:latin typeface="Calibri"/>
                <a:cs typeface="Calibri"/>
              </a:rPr>
              <a:t> 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20658" y="1572944"/>
            <a:ext cx="5937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libri"/>
                <a:cs typeface="Calibri"/>
              </a:rPr>
              <a:t>δ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70" dirty="0">
                <a:latin typeface="Calibri"/>
                <a:cs typeface="Calibri"/>
              </a:rPr>
              <a:t>γ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10" dirty="0">
                <a:latin typeface="Calibri"/>
                <a:cs typeface="Calibri"/>
              </a:rPr>
              <a:t>µ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46" y="1932813"/>
            <a:ext cx="63220" cy="632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77532" y="1803550"/>
            <a:ext cx="4129404" cy="10001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latin typeface="Georgia"/>
                <a:cs typeface="Georgia"/>
              </a:rPr>
              <a:t>If</a:t>
            </a:r>
            <a:r>
              <a:rPr sz="1100" b="1" spc="200" dirty="0">
                <a:latin typeface="Georgia"/>
                <a:cs typeface="Georgia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330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&lt;</a:t>
            </a:r>
            <a:r>
              <a:rPr sz="1100" i="1" spc="10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Disease-free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equilibrium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stable,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infection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dies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out.</a:t>
            </a:r>
            <a:endParaRPr sz="1100">
              <a:latin typeface="Times New Roman"/>
              <a:cs typeface="Times New Roman"/>
            </a:endParaRPr>
          </a:p>
          <a:p>
            <a:pPr marL="38100" marR="30480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latin typeface="Georgia"/>
                <a:cs typeface="Georgia"/>
              </a:rPr>
              <a:t>If</a:t>
            </a:r>
            <a:r>
              <a:rPr sz="1100" b="1" spc="165" dirty="0">
                <a:latin typeface="Georgia"/>
                <a:cs typeface="Georgia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315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80" dirty="0">
                <a:latin typeface="Times New Roman"/>
                <a:cs typeface="Times New Roman"/>
              </a:rPr>
              <a:t>at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threshold;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it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persist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out </a:t>
            </a:r>
            <a:r>
              <a:rPr sz="1100" spc="10" dirty="0">
                <a:latin typeface="Times New Roman"/>
                <a:cs typeface="Times New Roman"/>
              </a:rPr>
              <a:t>depending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on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other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factors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(neutral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stability).</a:t>
            </a:r>
            <a:endParaRPr sz="1100">
              <a:latin typeface="Times New Roman"/>
              <a:cs typeface="Times New Roman"/>
            </a:endParaRPr>
          </a:p>
          <a:p>
            <a:pPr marL="38100" marR="134620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latin typeface="Georgia"/>
                <a:cs typeface="Georgia"/>
              </a:rPr>
              <a:t>If</a:t>
            </a:r>
            <a:r>
              <a:rPr sz="1100" b="1" spc="229" dirty="0">
                <a:latin typeface="Georgia"/>
                <a:cs typeface="Georgia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359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&gt;</a:t>
            </a:r>
            <a:r>
              <a:rPr sz="1100" i="1" spc="13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Endemic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equilibrium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emerges,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infection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persists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spc="-10" dirty="0">
                <a:latin typeface="Times New Roman"/>
                <a:cs typeface="Times New Roman"/>
              </a:rPr>
              <a:t>population.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46" y="2142845"/>
            <a:ext cx="63220" cy="6322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46" y="2524963"/>
            <a:ext cx="63220" cy="6322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14" name="object 14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8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Equilibrium</a:t>
            </a:r>
            <a:r>
              <a:rPr spc="385" dirty="0"/>
              <a:t> </a:t>
            </a:r>
            <a:r>
              <a:rPr spc="-10" dirty="0"/>
              <a:t>Points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46" y="1335100"/>
            <a:ext cx="63220" cy="632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46" y="1734909"/>
            <a:ext cx="63220" cy="6322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7744" y="645616"/>
            <a:ext cx="3339465" cy="1195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635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latin typeface="Georgia"/>
                <a:cs typeface="Georgia"/>
              </a:rPr>
              <a:t>Initial</a:t>
            </a:r>
            <a:r>
              <a:rPr sz="1100" b="1" spc="2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Condition:</a:t>
            </a:r>
            <a:r>
              <a:rPr sz="1100" b="1" spc="135" dirty="0">
                <a:latin typeface="Georgia"/>
                <a:cs typeface="Georgia"/>
              </a:rPr>
              <a:t> </a:t>
            </a:r>
            <a:r>
              <a:rPr sz="1100" spc="60" dirty="0">
                <a:latin typeface="Tahoma"/>
                <a:cs typeface="Tahoma"/>
              </a:rPr>
              <a:t>(</a:t>
            </a:r>
            <a:r>
              <a:rPr sz="1100" i="1" spc="60" dirty="0">
                <a:latin typeface="Calibri"/>
                <a:cs typeface="Calibri"/>
              </a:rPr>
              <a:t>S</a:t>
            </a:r>
            <a:r>
              <a:rPr sz="1200" spc="89" baseline="-10416" dirty="0">
                <a:latin typeface="Calibri"/>
                <a:cs typeface="Calibri"/>
              </a:rPr>
              <a:t>0</a:t>
            </a:r>
            <a:r>
              <a:rPr sz="1100" i="1" spc="6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95" dirty="0">
                <a:latin typeface="Calibri"/>
                <a:cs typeface="Calibri"/>
              </a:rPr>
              <a:t>I</a:t>
            </a:r>
            <a:r>
              <a:rPr sz="1200" spc="142" baseline="-10416" dirty="0">
                <a:latin typeface="Calibri"/>
                <a:cs typeface="Calibri"/>
              </a:rPr>
              <a:t>0</a:t>
            </a:r>
            <a:r>
              <a:rPr sz="1100" i="1" spc="9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95" dirty="0">
                <a:latin typeface="Calibri"/>
                <a:cs typeface="Calibri"/>
              </a:rPr>
              <a:t>C</a:t>
            </a:r>
            <a:r>
              <a:rPr sz="1200" spc="142" baseline="-10416" dirty="0">
                <a:latin typeface="Calibri"/>
                <a:cs typeface="Calibri"/>
              </a:rPr>
              <a:t>0</a:t>
            </a:r>
            <a:r>
              <a:rPr sz="1100" i="1" spc="9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70" dirty="0">
                <a:latin typeface="Calibri"/>
                <a:cs typeface="Calibri"/>
              </a:rPr>
              <a:t>R</a:t>
            </a:r>
            <a:r>
              <a:rPr sz="1200" spc="104" baseline="-10416" dirty="0">
                <a:latin typeface="Calibri"/>
                <a:cs typeface="Calibri"/>
              </a:rPr>
              <a:t>0</a:t>
            </a:r>
            <a:r>
              <a:rPr sz="1100" spc="7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100" b="1" spc="-50" dirty="0">
                <a:latin typeface="Georgia"/>
                <a:cs typeface="Georgia"/>
              </a:rPr>
              <a:t>Disease-</a:t>
            </a:r>
            <a:r>
              <a:rPr sz="1100" b="1" spc="-30" dirty="0">
                <a:latin typeface="Georgia"/>
                <a:cs typeface="Georgia"/>
              </a:rPr>
              <a:t>Free</a:t>
            </a:r>
            <a:r>
              <a:rPr sz="1100" b="1" spc="85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Equilibrium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(DFE)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327660">
              <a:lnSpc>
                <a:spcPct val="100000"/>
              </a:lnSpc>
              <a:spcBef>
                <a:spcPts val="330"/>
              </a:spcBef>
            </a:pPr>
            <a:r>
              <a:rPr sz="1100" i="1" spc="140" dirty="0">
                <a:latin typeface="Calibri"/>
                <a:cs typeface="Calibri"/>
              </a:rPr>
              <a:t>E</a:t>
            </a:r>
            <a:r>
              <a:rPr sz="1200" spc="209" baseline="-10416" dirty="0">
                <a:latin typeface="Calibri"/>
                <a:cs typeface="Calibri"/>
              </a:rPr>
              <a:t>0</a:t>
            </a:r>
            <a:r>
              <a:rPr sz="1200" spc="284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80" dirty="0">
                <a:latin typeface="Tahoma"/>
                <a:cs typeface="Tahoma"/>
              </a:rPr>
              <a:t>(</a:t>
            </a:r>
            <a:r>
              <a:rPr sz="1100" i="1" spc="80" dirty="0">
                <a:latin typeface="Calibri"/>
                <a:cs typeface="Calibri"/>
              </a:rPr>
              <a:t>S</a:t>
            </a:r>
            <a:r>
              <a:rPr sz="1200" spc="120" baseline="27777" dirty="0">
                <a:latin typeface="Cambria"/>
                <a:cs typeface="Cambria"/>
              </a:rPr>
              <a:t>∗</a:t>
            </a:r>
            <a:r>
              <a:rPr sz="1100" i="1" spc="80" dirty="0">
                <a:latin typeface="Calibri"/>
                <a:cs typeface="Calibri"/>
              </a:rPr>
              <a:t>,</a:t>
            </a:r>
            <a:r>
              <a:rPr sz="1100" i="1" spc="-60" dirty="0">
                <a:latin typeface="Calibri"/>
                <a:cs typeface="Calibri"/>
              </a:rPr>
              <a:t> </a:t>
            </a:r>
            <a:r>
              <a:rPr sz="1100" i="1" spc="130" dirty="0">
                <a:latin typeface="Calibri"/>
                <a:cs typeface="Calibri"/>
              </a:rPr>
              <a:t>I</a:t>
            </a:r>
            <a:r>
              <a:rPr sz="1200" spc="195" baseline="27777" dirty="0">
                <a:latin typeface="Cambria"/>
                <a:cs typeface="Cambria"/>
              </a:rPr>
              <a:t>∗</a:t>
            </a:r>
            <a:r>
              <a:rPr sz="1100" i="1" spc="130" dirty="0">
                <a:latin typeface="Calibri"/>
                <a:cs typeface="Calibri"/>
              </a:rPr>
              <a:t>,</a:t>
            </a:r>
            <a:r>
              <a:rPr sz="1100" i="1" spc="-55" dirty="0">
                <a:latin typeface="Calibri"/>
                <a:cs typeface="Calibri"/>
              </a:rPr>
              <a:t> </a:t>
            </a:r>
            <a:r>
              <a:rPr sz="1100" i="1" spc="125" dirty="0">
                <a:latin typeface="Calibri"/>
                <a:cs typeface="Calibri"/>
              </a:rPr>
              <a:t>C</a:t>
            </a:r>
            <a:r>
              <a:rPr sz="1200" spc="187" baseline="27777" dirty="0">
                <a:latin typeface="Cambria"/>
                <a:cs typeface="Cambria"/>
              </a:rPr>
              <a:t>∗</a:t>
            </a:r>
            <a:r>
              <a:rPr sz="1100" i="1" spc="125" dirty="0">
                <a:latin typeface="Calibri"/>
                <a:cs typeface="Calibri"/>
              </a:rPr>
              <a:t>,</a:t>
            </a:r>
            <a:r>
              <a:rPr sz="1100" i="1" spc="-55" dirty="0">
                <a:latin typeface="Calibri"/>
                <a:cs typeface="Calibri"/>
              </a:rPr>
              <a:t> </a:t>
            </a:r>
            <a:r>
              <a:rPr sz="1100" i="1" spc="100" dirty="0">
                <a:latin typeface="Calibri"/>
                <a:cs typeface="Calibri"/>
              </a:rPr>
              <a:t>R</a:t>
            </a:r>
            <a:r>
              <a:rPr sz="1200" spc="150" baseline="27777" dirty="0">
                <a:latin typeface="Cambria"/>
                <a:cs typeface="Cambria"/>
              </a:rPr>
              <a:t>∗</a:t>
            </a:r>
            <a:r>
              <a:rPr sz="1100" spc="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(Λ</a:t>
            </a:r>
            <a:r>
              <a:rPr sz="1100" i="1" spc="55" dirty="0">
                <a:latin typeface="Calibri"/>
                <a:cs typeface="Calibri"/>
              </a:rPr>
              <a:t>/µ,</a:t>
            </a:r>
            <a:r>
              <a:rPr sz="1100" i="1" spc="-55" dirty="0">
                <a:latin typeface="Calibri"/>
                <a:cs typeface="Calibri"/>
              </a:rPr>
              <a:t> </a:t>
            </a:r>
            <a:r>
              <a:rPr sz="1100" spc="-30" dirty="0">
                <a:latin typeface="Tahoma"/>
                <a:cs typeface="Tahoma"/>
              </a:rPr>
              <a:t>0</a:t>
            </a:r>
            <a:r>
              <a:rPr sz="1100" i="1" spc="-30" dirty="0">
                <a:latin typeface="Calibri"/>
                <a:cs typeface="Calibri"/>
              </a:rPr>
              <a:t>,</a:t>
            </a:r>
            <a:r>
              <a:rPr sz="1100" i="1" spc="-60" dirty="0">
                <a:latin typeface="Calibri"/>
                <a:cs typeface="Calibri"/>
              </a:rPr>
              <a:t> </a:t>
            </a:r>
            <a:r>
              <a:rPr sz="1100" spc="-30" dirty="0">
                <a:latin typeface="Tahoma"/>
                <a:cs typeface="Tahoma"/>
              </a:rPr>
              <a:t>0</a:t>
            </a:r>
            <a:r>
              <a:rPr sz="1100" i="1" spc="-30" dirty="0">
                <a:latin typeface="Calibri"/>
                <a:cs typeface="Calibri"/>
              </a:rPr>
              <a:t>,</a:t>
            </a:r>
            <a:r>
              <a:rPr sz="1100" i="1" spc="-55" dirty="0">
                <a:latin typeface="Calibri"/>
                <a:cs typeface="Calibri"/>
              </a:rPr>
              <a:t> </a:t>
            </a:r>
            <a:r>
              <a:rPr sz="1100" spc="-25" dirty="0">
                <a:latin typeface="Tahoma"/>
                <a:cs typeface="Tahoma"/>
              </a:rPr>
              <a:t>0)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100" b="1" spc="-35" dirty="0">
                <a:latin typeface="Georgia"/>
                <a:cs typeface="Georgia"/>
              </a:rPr>
              <a:t>Endemic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Equilibrium</a:t>
            </a:r>
            <a:r>
              <a:rPr sz="1100" b="1" spc="75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(EE)</a:t>
            </a:r>
            <a:r>
              <a:rPr sz="1100" spc="-2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327660">
              <a:lnSpc>
                <a:spcPct val="100000"/>
              </a:lnSpc>
              <a:spcBef>
                <a:spcPts val="175"/>
              </a:spcBef>
            </a:pPr>
            <a:r>
              <a:rPr sz="1100" i="1" spc="140" dirty="0">
                <a:latin typeface="Calibri"/>
                <a:cs typeface="Calibri"/>
              </a:rPr>
              <a:t>E</a:t>
            </a:r>
            <a:r>
              <a:rPr sz="1200" spc="209" baseline="-10416" dirty="0">
                <a:latin typeface="Calibri"/>
                <a:cs typeface="Calibri"/>
              </a:rPr>
              <a:t>1</a:t>
            </a:r>
            <a:r>
              <a:rPr sz="1200" spc="270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80" dirty="0">
                <a:latin typeface="Tahoma"/>
                <a:cs typeface="Tahoma"/>
              </a:rPr>
              <a:t>(</a:t>
            </a:r>
            <a:r>
              <a:rPr sz="1100" i="1" spc="80" dirty="0">
                <a:latin typeface="Calibri"/>
                <a:cs typeface="Calibri"/>
              </a:rPr>
              <a:t>S</a:t>
            </a:r>
            <a:r>
              <a:rPr sz="1200" spc="120" baseline="27777" dirty="0">
                <a:latin typeface="Cambria"/>
                <a:cs typeface="Cambria"/>
              </a:rPr>
              <a:t>∗</a:t>
            </a:r>
            <a:r>
              <a:rPr sz="1100" i="1" spc="80" dirty="0">
                <a:latin typeface="Calibri"/>
                <a:cs typeface="Calibri"/>
              </a:rPr>
              <a:t>,</a:t>
            </a:r>
            <a:r>
              <a:rPr sz="1100" i="1" spc="-60" dirty="0">
                <a:latin typeface="Calibri"/>
                <a:cs typeface="Calibri"/>
              </a:rPr>
              <a:t> </a:t>
            </a:r>
            <a:r>
              <a:rPr sz="1100" i="1" spc="130" dirty="0">
                <a:latin typeface="Calibri"/>
                <a:cs typeface="Calibri"/>
              </a:rPr>
              <a:t>I</a:t>
            </a:r>
            <a:r>
              <a:rPr sz="1200" spc="195" baseline="27777" dirty="0">
                <a:latin typeface="Cambria"/>
                <a:cs typeface="Cambria"/>
              </a:rPr>
              <a:t>∗</a:t>
            </a:r>
            <a:r>
              <a:rPr sz="1100" i="1" spc="130" dirty="0">
                <a:latin typeface="Calibri"/>
                <a:cs typeface="Calibri"/>
              </a:rPr>
              <a:t>,</a:t>
            </a:r>
            <a:r>
              <a:rPr sz="1100" i="1" spc="-60" dirty="0">
                <a:latin typeface="Calibri"/>
                <a:cs typeface="Calibri"/>
              </a:rPr>
              <a:t> </a:t>
            </a:r>
            <a:r>
              <a:rPr sz="1100" i="1" spc="125" dirty="0">
                <a:latin typeface="Calibri"/>
                <a:cs typeface="Calibri"/>
              </a:rPr>
              <a:t>C</a:t>
            </a:r>
            <a:r>
              <a:rPr sz="1200" spc="187" baseline="27777" dirty="0">
                <a:latin typeface="Cambria"/>
                <a:cs typeface="Cambria"/>
              </a:rPr>
              <a:t>∗</a:t>
            </a:r>
            <a:r>
              <a:rPr sz="1100" i="1" spc="125" dirty="0">
                <a:latin typeface="Calibri"/>
                <a:cs typeface="Calibri"/>
              </a:rPr>
              <a:t>,</a:t>
            </a:r>
            <a:r>
              <a:rPr sz="1100" i="1" spc="-60" dirty="0">
                <a:latin typeface="Calibri"/>
                <a:cs typeface="Calibri"/>
              </a:rPr>
              <a:t> </a:t>
            </a:r>
            <a:r>
              <a:rPr sz="1100" i="1" spc="100" dirty="0">
                <a:latin typeface="Calibri"/>
                <a:cs typeface="Calibri"/>
              </a:rPr>
              <a:t>R</a:t>
            </a:r>
            <a:r>
              <a:rPr sz="1200" spc="150" baseline="27777" dirty="0">
                <a:latin typeface="Cambria"/>
                <a:cs typeface="Cambria"/>
              </a:rPr>
              <a:t>∗</a:t>
            </a:r>
            <a:r>
              <a:rPr sz="1100" spc="100" dirty="0">
                <a:latin typeface="Tahoma"/>
                <a:cs typeface="Tahoma"/>
              </a:rPr>
              <a:t>)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where: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2528" y="2000516"/>
            <a:ext cx="50926" cy="5092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64908" y="1906793"/>
            <a:ext cx="774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15" dirty="0">
                <a:latin typeface="Cambria"/>
                <a:cs typeface="Cambria"/>
              </a:rPr>
              <a:t>∗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0034" y="1914746"/>
            <a:ext cx="302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155" dirty="0">
                <a:latin typeface="Calibri"/>
                <a:cs typeface="Calibri"/>
              </a:rPr>
              <a:t>S</a:t>
            </a:r>
            <a:r>
              <a:rPr sz="1000" i="1" spc="165" dirty="0">
                <a:latin typeface="Calibri"/>
                <a:cs typeface="Calibri"/>
              </a:rPr>
              <a:t> 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1557" y="1829160"/>
            <a:ext cx="12509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Calibri"/>
                <a:cs typeface="Calibri"/>
              </a:rPr>
              <a:t>δ</a:t>
            </a:r>
            <a:r>
              <a:rPr sz="1000" i="1" spc="45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80" dirty="0">
                <a:latin typeface="Tahoma"/>
                <a:cs typeface="Tahoma"/>
              </a:rPr>
              <a:t> </a:t>
            </a:r>
            <a:r>
              <a:rPr sz="1000" i="1" spc="60" dirty="0">
                <a:latin typeface="Calibri"/>
                <a:cs typeface="Calibri"/>
              </a:rPr>
              <a:t>γ</a:t>
            </a:r>
            <a:r>
              <a:rPr sz="1000" i="1" spc="70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80" dirty="0">
                <a:latin typeface="Tahoma"/>
                <a:cs typeface="Tahoma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µ</a:t>
            </a:r>
            <a:r>
              <a:rPr sz="1000" spc="-10" dirty="0">
                <a:latin typeface="Tahoma"/>
                <a:cs typeface="Tahoma"/>
              </a:rPr>
              <a:t>)(1</a:t>
            </a:r>
            <a:r>
              <a:rPr sz="1000" spc="-8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75" dirty="0">
                <a:latin typeface="Tahoma"/>
                <a:cs typeface="Tahoma"/>
              </a:rPr>
              <a:t> </a:t>
            </a:r>
            <a:r>
              <a:rPr sz="1000" i="1" spc="90" dirty="0">
                <a:latin typeface="Calibri"/>
                <a:cs typeface="Calibri"/>
              </a:rPr>
              <a:t>α</a:t>
            </a:r>
            <a:r>
              <a:rPr sz="1050" spc="135" baseline="27777" dirty="0">
                <a:latin typeface="Cambria"/>
                <a:cs typeface="Cambria"/>
              </a:rPr>
              <a:t>′</a:t>
            </a:r>
            <a:r>
              <a:rPr sz="1000" i="1" spc="90" dirty="0">
                <a:latin typeface="Calibri"/>
                <a:cs typeface="Calibri"/>
              </a:rPr>
              <a:t>I</a:t>
            </a:r>
            <a:r>
              <a:rPr sz="1050" spc="135" baseline="27777" dirty="0">
                <a:latin typeface="Cambria"/>
                <a:cs typeface="Cambria"/>
              </a:rPr>
              <a:t>∗</a:t>
            </a:r>
            <a:r>
              <a:rPr sz="1000" spc="9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19657" y="2022348"/>
            <a:ext cx="1174750" cy="0"/>
          </a:xfrm>
          <a:custGeom>
            <a:avLst/>
            <a:gdLst/>
            <a:ahLst/>
            <a:cxnLst/>
            <a:rect l="l" t="t" r="r" b="b"/>
            <a:pathLst>
              <a:path w="1174750">
                <a:moveTo>
                  <a:pt x="0" y="0"/>
                </a:moveTo>
                <a:lnTo>
                  <a:pt x="117441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55038" y="2001537"/>
            <a:ext cx="97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Calibri"/>
                <a:cs typeface="Calibri"/>
              </a:rPr>
              <a:t>β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2528" y="2305050"/>
            <a:ext cx="50926" cy="5092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54634" y="2219279"/>
            <a:ext cx="333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160" dirty="0">
                <a:latin typeface="Calibri"/>
                <a:cs typeface="Calibri"/>
              </a:rPr>
              <a:t>I</a:t>
            </a:r>
            <a:r>
              <a:rPr sz="1050" spc="240" baseline="27777" dirty="0">
                <a:latin typeface="Cambria"/>
                <a:cs typeface="Cambria"/>
              </a:rPr>
              <a:t>∗</a:t>
            </a:r>
            <a:r>
              <a:rPr sz="1050" spc="254" baseline="27777" dirty="0">
                <a:latin typeface="Cambria"/>
                <a:cs typeface="Cambria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50707" y="2133694"/>
            <a:ext cx="1549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(Λ</a:t>
            </a:r>
            <a:r>
              <a:rPr sz="1000" i="1" dirty="0">
                <a:latin typeface="Calibri"/>
                <a:cs typeface="Calibri"/>
              </a:rPr>
              <a:t>β</a:t>
            </a:r>
            <a:r>
              <a:rPr sz="1000" i="1" spc="90" dirty="0">
                <a:latin typeface="Calibri"/>
                <a:cs typeface="Calibri"/>
              </a:rPr>
              <a:t> </a:t>
            </a:r>
            <a:r>
              <a:rPr sz="1000" spc="220" dirty="0">
                <a:latin typeface="Cambria"/>
                <a:cs typeface="Cambria"/>
              </a:rPr>
              <a:t>−</a:t>
            </a:r>
            <a:r>
              <a:rPr sz="1000" spc="45" dirty="0">
                <a:latin typeface="Cambria"/>
                <a:cs typeface="Cambria"/>
              </a:rPr>
              <a:t> </a:t>
            </a:r>
            <a:r>
              <a:rPr sz="1000" i="1" dirty="0">
                <a:latin typeface="Calibri"/>
                <a:cs typeface="Calibri"/>
              </a:rPr>
              <a:t>µ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Calibri"/>
                <a:cs typeface="Calibri"/>
              </a:rPr>
              <a:t>δ</a:t>
            </a:r>
            <a:r>
              <a:rPr sz="1000" i="1" spc="75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i="1" spc="60" dirty="0">
                <a:latin typeface="Calibri"/>
                <a:cs typeface="Calibri"/>
              </a:rPr>
              <a:t>γ</a:t>
            </a:r>
            <a:r>
              <a:rPr sz="1000" i="1" spc="100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i="1" dirty="0">
                <a:latin typeface="Calibri"/>
                <a:cs typeface="Calibri"/>
              </a:rPr>
              <a:t>µ</a:t>
            </a:r>
            <a:r>
              <a:rPr sz="1000" dirty="0">
                <a:latin typeface="Tahoma"/>
                <a:cs typeface="Tahoma"/>
              </a:rPr>
              <a:t>))(</a:t>
            </a:r>
            <a:r>
              <a:rPr sz="1000" i="1" dirty="0">
                <a:latin typeface="Calibri"/>
                <a:cs typeface="Calibri"/>
              </a:rPr>
              <a:t>α</a:t>
            </a:r>
            <a:r>
              <a:rPr sz="1000" i="1" spc="35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Calibri"/>
                <a:cs typeface="Calibri"/>
              </a:rPr>
              <a:t>µ</a:t>
            </a:r>
            <a:r>
              <a:rPr sz="1000" spc="-25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00328" y="2326881"/>
            <a:ext cx="2849880" cy="0"/>
          </a:xfrm>
          <a:custGeom>
            <a:avLst/>
            <a:gdLst/>
            <a:ahLst/>
            <a:cxnLst/>
            <a:rect l="l" t="t" r="r" b="b"/>
            <a:pathLst>
              <a:path w="2849879">
                <a:moveTo>
                  <a:pt x="0" y="0"/>
                </a:moveTo>
                <a:lnTo>
                  <a:pt x="284975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2528" y="2609583"/>
            <a:ext cx="50926" cy="5092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79513" y="2515860"/>
            <a:ext cx="774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15" dirty="0">
                <a:latin typeface="Cambria"/>
                <a:cs typeface="Cambria"/>
              </a:rPr>
              <a:t>∗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0034" y="2523825"/>
            <a:ext cx="3168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180" dirty="0">
                <a:latin typeface="Calibri"/>
                <a:cs typeface="Calibri"/>
              </a:rPr>
              <a:t>C</a:t>
            </a:r>
            <a:r>
              <a:rPr sz="1000" i="1" spc="175" dirty="0">
                <a:latin typeface="Calibri"/>
                <a:cs typeface="Calibri"/>
              </a:rPr>
              <a:t> 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2228" y="2306071"/>
            <a:ext cx="2926080" cy="3098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5095" marR="30480" indent="-87630">
              <a:lnSpc>
                <a:spcPts val="1040"/>
              </a:lnSpc>
              <a:spcBef>
                <a:spcPts val="265"/>
              </a:spcBef>
            </a:pPr>
            <a:r>
              <a:rPr sz="1000" i="1" dirty="0">
                <a:latin typeface="Calibri"/>
                <a:cs typeface="Calibri"/>
              </a:rPr>
              <a:t>β</a:t>
            </a:r>
            <a:r>
              <a:rPr sz="1000" dirty="0">
                <a:latin typeface="Tahoma"/>
                <a:cs typeface="Tahoma"/>
              </a:rPr>
              <a:t>[(</a:t>
            </a:r>
            <a:r>
              <a:rPr sz="1000" i="1" dirty="0">
                <a:latin typeface="Calibri"/>
                <a:cs typeface="Calibri"/>
              </a:rPr>
              <a:t>α</a:t>
            </a:r>
            <a:r>
              <a:rPr sz="1000" i="1" spc="20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i="1" dirty="0">
                <a:latin typeface="Calibri"/>
                <a:cs typeface="Calibri"/>
              </a:rPr>
              <a:t>µ</a:t>
            </a:r>
            <a:r>
              <a:rPr sz="1000" dirty="0">
                <a:latin typeface="Tahoma"/>
                <a:cs typeface="Tahoma"/>
              </a:rPr>
              <a:t>)(</a:t>
            </a:r>
            <a:r>
              <a:rPr sz="1000" i="1" dirty="0">
                <a:latin typeface="Calibri"/>
                <a:cs typeface="Calibri"/>
              </a:rPr>
              <a:t>δ</a:t>
            </a:r>
            <a:r>
              <a:rPr sz="1000" i="1" spc="60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i="1" spc="60" dirty="0">
                <a:latin typeface="Calibri"/>
                <a:cs typeface="Calibri"/>
              </a:rPr>
              <a:t>γ</a:t>
            </a:r>
            <a:r>
              <a:rPr sz="1000" i="1" spc="80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i="1" dirty="0">
                <a:latin typeface="Calibri"/>
                <a:cs typeface="Calibri"/>
              </a:rPr>
              <a:t>µ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220" dirty="0">
                <a:latin typeface="Cambria"/>
                <a:cs typeface="Cambria"/>
              </a:rPr>
              <a:t>−</a:t>
            </a:r>
            <a:r>
              <a:rPr sz="1000" spc="25" dirty="0">
                <a:latin typeface="Cambria"/>
                <a:cs typeface="Cambria"/>
              </a:rPr>
              <a:t> </a:t>
            </a:r>
            <a:r>
              <a:rPr sz="1000" i="1" spc="-35" dirty="0">
                <a:latin typeface="Calibri"/>
                <a:cs typeface="Calibri"/>
              </a:rPr>
              <a:t>αδ</a:t>
            </a:r>
            <a:r>
              <a:rPr sz="1000" spc="-35" dirty="0">
                <a:latin typeface="Tahoma"/>
                <a:cs typeface="Tahoma"/>
              </a:rPr>
              <a:t>]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i="1" spc="60" dirty="0">
                <a:latin typeface="Calibri"/>
                <a:cs typeface="Calibri"/>
              </a:rPr>
              <a:t>α</a:t>
            </a:r>
            <a:r>
              <a:rPr sz="1050" spc="89" baseline="23809" dirty="0">
                <a:latin typeface="Cambria"/>
                <a:cs typeface="Cambria"/>
              </a:rPr>
              <a:t>′</a:t>
            </a:r>
            <a:r>
              <a:rPr sz="1000" i="1" spc="60" dirty="0">
                <a:latin typeface="Calibri"/>
                <a:cs typeface="Calibri"/>
              </a:rPr>
              <a:t>µ</a:t>
            </a:r>
            <a:r>
              <a:rPr sz="1000" spc="60" dirty="0">
                <a:latin typeface="Tahoma"/>
                <a:cs typeface="Tahoma"/>
              </a:rPr>
              <a:t>(</a:t>
            </a:r>
            <a:r>
              <a:rPr sz="1000" i="1" spc="60" dirty="0">
                <a:latin typeface="Calibri"/>
                <a:cs typeface="Calibri"/>
              </a:rPr>
              <a:t>α</a:t>
            </a:r>
            <a:r>
              <a:rPr sz="1000" i="1" spc="20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i="1" dirty="0">
                <a:latin typeface="Calibri"/>
                <a:cs typeface="Calibri"/>
              </a:rPr>
              <a:t>µ</a:t>
            </a:r>
            <a:r>
              <a:rPr sz="1000" dirty="0">
                <a:latin typeface="Tahoma"/>
                <a:cs typeface="Tahoma"/>
              </a:rPr>
              <a:t>)(</a:t>
            </a:r>
            <a:r>
              <a:rPr sz="1000" i="1" dirty="0">
                <a:latin typeface="Calibri"/>
                <a:cs typeface="Calibri"/>
              </a:rPr>
              <a:t>γ</a:t>
            </a:r>
            <a:r>
              <a:rPr sz="1000" i="1" spc="85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i="1" dirty="0">
                <a:latin typeface="Calibri"/>
                <a:cs typeface="Calibri"/>
              </a:rPr>
              <a:t>δ</a:t>
            </a:r>
            <a:r>
              <a:rPr sz="1000" i="1" spc="60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Calibri"/>
                <a:cs typeface="Calibri"/>
              </a:rPr>
              <a:t>µ</a:t>
            </a:r>
            <a:r>
              <a:rPr sz="1000" spc="-25" dirty="0">
                <a:latin typeface="Tahoma"/>
                <a:cs typeface="Tahoma"/>
              </a:rPr>
              <a:t>) </a:t>
            </a:r>
            <a:r>
              <a:rPr sz="1000" i="1" spc="65" dirty="0">
                <a:latin typeface="Calibri"/>
                <a:cs typeface="Calibri"/>
              </a:rPr>
              <a:t>δI</a:t>
            </a:r>
            <a:r>
              <a:rPr sz="1050" spc="97" baseline="27777" dirty="0">
                <a:latin typeface="Cambria"/>
                <a:cs typeface="Cambria"/>
              </a:rPr>
              <a:t>∗</a:t>
            </a:r>
            <a:endParaRPr sz="1050" baseline="27777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34262" y="2631414"/>
            <a:ext cx="292100" cy="0"/>
          </a:xfrm>
          <a:custGeom>
            <a:avLst/>
            <a:gdLst/>
            <a:ahLst/>
            <a:cxnLst/>
            <a:rect l="l" t="t" r="r" b="b"/>
            <a:pathLst>
              <a:path w="292100">
                <a:moveTo>
                  <a:pt x="0" y="0"/>
                </a:moveTo>
                <a:lnTo>
                  <a:pt x="29204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96162" y="2610604"/>
            <a:ext cx="368300" cy="3016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93345" marR="30480" indent="-55880">
              <a:lnSpc>
                <a:spcPts val="980"/>
              </a:lnSpc>
              <a:spcBef>
                <a:spcPts val="310"/>
              </a:spcBef>
            </a:pPr>
            <a:r>
              <a:rPr sz="1000" i="1" spc="60" dirty="0">
                <a:latin typeface="Calibri"/>
                <a:cs typeface="Calibri"/>
              </a:rPr>
              <a:t>ξ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75" dirty="0">
                <a:latin typeface="Tahoma"/>
                <a:cs typeface="Tahoma"/>
              </a:rPr>
              <a:t> </a:t>
            </a:r>
            <a:r>
              <a:rPr sz="1000" i="1" spc="5" dirty="0">
                <a:latin typeface="Calibri"/>
                <a:cs typeface="Calibri"/>
              </a:rPr>
              <a:t>µ </a:t>
            </a:r>
            <a:r>
              <a:rPr sz="1000" i="1" spc="120" dirty="0">
                <a:latin typeface="Calibri"/>
                <a:cs typeface="Calibri"/>
              </a:rPr>
              <a:t>γI</a:t>
            </a:r>
            <a:r>
              <a:rPr sz="1050" spc="179" baseline="27777" dirty="0">
                <a:latin typeface="Cambria"/>
                <a:cs typeface="Cambria"/>
              </a:rPr>
              <a:t>∗</a:t>
            </a:r>
            <a:endParaRPr sz="1050" baseline="27777">
              <a:latin typeface="Cambria"/>
              <a:cs typeface="Cambri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2528" y="2906357"/>
            <a:ext cx="50926" cy="5092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77074" y="2812620"/>
            <a:ext cx="774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15" dirty="0">
                <a:latin typeface="Cambria"/>
                <a:cs typeface="Cambria"/>
              </a:rPr>
              <a:t>∗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0034" y="2820586"/>
            <a:ext cx="314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215" dirty="0">
                <a:latin typeface="Calibri"/>
                <a:cs typeface="Calibri"/>
              </a:rPr>
              <a:t>R</a:t>
            </a:r>
            <a:r>
              <a:rPr sz="1000" i="1" spc="140" dirty="0">
                <a:latin typeface="Calibri"/>
                <a:cs typeface="Calibri"/>
              </a:rPr>
              <a:t> 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31824" y="2928175"/>
            <a:ext cx="312420" cy="0"/>
          </a:xfrm>
          <a:custGeom>
            <a:avLst/>
            <a:gdLst/>
            <a:ahLst/>
            <a:cxnLst/>
            <a:rect l="l" t="t" r="r" b="b"/>
            <a:pathLst>
              <a:path w="312419">
                <a:moveTo>
                  <a:pt x="0" y="0"/>
                </a:moveTo>
                <a:lnTo>
                  <a:pt x="31228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019124" y="2907378"/>
            <a:ext cx="337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70" dirty="0">
                <a:latin typeface="Calibri"/>
                <a:cs typeface="Calibri"/>
              </a:rPr>
              <a:t>α</a:t>
            </a:r>
            <a:r>
              <a:rPr sz="1000" i="1" spc="15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i="1" spc="5" dirty="0">
                <a:latin typeface="Calibri"/>
                <a:cs typeface="Calibri"/>
              </a:rPr>
              <a:t>µ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29" name="object 29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9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Stability</a:t>
            </a:r>
            <a:r>
              <a:rPr spc="225" dirty="0"/>
              <a:t> </a:t>
            </a:r>
            <a:r>
              <a:rPr dirty="0"/>
              <a:t>Analysis:</a:t>
            </a:r>
            <a:r>
              <a:rPr spc="415" dirty="0"/>
              <a:t> </a:t>
            </a:r>
            <a:r>
              <a:rPr dirty="0"/>
              <a:t>Disease-Free</a:t>
            </a:r>
            <a:r>
              <a:rPr spc="215" dirty="0"/>
              <a:t> </a:t>
            </a:r>
            <a:r>
              <a:rPr spc="-10" dirty="0"/>
              <a:t>Equilibrium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46" y="1235316"/>
            <a:ext cx="63220" cy="632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528" y="1424749"/>
            <a:ext cx="50926" cy="509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2528" y="1576578"/>
            <a:ext cx="50926" cy="509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2528" y="1728406"/>
            <a:ext cx="50926" cy="5092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2528" y="1880235"/>
            <a:ext cx="50926" cy="509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Times New Roman"/>
                <a:cs typeface="Times New Roman"/>
              </a:rPr>
              <a:t>Jacobian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matrix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eigenvalues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spc="80" dirty="0">
                <a:latin typeface="Times New Roman"/>
                <a:cs typeface="Times New Roman"/>
              </a:rPr>
              <a:t>at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i="1" spc="85" dirty="0">
                <a:latin typeface="Calibri"/>
                <a:cs typeface="Calibri"/>
              </a:rPr>
              <a:t>E</a:t>
            </a:r>
            <a:r>
              <a:rPr sz="1200" spc="127" baseline="-10416" dirty="0">
                <a:latin typeface="Calibri"/>
                <a:cs typeface="Calibri"/>
              </a:rPr>
              <a:t>0</a:t>
            </a:r>
            <a:r>
              <a:rPr sz="1100" spc="85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i="1" spc="55" dirty="0">
                <a:latin typeface="Calibri"/>
                <a:cs typeface="Calibri"/>
              </a:rPr>
              <a:t>λ</a:t>
            </a:r>
            <a:r>
              <a:rPr sz="1050" spc="82" baseline="-11904" dirty="0">
                <a:latin typeface="Roboto"/>
                <a:cs typeface="Roboto"/>
              </a:rPr>
              <a:t>1</a:t>
            </a:r>
            <a:r>
              <a:rPr sz="1050" spc="247" baseline="-11904" dirty="0">
                <a:latin typeface="Roboto"/>
                <a:cs typeface="Roboto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135" dirty="0">
                <a:latin typeface="Cambria"/>
                <a:cs typeface="Cambria"/>
              </a:rPr>
              <a:t>−</a:t>
            </a:r>
            <a:r>
              <a:rPr sz="1000" i="1" spc="135" dirty="0">
                <a:latin typeface="Calibri"/>
                <a:cs typeface="Calibri"/>
              </a:rPr>
              <a:t>µ</a:t>
            </a:r>
            <a:r>
              <a:rPr sz="1000" i="1" spc="65" dirty="0">
                <a:latin typeface="Calibri"/>
                <a:cs typeface="Calibri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&lt;</a:t>
            </a:r>
            <a:r>
              <a:rPr sz="1000" i="1" spc="60" dirty="0">
                <a:latin typeface="Calibri"/>
                <a:cs typeface="Calibri"/>
              </a:rPr>
              <a:t> </a:t>
            </a:r>
            <a:r>
              <a:rPr sz="1000" spc="-50" dirty="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289560" marR="2328545">
              <a:lnSpc>
                <a:spcPts val="1200"/>
              </a:lnSpc>
              <a:spcBef>
                <a:spcPts val="40"/>
              </a:spcBef>
            </a:pPr>
            <a:r>
              <a:rPr sz="1000" i="1" spc="55" dirty="0">
                <a:latin typeface="Calibri"/>
                <a:cs typeface="Calibri"/>
              </a:rPr>
              <a:t>λ</a:t>
            </a:r>
            <a:r>
              <a:rPr sz="1050" spc="82" baseline="-11904" dirty="0">
                <a:latin typeface="Roboto"/>
                <a:cs typeface="Roboto"/>
              </a:rPr>
              <a:t>2</a:t>
            </a:r>
            <a:r>
              <a:rPr sz="1050" spc="240" baseline="-11904" dirty="0">
                <a:latin typeface="Roboto"/>
                <a:cs typeface="Roboto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spc="85" dirty="0">
                <a:latin typeface="Calibri"/>
                <a:cs typeface="Calibri"/>
              </a:rPr>
              <a:t>β</a:t>
            </a:r>
            <a:r>
              <a:rPr sz="1000" spc="85" dirty="0">
                <a:latin typeface="Tahoma"/>
                <a:cs typeface="Tahoma"/>
              </a:rPr>
              <a:t>Λ</a:t>
            </a:r>
            <a:r>
              <a:rPr sz="1000" i="1" spc="85" dirty="0">
                <a:latin typeface="Calibri"/>
                <a:cs typeface="Calibri"/>
              </a:rPr>
              <a:t>/µ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spc="220" dirty="0">
                <a:latin typeface="Cambria"/>
                <a:cs typeface="Cambria"/>
              </a:rPr>
              <a:t>−</a:t>
            </a:r>
            <a:r>
              <a:rPr sz="1000" spc="10" dirty="0">
                <a:latin typeface="Cambria"/>
                <a:cs typeface="Cambria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Calibri"/>
                <a:cs typeface="Calibri"/>
              </a:rPr>
              <a:t>δ</a:t>
            </a:r>
            <a:r>
              <a:rPr sz="1000" i="1" spc="40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0" dirty="0">
                <a:latin typeface="Tahoma"/>
                <a:cs typeface="Tahoma"/>
              </a:rPr>
              <a:t> </a:t>
            </a:r>
            <a:r>
              <a:rPr sz="1000" i="1" spc="60" dirty="0">
                <a:latin typeface="Calibri"/>
                <a:cs typeface="Calibri"/>
              </a:rPr>
              <a:t>γ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8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Calibri"/>
                <a:cs typeface="Calibri"/>
              </a:rPr>
              <a:t>µ</a:t>
            </a:r>
            <a:r>
              <a:rPr sz="1000" spc="-25" dirty="0">
                <a:latin typeface="Tahoma"/>
                <a:cs typeface="Tahoma"/>
              </a:rPr>
              <a:t>) </a:t>
            </a:r>
            <a:r>
              <a:rPr sz="1000" i="1" spc="55" dirty="0">
                <a:latin typeface="Calibri"/>
                <a:cs typeface="Calibri"/>
              </a:rPr>
              <a:t>λ</a:t>
            </a:r>
            <a:r>
              <a:rPr sz="1050" spc="82" baseline="-11904" dirty="0">
                <a:latin typeface="Roboto"/>
                <a:cs typeface="Roboto"/>
              </a:rPr>
              <a:t>3</a:t>
            </a:r>
            <a:r>
              <a:rPr sz="1050" spc="262" baseline="-11904" dirty="0">
                <a:latin typeface="Roboto"/>
                <a:cs typeface="Roboto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90" dirty="0">
                <a:latin typeface="Cambria"/>
                <a:cs typeface="Cambria"/>
              </a:rPr>
              <a:t>−</a:t>
            </a:r>
            <a:r>
              <a:rPr sz="1000" spc="90" dirty="0">
                <a:latin typeface="Tahoma"/>
                <a:cs typeface="Tahoma"/>
              </a:rPr>
              <a:t>(</a:t>
            </a:r>
            <a:r>
              <a:rPr sz="1000" i="1" spc="90" dirty="0">
                <a:latin typeface="Calibri"/>
                <a:cs typeface="Calibri"/>
              </a:rPr>
              <a:t>ξ</a:t>
            </a:r>
            <a:r>
              <a:rPr sz="1000" i="1" spc="60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75" dirty="0">
                <a:latin typeface="Tahoma"/>
                <a:cs typeface="Tahoma"/>
              </a:rPr>
              <a:t> </a:t>
            </a:r>
            <a:r>
              <a:rPr sz="1000" i="1" dirty="0">
                <a:latin typeface="Calibri"/>
                <a:cs typeface="Calibri"/>
              </a:rPr>
              <a:t>µ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&lt;</a:t>
            </a:r>
            <a:r>
              <a:rPr sz="1000" i="1" spc="80" dirty="0">
                <a:latin typeface="Calibri"/>
                <a:cs typeface="Calibri"/>
              </a:rPr>
              <a:t> </a:t>
            </a:r>
            <a:r>
              <a:rPr sz="1000" spc="-50" dirty="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i="1" spc="55" dirty="0">
                <a:latin typeface="Calibri"/>
                <a:cs typeface="Calibri"/>
              </a:rPr>
              <a:t>λ</a:t>
            </a:r>
            <a:r>
              <a:rPr sz="1050" spc="82" baseline="-11904" dirty="0">
                <a:latin typeface="Roboto"/>
                <a:cs typeface="Roboto"/>
              </a:rPr>
              <a:t>4</a:t>
            </a:r>
            <a:r>
              <a:rPr sz="1050" spc="270" baseline="-11904" dirty="0">
                <a:latin typeface="Roboto"/>
                <a:cs typeface="Roboto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95" dirty="0">
                <a:latin typeface="Cambria"/>
                <a:cs typeface="Cambria"/>
              </a:rPr>
              <a:t>−</a:t>
            </a:r>
            <a:r>
              <a:rPr sz="1000" spc="95" dirty="0">
                <a:latin typeface="Tahoma"/>
                <a:cs typeface="Tahoma"/>
              </a:rPr>
              <a:t>(</a:t>
            </a:r>
            <a:r>
              <a:rPr sz="1000" i="1" spc="95" dirty="0">
                <a:latin typeface="Calibri"/>
                <a:cs typeface="Calibri"/>
              </a:rPr>
              <a:t>α</a:t>
            </a:r>
            <a:r>
              <a:rPr sz="1000" i="1" spc="15" dirty="0">
                <a:latin typeface="Calibri"/>
                <a:cs typeface="Calibri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75" dirty="0">
                <a:latin typeface="Tahoma"/>
                <a:cs typeface="Tahoma"/>
              </a:rPr>
              <a:t> </a:t>
            </a:r>
            <a:r>
              <a:rPr sz="1000" i="1" dirty="0">
                <a:latin typeface="Calibri"/>
                <a:cs typeface="Calibri"/>
              </a:rPr>
              <a:t>µ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&lt;</a:t>
            </a:r>
            <a:r>
              <a:rPr sz="1000" i="1" spc="75" dirty="0">
                <a:latin typeface="Calibri"/>
                <a:cs typeface="Calibri"/>
              </a:rPr>
              <a:t> </a:t>
            </a:r>
            <a:r>
              <a:rPr sz="1000" spc="-50" dirty="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307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&lt;</a:t>
            </a:r>
            <a:r>
              <a:rPr sz="1100" i="1" spc="9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eigenvalues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negative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130" dirty="0">
                <a:latin typeface="Cambria"/>
                <a:cs typeface="Cambria"/>
              </a:rPr>
              <a:t>⇒</a:t>
            </a:r>
            <a:r>
              <a:rPr sz="1100" spc="150" dirty="0">
                <a:latin typeface="Cambria"/>
                <a:cs typeface="Cambria"/>
              </a:rPr>
              <a:t> </a:t>
            </a:r>
            <a:r>
              <a:rPr sz="1100" i="1" spc="140" dirty="0">
                <a:latin typeface="Calibri"/>
                <a:cs typeface="Calibri"/>
              </a:rPr>
              <a:t>E</a:t>
            </a:r>
            <a:r>
              <a:rPr sz="1200" spc="209" baseline="-10416" dirty="0">
                <a:latin typeface="Calibri"/>
                <a:cs typeface="Calibri"/>
              </a:rPr>
              <a:t>0</a:t>
            </a:r>
            <a:r>
              <a:rPr sz="1200" spc="405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locally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stable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46" y="2077974"/>
            <a:ext cx="63220" cy="6322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12" name="object 12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10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9238" y="325685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59620" y="3252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37423" y="3252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236569" y="3244007"/>
            <a:ext cx="203200" cy="55880"/>
            <a:chOff x="3236569" y="3244007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299738" y="324653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36569" y="3252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13518" y="3252888"/>
            <a:ext cx="203200" cy="38100"/>
            <a:chOff x="3513518" y="3252888"/>
            <a:chExt cx="203200" cy="38100"/>
          </a:xfrm>
        </p:grpSpPr>
        <p:sp>
          <p:nvSpPr>
            <p:cNvPr id="9" name="object 9"/>
            <p:cNvSpPr/>
            <p:nvPr/>
          </p:nvSpPr>
          <p:spPr>
            <a:xfrm>
              <a:off x="3602419" y="325923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13518" y="3252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02419" y="327193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790455" y="3242742"/>
            <a:ext cx="203200" cy="48260"/>
            <a:chOff x="3790455" y="3242742"/>
            <a:chExt cx="203200" cy="48260"/>
          </a:xfrm>
        </p:grpSpPr>
        <p:sp>
          <p:nvSpPr>
            <p:cNvPr id="13" name="object 13"/>
            <p:cNvSpPr/>
            <p:nvPr/>
          </p:nvSpPr>
          <p:spPr>
            <a:xfrm>
              <a:off x="3866655" y="3246538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0" y="127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90455" y="3252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4143604" y="3246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326582" y="3244007"/>
            <a:ext cx="238760" cy="57150"/>
            <a:chOff x="4326582" y="3244007"/>
            <a:chExt cx="238760" cy="57150"/>
          </a:xfrm>
        </p:grpSpPr>
        <p:sp>
          <p:nvSpPr>
            <p:cNvPr id="17" name="object 17"/>
            <p:cNvSpPr/>
            <p:nvPr/>
          </p:nvSpPr>
          <p:spPr>
            <a:xfrm>
              <a:off x="4451033" y="3277018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23969" y="32505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29112" y="324653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Time</a:t>
            </a:r>
            <a:r>
              <a:rPr spc="130" dirty="0"/>
              <a:t> </a:t>
            </a:r>
            <a:r>
              <a:rPr dirty="0"/>
              <a:t>Series</a:t>
            </a:r>
            <a:r>
              <a:rPr spc="140" dirty="0"/>
              <a:t> </a:t>
            </a:r>
            <a:r>
              <a:rPr dirty="0"/>
              <a:t>for</a:t>
            </a:r>
            <a:r>
              <a:rPr spc="135" dirty="0"/>
              <a:t> </a:t>
            </a:r>
            <a:r>
              <a:rPr dirty="0"/>
              <a:t>Disease-Free</a:t>
            </a:r>
            <a:r>
              <a:rPr spc="130" dirty="0"/>
              <a:t> </a:t>
            </a:r>
            <a:r>
              <a:rPr spc="-10" dirty="0"/>
              <a:t>Equilibrium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1116380" y="643434"/>
            <a:ext cx="1076960" cy="870585"/>
            <a:chOff x="1116380" y="643434"/>
            <a:chExt cx="1076960" cy="870585"/>
          </a:xfrm>
        </p:grpSpPr>
        <p:sp>
          <p:nvSpPr>
            <p:cNvPr id="23" name="object 23"/>
            <p:cNvSpPr/>
            <p:nvPr/>
          </p:nvSpPr>
          <p:spPr>
            <a:xfrm>
              <a:off x="1117968" y="645022"/>
              <a:ext cx="1073785" cy="867410"/>
            </a:xfrm>
            <a:custGeom>
              <a:avLst/>
              <a:gdLst/>
              <a:ahLst/>
              <a:cxnLst/>
              <a:rect l="l" t="t" r="r" b="b"/>
              <a:pathLst>
                <a:path w="1073785" h="867410">
                  <a:moveTo>
                    <a:pt x="0" y="867222"/>
                  </a:moveTo>
                  <a:lnTo>
                    <a:pt x="0" y="0"/>
                  </a:lnTo>
                </a:path>
                <a:path w="1073785" h="867410">
                  <a:moveTo>
                    <a:pt x="214703" y="867222"/>
                  </a:moveTo>
                  <a:lnTo>
                    <a:pt x="214703" y="0"/>
                  </a:lnTo>
                </a:path>
                <a:path w="1073785" h="867410">
                  <a:moveTo>
                    <a:pt x="429408" y="867222"/>
                  </a:moveTo>
                  <a:lnTo>
                    <a:pt x="429408" y="0"/>
                  </a:lnTo>
                </a:path>
                <a:path w="1073785" h="867410">
                  <a:moveTo>
                    <a:pt x="644112" y="867222"/>
                  </a:moveTo>
                  <a:lnTo>
                    <a:pt x="644112" y="0"/>
                  </a:lnTo>
                </a:path>
                <a:path w="1073785" h="867410">
                  <a:moveTo>
                    <a:pt x="858817" y="867222"/>
                  </a:moveTo>
                  <a:lnTo>
                    <a:pt x="858817" y="0"/>
                  </a:lnTo>
                </a:path>
                <a:path w="1073785" h="867410">
                  <a:moveTo>
                    <a:pt x="1073521" y="867222"/>
                  </a:moveTo>
                  <a:lnTo>
                    <a:pt x="1073521" y="0"/>
                  </a:lnTo>
                </a:path>
                <a:path w="1073785" h="867410">
                  <a:moveTo>
                    <a:pt x="1073521" y="867222"/>
                  </a:moveTo>
                  <a:lnTo>
                    <a:pt x="0" y="867222"/>
                  </a:lnTo>
                </a:path>
                <a:path w="1073785" h="867410">
                  <a:moveTo>
                    <a:pt x="1073521" y="722685"/>
                  </a:moveTo>
                  <a:lnTo>
                    <a:pt x="0" y="722685"/>
                  </a:lnTo>
                </a:path>
                <a:path w="1073785" h="867410">
                  <a:moveTo>
                    <a:pt x="1073521" y="578148"/>
                  </a:moveTo>
                  <a:lnTo>
                    <a:pt x="0" y="578148"/>
                  </a:lnTo>
                </a:path>
                <a:path w="1073785" h="867410">
                  <a:moveTo>
                    <a:pt x="1073521" y="433611"/>
                  </a:moveTo>
                  <a:lnTo>
                    <a:pt x="0" y="433611"/>
                  </a:lnTo>
                </a:path>
                <a:path w="1073785" h="867410">
                  <a:moveTo>
                    <a:pt x="1073521" y="289074"/>
                  </a:moveTo>
                  <a:lnTo>
                    <a:pt x="0" y="289074"/>
                  </a:lnTo>
                </a:path>
                <a:path w="1073785" h="867410">
                  <a:moveTo>
                    <a:pt x="1073521" y="144537"/>
                  </a:moveTo>
                  <a:lnTo>
                    <a:pt x="0" y="144537"/>
                  </a:lnTo>
                </a:path>
                <a:path w="1073785" h="867410">
                  <a:moveTo>
                    <a:pt x="107352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17968" y="645022"/>
              <a:ext cx="1073785" cy="867410"/>
            </a:xfrm>
            <a:custGeom>
              <a:avLst/>
              <a:gdLst/>
              <a:ahLst/>
              <a:cxnLst/>
              <a:rect l="l" t="t" r="r" b="b"/>
              <a:pathLst>
                <a:path w="1073785" h="867410">
                  <a:moveTo>
                    <a:pt x="0" y="867222"/>
                  </a:moveTo>
                  <a:lnTo>
                    <a:pt x="1073521" y="867222"/>
                  </a:lnTo>
                </a:path>
                <a:path w="1073785" h="867410">
                  <a:moveTo>
                    <a:pt x="0" y="0"/>
                  </a:moveTo>
                  <a:lnTo>
                    <a:pt x="1073521" y="0"/>
                  </a:lnTo>
                </a:path>
                <a:path w="1073785" h="867410">
                  <a:moveTo>
                    <a:pt x="0" y="867222"/>
                  </a:moveTo>
                  <a:lnTo>
                    <a:pt x="0" y="856488"/>
                  </a:lnTo>
                </a:path>
                <a:path w="1073785" h="867410">
                  <a:moveTo>
                    <a:pt x="214703" y="867222"/>
                  </a:moveTo>
                  <a:lnTo>
                    <a:pt x="214703" y="856488"/>
                  </a:lnTo>
                </a:path>
                <a:path w="1073785" h="867410">
                  <a:moveTo>
                    <a:pt x="429408" y="867222"/>
                  </a:moveTo>
                  <a:lnTo>
                    <a:pt x="429408" y="856488"/>
                  </a:lnTo>
                </a:path>
                <a:path w="1073785" h="867410">
                  <a:moveTo>
                    <a:pt x="644112" y="867222"/>
                  </a:moveTo>
                  <a:lnTo>
                    <a:pt x="644112" y="856488"/>
                  </a:lnTo>
                </a:path>
                <a:path w="1073785" h="867410">
                  <a:moveTo>
                    <a:pt x="858817" y="867222"/>
                  </a:moveTo>
                  <a:lnTo>
                    <a:pt x="858817" y="856488"/>
                  </a:lnTo>
                </a:path>
                <a:path w="1073785" h="867410">
                  <a:moveTo>
                    <a:pt x="1073521" y="867222"/>
                  </a:moveTo>
                  <a:lnTo>
                    <a:pt x="1073521" y="856488"/>
                  </a:lnTo>
                </a:path>
                <a:path w="1073785" h="867410">
                  <a:moveTo>
                    <a:pt x="0" y="0"/>
                  </a:moveTo>
                  <a:lnTo>
                    <a:pt x="0" y="10734"/>
                  </a:lnTo>
                </a:path>
                <a:path w="1073785" h="867410">
                  <a:moveTo>
                    <a:pt x="214703" y="0"/>
                  </a:moveTo>
                  <a:lnTo>
                    <a:pt x="214703" y="10734"/>
                  </a:lnTo>
                </a:path>
                <a:path w="1073785" h="867410">
                  <a:moveTo>
                    <a:pt x="429408" y="0"/>
                  </a:moveTo>
                  <a:lnTo>
                    <a:pt x="429408" y="10734"/>
                  </a:lnTo>
                </a:path>
                <a:path w="1073785" h="867410">
                  <a:moveTo>
                    <a:pt x="644112" y="0"/>
                  </a:moveTo>
                  <a:lnTo>
                    <a:pt x="644112" y="10734"/>
                  </a:lnTo>
                </a:path>
                <a:path w="1073785" h="867410">
                  <a:moveTo>
                    <a:pt x="858817" y="0"/>
                  </a:moveTo>
                  <a:lnTo>
                    <a:pt x="858817" y="10734"/>
                  </a:lnTo>
                </a:path>
                <a:path w="1073785" h="867410">
                  <a:moveTo>
                    <a:pt x="1073521" y="0"/>
                  </a:moveTo>
                  <a:lnTo>
                    <a:pt x="1073521" y="10734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88074" y="1517372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68396" y="1509269"/>
            <a:ext cx="758190" cy="17653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100</a:t>
            </a:r>
            <a:r>
              <a:rPr sz="400" spc="395" dirty="0">
                <a:solidFill>
                  <a:srgbClr val="252525"/>
                </a:solidFill>
                <a:latin typeface="Arial MT"/>
                <a:cs typeface="Arial MT"/>
              </a:rPr>
              <a:t>  </a:t>
            </a: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200</a:t>
            </a:r>
            <a:r>
              <a:rPr sz="400" spc="400" dirty="0">
                <a:solidFill>
                  <a:srgbClr val="252525"/>
                </a:solidFill>
                <a:latin typeface="Arial MT"/>
                <a:cs typeface="Arial MT"/>
              </a:rPr>
              <a:t>  </a:t>
            </a: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300</a:t>
            </a:r>
            <a:r>
              <a:rPr sz="400" spc="400" dirty="0">
                <a:solidFill>
                  <a:srgbClr val="252525"/>
                </a:solidFill>
                <a:latin typeface="Arial MT"/>
                <a:cs typeface="Arial MT"/>
              </a:rPr>
              <a:t>  </a:t>
            </a: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400</a:t>
            </a:r>
            <a:endParaRPr sz="400">
              <a:latin typeface="Arial MT"/>
              <a:cs typeface="Arial MT"/>
            </a:endParaRPr>
          </a:p>
          <a:p>
            <a:pPr marL="200660">
              <a:lnSpc>
                <a:spcPct val="100000"/>
              </a:lnSpc>
              <a:spcBef>
                <a:spcPts val="85"/>
              </a:spcBef>
            </a:pP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Time</a:t>
            </a:r>
            <a:r>
              <a:rPr sz="45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50" spc="-10" dirty="0">
                <a:solidFill>
                  <a:srgbClr val="252525"/>
                </a:solidFill>
                <a:latin typeface="Arial MT"/>
                <a:cs typeface="Arial MT"/>
              </a:rPr>
              <a:t>(years)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27216" y="1517372"/>
            <a:ext cx="114300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500</a:t>
            </a:r>
            <a:endParaRPr sz="4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12661" y="643696"/>
            <a:ext cx="1084580" cy="869950"/>
            <a:chOff x="1112661" y="643696"/>
            <a:chExt cx="1084580" cy="869950"/>
          </a:xfrm>
        </p:grpSpPr>
        <p:sp>
          <p:nvSpPr>
            <p:cNvPr id="29" name="object 29"/>
            <p:cNvSpPr/>
            <p:nvPr/>
          </p:nvSpPr>
          <p:spPr>
            <a:xfrm>
              <a:off x="1117968" y="645022"/>
              <a:ext cx="1073785" cy="867410"/>
            </a:xfrm>
            <a:custGeom>
              <a:avLst/>
              <a:gdLst/>
              <a:ahLst/>
              <a:cxnLst/>
              <a:rect l="l" t="t" r="r" b="b"/>
              <a:pathLst>
                <a:path w="1073785" h="867410">
                  <a:moveTo>
                    <a:pt x="0" y="867222"/>
                  </a:moveTo>
                  <a:lnTo>
                    <a:pt x="0" y="0"/>
                  </a:lnTo>
                </a:path>
                <a:path w="1073785" h="867410">
                  <a:moveTo>
                    <a:pt x="1073521" y="867222"/>
                  </a:moveTo>
                  <a:lnTo>
                    <a:pt x="1073521" y="0"/>
                  </a:lnTo>
                </a:path>
                <a:path w="1073785" h="867410">
                  <a:moveTo>
                    <a:pt x="0" y="867222"/>
                  </a:moveTo>
                  <a:lnTo>
                    <a:pt x="10734" y="867222"/>
                  </a:lnTo>
                </a:path>
                <a:path w="1073785" h="867410">
                  <a:moveTo>
                    <a:pt x="0" y="722685"/>
                  </a:moveTo>
                  <a:lnTo>
                    <a:pt x="10734" y="722685"/>
                  </a:lnTo>
                </a:path>
                <a:path w="1073785" h="867410">
                  <a:moveTo>
                    <a:pt x="0" y="578148"/>
                  </a:moveTo>
                  <a:lnTo>
                    <a:pt x="10734" y="578148"/>
                  </a:lnTo>
                </a:path>
                <a:path w="1073785" h="867410">
                  <a:moveTo>
                    <a:pt x="0" y="433611"/>
                  </a:moveTo>
                  <a:lnTo>
                    <a:pt x="10734" y="433611"/>
                  </a:lnTo>
                </a:path>
                <a:path w="1073785" h="867410">
                  <a:moveTo>
                    <a:pt x="0" y="289074"/>
                  </a:moveTo>
                  <a:lnTo>
                    <a:pt x="10734" y="289074"/>
                  </a:lnTo>
                </a:path>
                <a:path w="1073785" h="867410">
                  <a:moveTo>
                    <a:pt x="0" y="144537"/>
                  </a:moveTo>
                  <a:lnTo>
                    <a:pt x="10734" y="144537"/>
                  </a:lnTo>
                </a:path>
                <a:path w="1073785" h="867410">
                  <a:moveTo>
                    <a:pt x="0" y="0"/>
                  </a:moveTo>
                  <a:lnTo>
                    <a:pt x="10734" y="0"/>
                  </a:lnTo>
                </a:path>
                <a:path w="1073785" h="867410">
                  <a:moveTo>
                    <a:pt x="1073521" y="867222"/>
                  </a:moveTo>
                  <a:lnTo>
                    <a:pt x="1062787" y="867222"/>
                  </a:lnTo>
                </a:path>
                <a:path w="1073785" h="867410">
                  <a:moveTo>
                    <a:pt x="1073521" y="722685"/>
                  </a:moveTo>
                  <a:lnTo>
                    <a:pt x="1062787" y="722685"/>
                  </a:lnTo>
                </a:path>
                <a:path w="1073785" h="867410">
                  <a:moveTo>
                    <a:pt x="1073521" y="578148"/>
                  </a:moveTo>
                  <a:lnTo>
                    <a:pt x="1062787" y="578148"/>
                  </a:lnTo>
                </a:path>
                <a:path w="1073785" h="867410">
                  <a:moveTo>
                    <a:pt x="1073521" y="433611"/>
                  </a:moveTo>
                  <a:lnTo>
                    <a:pt x="1062787" y="433611"/>
                  </a:lnTo>
                </a:path>
                <a:path w="1073785" h="867410">
                  <a:moveTo>
                    <a:pt x="1073521" y="289074"/>
                  </a:moveTo>
                  <a:lnTo>
                    <a:pt x="1062787" y="289074"/>
                  </a:lnTo>
                </a:path>
                <a:path w="1073785" h="867410">
                  <a:moveTo>
                    <a:pt x="1073521" y="144537"/>
                  </a:moveTo>
                  <a:lnTo>
                    <a:pt x="1062787" y="144537"/>
                  </a:lnTo>
                </a:path>
                <a:path w="1073785" h="867410">
                  <a:moveTo>
                    <a:pt x="1073521" y="0"/>
                  </a:moveTo>
                  <a:lnTo>
                    <a:pt x="1062787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17968" y="789559"/>
              <a:ext cx="1073785" cy="506095"/>
            </a:xfrm>
            <a:custGeom>
              <a:avLst/>
              <a:gdLst/>
              <a:ahLst/>
              <a:cxnLst/>
              <a:rect l="l" t="t" r="r" b="b"/>
              <a:pathLst>
                <a:path w="1073785" h="506094">
                  <a:moveTo>
                    <a:pt x="0" y="406205"/>
                  </a:moveTo>
                  <a:lnTo>
                    <a:pt x="4" y="406353"/>
                  </a:lnTo>
                  <a:lnTo>
                    <a:pt x="7" y="406544"/>
                  </a:lnTo>
                  <a:lnTo>
                    <a:pt x="10" y="406725"/>
                  </a:lnTo>
                  <a:lnTo>
                    <a:pt x="14" y="406911"/>
                  </a:lnTo>
                  <a:lnTo>
                    <a:pt x="22" y="407096"/>
                  </a:lnTo>
                  <a:lnTo>
                    <a:pt x="45" y="408014"/>
                  </a:lnTo>
                  <a:lnTo>
                    <a:pt x="68" y="408932"/>
                  </a:lnTo>
                  <a:lnTo>
                    <a:pt x="1618" y="458846"/>
                  </a:lnTo>
                  <a:lnTo>
                    <a:pt x="3987" y="496986"/>
                  </a:lnTo>
                  <a:lnTo>
                    <a:pt x="6031" y="505492"/>
                  </a:lnTo>
                  <a:lnTo>
                    <a:pt x="6765" y="504738"/>
                  </a:lnTo>
                  <a:lnTo>
                    <a:pt x="12431" y="461605"/>
                  </a:lnTo>
                  <a:lnTo>
                    <a:pt x="16183" y="417119"/>
                  </a:lnTo>
                  <a:lnTo>
                    <a:pt x="18196" y="392192"/>
                  </a:lnTo>
                  <a:lnTo>
                    <a:pt x="19205" y="379791"/>
                  </a:lnTo>
                  <a:lnTo>
                    <a:pt x="22544" y="339863"/>
                  </a:lnTo>
                  <a:lnTo>
                    <a:pt x="27040" y="290506"/>
                  </a:lnTo>
                  <a:lnTo>
                    <a:pt x="31566" y="246827"/>
                  </a:lnTo>
                  <a:lnTo>
                    <a:pt x="36116" y="208979"/>
                  </a:lnTo>
                  <a:lnTo>
                    <a:pt x="41832" y="169226"/>
                  </a:lnTo>
                  <a:lnTo>
                    <a:pt x="48736" y="131001"/>
                  </a:lnTo>
                  <a:lnTo>
                    <a:pt x="57976" y="92877"/>
                  </a:lnTo>
                  <a:lnTo>
                    <a:pt x="72197" y="54689"/>
                  </a:lnTo>
                  <a:lnTo>
                    <a:pt x="95857" y="22651"/>
                  </a:lnTo>
                  <a:lnTo>
                    <a:pt x="132677" y="5746"/>
                  </a:lnTo>
                  <a:lnTo>
                    <a:pt x="173751" y="1246"/>
                  </a:lnTo>
                  <a:lnTo>
                    <a:pt x="210697" y="318"/>
                  </a:lnTo>
                  <a:lnTo>
                    <a:pt x="214470" y="270"/>
                  </a:lnTo>
                  <a:lnTo>
                    <a:pt x="218243" y="233"/>
                  </a:lnTo>
                  <a:lnTo>
                    <a:pt x="222010" y="206"/>
                  </a:lnTo>
                  <a:lnTo>
                    <a:pt x="225788" y="175"/>
                  </a:lnTo>
                  <a:lnTo>
                    <a:pt x="229555" y="153"/>
                  </a:lnTo>
                  <a:lnTo>
                    <a:pt x="233328" y="137"/>
                  </a:lnTo>
                  <a:lnTo>
                    <a:pt x="237100" y="116"/>
                  </a:lnTo>
                  <a:lnTo>
                    <a:pt x="240868" y="100"/>
                  </a:lnTo>
                  <a:lnTo>
                    <a:pt x="245516" y="84"/>
                  </a:lnTo>
                  <a:lnTo>
                    <a:pt x="250158" y="74"/>
                  </a:lnTo>
                  <a:lnTo>
                    <a:pt x="254807" y="58"/>
                  </a:lnTo>
                  <a:lnTo>
                    <a:pt x="259455" y="53"/>
                  </a:lnTo>
                  <a:lnTo>
                    <a:pt x="264708" y="42"/>
                  </a:lnTo>
                  <a:lnTo>
                    <a:pt x="269961" y="31"/>
                  </a:lnTo>
                  <a:lnTo>
                    <a:pt x="275219" y="26"/>
                  </a:lnTo>
                  <a:lnTo>
                    <a:pt x="280472" y="21"/>
                  </a:lnTo>
                  <a:lnTo>
                    <a:pt x="285343" y="15"/>
                  </a:lnTo>
                  <a:lnTo>
                    <a:pt x="290214" y="15"/>
                  </a:lnTo>
                  <a:lnTo>
                    <a:pt x="295085" y="15"/>
                  </a:lnTo>
                  <a:lnTo>
                    <a:pt x="299961" y="10"/>
                  </a:lnTo>
                  <a:lnTo>
                    <a:pt x="303941" y="10"/>
                  </a:lnTo>
                  <a:lnTo>
                    <a:pt x="307920" y="10"/>
                  </a:lnTo>
                  <a:lnTo>
                    <a:pt x="311900" y="5"/>
                  </a:lnTo>
                  <a:lnTo>
                    <a:pt x="315879" y="5"/>
                  </a:lnTo>
                  <a:lnTo>
                    <a:pt x="372930" y="5"/>
                  </a:lnTo>
                  <a:lnTo>
                    <a:pt x="378178" y="0"/>
                  </a:lnTo>
                  <a:lnTo>
                    <a:pt x="1071483" y="0"/>
                  </a:lnTo>
                  <a:lnTo>
                    <a:pt x="1073521" y="0"/>
                  </a:lnTo>
                </a:path>
              </a:pathLst>
            </a:custGeom>
            <a:ln w="1061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80892" y="1463675"/>
            <a:ext cx="114300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80892" y="1319137"/>
            <a:ext cx="114300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410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80892" y="1174601"/>
            <a:ext cx="114300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420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80892" y="1030065"/>
            <a:ext cx="114300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430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80892" y="885527"/>
            <a:ext cx="114300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440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80892" y="740990"/>
            <a:ext cx="114300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450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80892" y="596452"/>
            <a:ext cx="114300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460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04595" y="857714"/>
            <a:ext cx="83820" cy="509270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Susceptible</a:t>
            </a:r>
            <a:r>
              <a:rPr sz="450" spc="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(in</a:t>
            </a:r>
            <a:r>
              <a:rPr sz="450" spc="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50" spc="-25" dirty="0">
                <a:solidFill>
                  <a:srgbClr val="252525"/>
                </a:solidFill>
                <a:latin typeface="Arial MT"/>
                <a:cs typeface="Arial MT"/>
              </a:rPr>
              <a:t>m.)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21118" y="548167"/>
            <a:ext cx="554355" cy="95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b="1" dirty="0">
                <a:latin typeface="Arial"/>
                <a:cs typeface="Arial"/>
              </a:rPr>
              <a:t>(a)</a:t>
            </a:r>
            <a:r>
              <a:rPr sz="450" b="1" spc="30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Susceptible</a:t>
            </a:r>
            <a:r>
              <a:rPr sz="450" b="1" spc="30" dirty="0">
                <a:latin typeface="Arial"/>
                <a:cs typeface="Arial"/>
              </a:rPr>
              <a:t> </a:t>
            </a:r>
            <a:r>
              <a:rPr sz="450" b="1" spc="-20" dirty="0">
                <a:latin typeface="Arial"/>
                <a:cs typeface="Arial"/>
              </a:rPr>
              <a:t>S(t)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529914" y="643434"/>
            <a:ext cx="1073150" cy="870585"/>
            <a:chOff x="2529914" y="643434"/>
            <a:chExt cx="1073150" cy="870585"/>
          </a:xfrm>
        </p:grpSpPr>
        <p:sp>
          <p:nvSpPr>
            <p:cNvPr id="41" name="object 41"/>
            <p:cNvSpPr/>
            <p:nvPr/>
          </p:nvSpPr>
          <p:spPr>
            <a:xfrm>
              <a:off x="2531501" y="645022"/>
              <a:ext cx="1069975" cy="867410"/>
            </a:xfrm>
            <a:custGeom>
              <a:avLst/>
              <a:gdLst/>
              <a:ahLst/>
              <a:cxnLst/>
              <a:rect l="l" t="t" r="r" b="b"/>
              <a:pathLst>
                <a:path w="1069975" h="867410">
                  <a:moveTo>
                    <a:pt x="0" y="867222"/>
                  </a:moveTo>
                  <a:lnTo>
                    <a:pt x="0" y="0"/>
                  </a:lnTo>
                </a:path>
                <a:path w="1069975" h="867410">
                  <a:moveTo>
                    <a:pt x="356567" y="867222"/>
                  </a:moveTo>
                  <a:lnTo>
                    <a:pt x="356567" y="0"/>
                  </a:lnTo>
                </a:path>
                <a:path w="1069975" h="867410">
                  <a:moveTo>
                    <a:pt x="713134" y="867222"/>
                  </a:moveTo>
                  <a:lnTo>
                    <a:pt x="713134" y="0"/>
                  </a:lnTo>
                </a:path>
                <a:path w="1069975" h="867410">
                  <a:moveTo>
                    <a:pt x="1069701" y="867222"/>
                  </a:moveTo>
                  <a:lnTo>
                    <a:pt x="1069701" y="0"/>
                  </a:lnTo>
                </a:path>
                <a:path w="1069975" h="867410">
                  <a:moveTo>
                    <a:pt x="1069701" y="867222"/>
                  </a:moveTo>
                  <a:lnTo>
                    <a:pt x="0" y="867222"/>
                  </a:lnTo>
                </a:path>
                <a:path w="1069975" h="867410">
                  <a:moveTo>
                    <a:pt x="1069701" y="722685"/>
                  </a:moveTo>
                  <a:lnTo>
                    <a:pt x="0" y="722685"/>
                  </a:lnTo>
                </a:path>
                <a:path w="1069975" h="867410">
                  <a:moveTo>
                    <a:pt x="1069701" y="578148"/>
                  </a:moveTo>
                  <a:lnTo>
                    <a:pt x="0" y="578148"/>
                  </a:lnTo>
                </a:path>
                <a:path w="1069975" h="867410">
                  <a:moveTo>
                    <a:pt x="1069701" y="433611"/>
                  </a:moveTo>
                  <a:lnTo>
                    <a:pt x="0" y="433611"/>
                  </a:lnTo>
                </a:path>
                <a:path w="1069975" h="867410">
                  <a:moveTo>
                    <a:pt x="1069701" y="289074"/>
                  </a:moveTo>
                  <a:lnTo>
                    <a:pt x="0" y="289074"/>
                  </a:lnTo>
                </a:path>
                <a:path w="1069975" h="867410">
                  <a:moveTo>
                    <a:pt x="1069701" y="144537"/>
                  </a:moveTo>
                  <a:lnTo>
                    <a:pt x="0" y="144537"/>
                  </a:lnTo>
                </a:path>
                <a:path w="1069975" h="867410">
                  <a:moveTo>
                    <a:pt x="106970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31501" y="645022"/>
              <a:ext cx="1069975" cy="867410"/>
            </a:xfrm>
            <a:custGeom>
              <a:avLst/>
              <a:gdLst/>
              <a:ahLst/>
              <a:cxnLst/>
              <a:rect l="l" t="t" r="r" b="b"/>
              <a:pathLst>
                <a:path w="1069975" h="867410">
                  <a:moveTo>
                    <a:pt x="0" y="867222"/>
                  </a:moveTo>
                  <a:lnTo>
                    <a:pt x="1069701" y="867222"/>
                  </a:lnTo>
                </a:path>
                <a:path w="1069975" h="867410">
                  <a:moveTo>
                    <a:pt x="0" y="0"/>
                  </a:moveTo>
                  <a:lnTo>
                    <a:pt x="1069701" y="0"/>
                  </a:lnTo>
                </a:path>
                <a:path w="1069975" h="867410">
                  <a:moveTo>
                    <a:pt x="0" y="867222"/>
                  </a:moveTo>
                  <a:lnTo>
                    <a:pt x="0" y="856525"/>
                  </a:lnTo>
                </a:path>
                <a:path w="1069975" h="867410">
                  <a:moveTo>
                    <a:pt x="356567" y="867222"/>
                  </a:moveTo>
                  <a:lnTo>
                    <a:pt x="356567" y="856525"/>
                  </a:lnTo>
                </a:path>
                <a:path w="1069975" h="867410">
                  <a:moveTo>
                    <a:pt x="713134" y="867222"/>
                  </a:moveTo>
                  <a:lnTo>
                    <a:pt x="713134" y="856525"/>
                  </a:lnTo>
                </a:path>
                <a:path w="1069975" h="867410">
                  <a:moveTo>
                    <a:pt x="1069701" y="867222"/>
                  </a:moveTo>
                  <a:lnTo>
                    <a:pt x="1069701" y="856525"/>
                  </a:lnTo>
                </a:path>
                <a:path w="1069975" h="867410">
                  <a:moveTo>
                    <a:pt x="0" y="0"/>
                  </a:moveTo>
                  <a:lnTo>
                    <a:pt x="0" y="10697"/>
                  </a:lnTo>
                </a:path>
                <a:path w="1069975" h="867410">
                  <a:moveTo>
                    <a:pt x="356567" y="0"/>
                  </a:moveTo>
                  <a:lnTo>
                    <a:pt x="356567" y="10697"/>
                  </a:lnTo>
                </a:path>
                <a:path w="1069975" h="867410">
                  <a:moveTo>
                    <a:pt x="713134" y="0"/>
                  </a:moveTo>
                  <a:lnTo>
                    <a:pt x="713134" y="10697"/>
                  </a:lnTo>
                </a:path>
                <a:path w="1069975" h="867410">
                  <a:moveTo>
                    <a:pt x="1069701" y="0"/>
                  </a:moveTo>
                  <a:lnTo>
                    <a:pt x="1069701" y="10697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501610" y="1517372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197555" y="1517372"/>
            <a:ext cx="8445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554124" y="1517372"/>
            <a:ext cx="8445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30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840987" y="1509269"/>
            <a:ext cx="380365" cy="17653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10</a:t>
            </a:r>
            <a:endParaRPr sz="400">
              <a:latin typeface="Arial MT"/>
              <a:cs typeface="Arial MT"/>
            </a:endParaRPr>
          </a:p>
          <a:p>
            <a:pPr marL="40005">
              <a:lnSpc>
                <a:spcPct val="100000"/>
              </a:lnSpc>
              <a:spcBef>
                <a:spcPts val="85"/>
              </a:spcBef>
            </a:pP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Time</a:t>
            </a:r>
            <a:r>
              <a:rPr sz="45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50" spc="-10" dirty="0">
                <a:solidFill>
                  <a:srgbClr val="252525"/>
                </a:solidFill>
                <a:latin typeface="Arial MT"/>
                <a:cs typeface="Arial MT"/>
              </a:rPr>
              <a:t>(years)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531501" y="645022"/>
            <a:ext cx="1069975" cy="867410"/>
          </a:xfrm>
          <a:custGeom>
            <a:avLst/>
            <a:gdLst/>
            <a:ahLst/>
            <a:cxnLst/>
            <a:rect l="l" t="t" r="r" b="b"/>
            <a:pathLst>
              <a:path w="1069975" h="867410">
                <a:moveTo>
                  <a:pt x="0" y="867222"/>
                </a:moveTo>
                <a:lnTo>
                  <a:pt x="0" y="0"/>
                </a:lnTo>
              </a:path>
              <a:path w="1069975" h="867410">
                <a:moveTo>
                  <a:pt x="1069701" y="867222"/>
                </a:moveTo>
                <a:lnTo>
                  <a:pt x="1069701" y="0"/>
                </a:lnTo>
              </a:path>
              <a:path w="1069975" h="867410">
                <a:moveTo>
                  <a:pt x="0" y="867222"/>
                </a:moveTo>
                <a:lnTo>
                  <a:pt x="10697" y="867222"/>
                </a:lnTo>
              </a:path>
              <a:path w="1069975" h="867410">
                <a:moveTo>
                  <a:pt x="0" y="722685"/>
                </a:moveTo>
                <a:lnTo>
                  <a:pt x="10697" y="722685"/>
                </a:lnTo>
              </a:path>
              <a:path w="1069975" h="867410">
                <a:moveTo>
                  <a:pt x="0" y="578148"/>
                </a:moveTo>
                <a:lnTo>
                  <a:pt x="10697" y="578148"/>
                </a:lnTo>
              </a:path>
              <a:path w="1069975" h="867410">
                <a:moveTo>
                  <a:pt x="0" y="433611"/>
                </a:moveTo>
                <a:lnTo>
                  <a:pt x="10697" y="433611"/>
                </a:lnTo>
              </a:path>
              <a:path w="1069975" h="867410">
                <a:moveTo>
                  <a:pt x="0" y="289074"/>
                </a:moveTo>
                <a:lnTo>
                  <a:pt x="10697" y="289074"/>
                </a:lnTo>
              </a:path>
              <a:path w="1069975" h="867410">
                <a:moveTo>
                  <a:pt x="0" y="144537"/>
                </a:moveTo>
                <a:lnTo>
                  <a:pt x="10697" y="144537"/>
                </a:lnTo>
              </a:path>
              <a:path w="1069975" h="867410">
                <a:moveTo>
                  <a:pt x="0" y="0"/>
                </a:moveTo>
                <a:lnTo>
                  <a:pt x="10697" y="0"/>
                </a:lnTo>
              </a:path>
              <a:path w="1069975" h="867410">
                <a:moveTo>
                  <a:pt x="1069701" y="867222"/>
                </a:moveTo>
                <a:lnTo>
                  <a:pt x="1059004" y="867222"/>
                </a:lnTo>
              </a:path>
              <a:path w="1069975" h="867410">
                <a:moveTo>
                  <a:pt x="1069701" y="722685"/>
                </a:moveTo>
                <a:lnTo>
                  <a:pt x="1059004" y="722685"/>
                </a:lnTo>
              </a:path>
              <a:path w="1069975" h="867410">
                <a:moveTo>
                  <a:pt x="1069701" y="578148"/>
                </a:moveTo>
                <a:lnTo>
                  <a:pt x="1059004" y="578148"/>
                </a:lnTo>
              </a:path>
              <a:path w="1069975" h="867410">
                <a:moveTo>
                  <a:pt x="1069701" y="433611"/>
                </a:moveTo>
                <a:lnTo>
                  <a:pt x="1059004" y="433611"/>
                </a:lnTo>
              </a:path>
              <a:path w="1069975" h="867410">
                <a:moveTo>
                  <a:pt x="1069701" y="289074"/>
                </a:moveTo>
                <a:lnTo>
                  <a:pt x="1059004" y="289074"/>
                </a:lnTo>
              </a:path>
              <a:path w="1069975" h="867410">
                <a:moveTo>
                  <a:pt x="1069701" y="144537"/>
                </a:moveTo>
                <a:lnTo>
                  <a:pt x="1059004" y="144537"/>
                </a:lnTo>
              </a:path>
              <a:path w="1069975" h="867410">
                <a:moveTo>
                  <a:pt x="1069701" y="0"/>
                </a:moveTo>
                <a:lnTo>
                  <a:pt x="1059004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463194" y="1463675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63194" y="1319137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428810" y="1174601"/>
            <a:ext cx="8445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428810" y="1030065"/>
            <a:ext cx="8445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428810" y="885527"/>
            <a:ext cx="8445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428810" y="740990"/>
            <a:ext cx="8445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428810" y="596452"/>
            <a:ext cx="8445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30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352512" y="902080"/>
            <a:ext cx="83820" cy="414655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Infected</a:t>
            </a:r>
            <a:r>
              <a:rPr sz="45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(in</a:t>
            </a:r>
            <a:r>
              <a:rPr sz="45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50" spc="-25" dirty="0">
                <a:solidFill>
                  <a:srgbClr val="252525"/>
                </a:solidFill>
                <a:latin typeface="Arial MT"/>
                <a:cs typeface="Arial MT"/>
              </a:rPr>
              <a:t>m.)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797693" y="548167"/>
            <a:ext cx="431165" cy="95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b="1" dirty="0">
                <a:latin typeface="Arial"/>
                <a:cs typeface="Arial"/>
              </a:rPr>
              <a:t>(b)</a:t>
            </a:r>
            <a:r>
              <a:rPr sz="450" b="1" spc="20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Infected</a:t>
            </a:r>
            <a:r>
              <a:rPr sz="450" b="1" spc="25" dirty="0">
                <a:latin typeface="Arial"/>
                <a:cs typeface="Arial"/>
              </a:rPr>
              <a:t> </a:t>
            </a:r>
            <a:r>
              <a:rPr sz="450" b="1" spc="-20" dirty="0">
                <a:latin typeface="Arial"/>
                <a:cs typeface="Arial"/>
              </a:rPr>
              <a:t>I(t)</a:t>
            </a:r>
            <a:endParaRPr sz="45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531501" y="650254"/>
            <a:ext cx="1069975" cy="862330"/>
          </a:xfrm>
          <a:custGeom>
            <a:avLst/>
            <a:gdLst/>
            <a:ahLst/>
            <a:cxnLst/>
            <a:rect l="l" t="t" r="r" b="b"/>
            <a:pathLst>
              <a:path w="1069975" h="862330">
                <a:moveTo>
                  <a:pt x="0" y="0"/>
                </a:moveTo>
                <a:lnTo>
                  <a:pt x="15" y="137"/>
                </a:lnTo>
                <a:lnTo>
                  <a:pt x="31" y="275"/>
                </a:lnTo>
                <a:lnTo>
                  <a:pt x="47" y="413"/>
                </a:lnTo>
                <a:lnTo>
                  <a:pt x="58" y="551"/>
                </a:lnTo>
                <a:lnTo>
                  <a:pt x="132" y="1241"/>
                </a:lnTo>
                <a:lnTo>
                  <a:pt x="212" y="1926"/>
                </a:lnTo>
                <a:lnTo>
                  <a:pt x="286" y="2615"/>
                </a:lnTo>
                <a:lnTo>
                  <a:pt x="360" y="3305"/>
                </a:lnTo>
                <a:lnTo>
                  <a:pt x="737" y="6728"/>
                </a:lnTo>
                <a:lnTo>
                  <a:pt x="1108" y="10145"/>
                </a:lnTo>
                <a:lnTo>
                  <a:pt x="5613" y="50099"/>
                </a:lnTo>
                <a:lnTo>
                  <a:pt x="18152" y="151896"/>
                </a:lnTo>
                <a:lnTo>
                  <a:pt x="26933" y="215632"/>
                </a:lnTo>
                <a:lnTo>
                  <a:pt x="35715" y="273723"/>
                </a:lnTo>
                <a:lnTo>
                  <a:pt x="44496" y="326635"/>
                </a:lnTo>
                <a:lnTo>
                  <a:pt x="55363" y="385601"/>
                </a:lnTo>
                <a:lnTo>
                  <a:pt x="66224" y="438100"/>
                </a:lnTo>
                <a:lnTo>
                  <a:pt x="77086" y="484809"/>
                </a:lnTo>
                <a:lnTo>
                  <a:pt x="87947" y="526371"/>
                </a:lnTo>
                <a:lnTo>
                  <a:pt x="100173" y="567674"/>
                </a:lnTo>
                <a:lnTo>
                  <a:pt x="112387" y="603877"/>
                </a:lnTo>
                <a:lnTo>
                  <a:pt x="136827" y="663390"/>
                </a:lnTo>
                <a:lnTo>
                  <a:pt x="164058" y="713622"/>
                </a:lnTo>
                <a:lnTo>
                  <a:pt x="191283" y="751046"/>
                </a:lnTo>
                <a:lnTo>
                  <a:pt x="221650" y="781704"/>
                </a:lnTo>
                <a:lnTo>
                  <a:pt x="268746" y="813270"/>
                </a:lnTo>
                <a:lnTo>
                  <a:pt x="318941" y="833300"/>
                </a:lnTo>
                <a:lnTo>
                  <a:pt x="355914" y="842549"/>
                </a:lnTo>
                <a:lnTo>
                  <a:pt x="411612" y="851139"/>
                </a:lnTo>
                <a:lnTo>
                  <a:pt x="467761" y="855941"/>
                </a:lnTo>
                <a:lnTo>
                  <a:pt x="524222" y="858621"/>
                </a:lnTo>
                <a:lnTo>
                  <a:pt x="580891" y="860117"/>
                </a:lnTo>
                <a:lnTo>
                  <a:pt x="637735" y="860945"/>
                </a:lnTo>
                <a:lnTo>
                  <a:pt x="694754" y="861406"/>
                </a:lnTo>
                <a:lnTo>
                  <a:pt x="732915" y="861597"/>
                </a:lnTo>
                <a:lnTo>
                  <a:pt x="771071" y="861725"/>
                </a:lnTo>
                <a:lnTo>
                  <a:pt x="809354" y="861810"/>
                </a:lnTo>
                <a:lnTo>
                  <a:pt x="847632" y="861868"/>
                </a:lnTo>
                <a:lnTo>
                  <a:pt x="866824" y="861889"/>
                </a:lnTo>
                <a:lnTo>
                  <a:pt x="886016" y="861911"/>
                </a:lnTo>
                <a:lnTo>
                  <a:pt x="905208" y="861921"/>
                </a:lnTo>
                <a:lnTo>
                  <a:pt x="924400" y="861937"/>
                </a:lnTo>
                <a:lnTo>
                  <a:pt x="943634" y="861942"/>
                </a:lnTo>
                <a:lnTo>
                  <a:pt x="982103" y="861958"/>
                </a:lnTo>
                <a:lnTo>
                  <a:pt x="1020615" y="861969"/>
                </a:lnTo>
                <a:lnTo>
                  <a:pt x="1039886" y="861974"/>
                </a:lnTo>
                <a:lnTo>
                  <a:pt x="1059163" y="861974"/>
                </a:lnTo>
                <a:lnTo>
                  <a:pt x="1069829" y="861980"/>
                </a:lnTo>
              </a:path>
            </a:pathLst>
          </a:custGeom>
          <a:ln w="106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8" name="object 58"/>
          <p:cNvGrpSpPr/>
          <p:nvPr/>
        </p:nvGrpSpPr>
        <p:grpSpPr>
          <a:xfrm>
            <a:off x="1116380" y="1846849"/>
            <a:ext cx="1076960" cy="870585"/>
            <a:chOff x="1116380" y="1846849"/>
            <a:chExt cx="1076960" cy="870585"/>
          </a:xfrm>
        </p:grpSpPr>
        <p:sp>
          <p:nvSpPr>
            <p:cNvPr id="59" name="object 59"/>
            <p:cNvSpPr/>
            <p:nvPr/>
          </p:nvSpPr>
          <p:spPr>
            <a:xfrm>
              <a:off x="1117968" y="1848436"/>
              <a:ext cx="1073785" cy="867410"/>
            </a:xfrm>
            <a:custGeom>
              <a:avLst/>
              <a:gdLst/>
              <a:ahLst/>
              <a:cxnLst/>
              <a:rect l="l" t="t" r="r" b="b"/>
              <a:pathLst>
                <a:path w="1073785" h="867410">
                  <a:moveTo>
                    <a:pt x="0" y="867221"/>
                  </a:moveTo>
                  <a:lnTo>
                    <a:pt x="0" y="0"/>
                  </a:lnTo>
                </a:path>
                <a:path w="1073785" h="867410">
                  <a:moveTo>
                    <a:pt x="214703" y="867221"/>
                  </a:moveTo>
                  <a:lnTo>
                    <a:pt x="214703" y="0"/>
                  </a:lnTo>
                </a:path>
                <a:path w="1073785" h="867410">
                  <a:moveTo>
                    <a:pt x="429408" y="867221"/>
                  </a:moveTo>
                  <a:lnTo>
                    <a:pt x="429408" y="0"/>
                  </a:lnTo>
                </a:path>
                <a:path w="1073785" h="867410">
                  <a:moveTo>
                    <a:pt x="644112" y="867221"/>
                  </a:moveTo>
                  <a:lnTo>
                    <a:pt x="644112" y="0"/>
                  </a:lnTo>
                </a:path>
                <a:path w="1073785" h="867410">
                  <a:moveTo>
                    <a:pt x="858817" y="867221"/>
                  </a:moveTo>
                  <a:lnTo>
                    <a:pt x="858817" y="0"/>
                  </a:lnTo>
                </a:path>
                <a:path w="1073785" h="867410">
                  <a:moveTo>
                    <a:pt x="1073521" y="867221"/>
                  </a:moveTo>
                  <a:lnTo>
                    <a:pt x="1073521" y="0"/>
                  </a:lnTo>
                </a:path>
                <a:path w="1073785" h="867410">
                  <a:moveTo>
                    <a:pt x="1073521" y="867221"/>
                  </a:moveTo>
                  <a:lnTo>
                    <a:pt x="0" y="867221"/>
                  </a:lnTo>
                </a:path>
                <a:path w="1073785" h="867410">
                  <a:moveTo>
                    <a:pt x="1073521" y="722687"/>
                  </a:moveTo>
                  <a:lnTo>
                    <a:pt x="0" y="722687"/>
                  </a:lnTo>
                </a:path>
                <a:path w="1073785" h="867410">
                  <a:moveTo>
                    <a:pt x="1073521" y="578148"/>
                  </a:moveTo>
                  <a:lnTo>
                    <a:pt x="0" y="578148"/>
                  </a:lnTo>
                </a:path>
                <a:path w="1073785" h="867410">
                  <a:moveTo>
                    <a:pt x="1073521" y="433611"/>
                  </a:moveTo>
                  <a:lnTo>
                    <a:pt x="0" y="433611"/>
                  </a:lnTo>
                </a:path>
                <a:path w="1073785" h="867410">
                  <a:moveTo>
                    <a:pt x="1073521" y="289074"/>
                  </a:moveTo>
                  <a:lnTo>
                    <a:pt x="0" y="289074"/>
                  </a:lnTo>
                </a:path>
                <a:path w="1073785" h="867410">
                  <a:moveTo>
                    <a:pt x="1073521" y="144537"/>
                  </a:moveTo>
                  <a:lnTo>
                    <a:pt x="0" y="144537"/>
                  </a:lnTo>
                </a:path>
                <a:path w="1073785" h="867410">
                  <a:moveTo>
                    <a:pt x="107352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117968" y="1848436"/>
              <a:ext cx="1073785" cy="867410"/>
            </a:xfrm>
            <a:custGeom>
              <a:avLst/>
              <a:gdLst/>
              <a:ahLst/>
              <a:cxnLst/>
              <a:rect l="l" t="t" r="r" b="b"/>
              <a:pathLst>
                <a:path w="1073785" h="867410">
                  <a:moveTo>
                    <a:pt x="0" y="867221"/>
                  </a:moveTo>
                  <a:lnTo>
                    <a:pt x="1073521" y="867221"/>
                  </a:lnTo>
                </a:path>
                <a:path w="1073785" h="867410">
                  <a:moveTo>
                    <a:pt x="0" y="0"/>
                  </a:moveTo>
                  <a:lnTo>
                    <a:pt x="1073521" y="0"/>
                  </a:lnTo>
                </a:path>
                <a:path w="1073785" h="867410">
                  <a:moveTo>
                    <a:pt x="0" y="867221"/>
                  </a:moveTo>
                  <a:lnTo>
                    <a:pt x="0" y="856487"/>
                  </a:lnTo>
                </a:path>
                <a:path w="1073785" h="867410">
                  <a:moveTo>
                    <a:pt x="214703" y="867221"/>
                  </a:moveTo>
                  <a:lnTo>
                    <a:pt x="214703" y="856487"/>
                  </a:lnTo>
                </a:path>
                <a:path w="1073785" h="867410">
                  <a:moveTo>
                    <a:pt x="429408" y="867221"/>
                  </a:moveTo>
                  <a:lnTo>
                    <a:pt x="429408" y="856487"/>
                  </a:lnTo>
                </a:path>
                <a:path w="1073785" h="867410">
                  <a:moveTo>
                    <a:pt x="644112" y="867221"/>
                  </a:moveTo>
                  <a:lnTo>
                    <a:pt x="644112" y="856487"/>
                  </a:lnTo>
                </a:path>
                <a:path w="1073785" h="867410">
                  <a:moveTo>
                    <a:pt x="858817" y="867221"/>
                  </a:moveTo>
                  <a:lnTo>
                    <a:pt x="858817" y="856487"/>
                  </a:lnTo>
                </a:path>
                <a:path w="1073785" h="867410">
                  <a:moveTo>
                    <a:pt x="1073521" y="867221"/>
                  </a:moveTo>
                  <a:lnTo>
                    <a:pt x="1073521" y="856487"/>
                  </a:lnTo>
                </a:path>
                <a:path w="1073785" h="867410">
                  <a:moveTo>
                    <a:pt x="0" y="0"/>
                  </a:moveTo>
                  <a:lnTo>
                    <a:pt x="0" y="10734"/>
                  </a:lnTo>
                </a:path>
                <a:path w="1073785" h="867410">
                  <a:moveTo>
                    <a:pt x="214703" y="0"/>
                  </a:moveTo>
                  <a:lnTo>
                    <a:pt x="214703" y="10734"/>
                  </a:lnTo>
                </a:path>
                <a:path w="1073785" h="867410">
                  <a:moveTo>
                    <a:pt x="429408" y="0"/>
                  </a:moveTo>
                  <a:lnTo>
                    <a:pt x="429408" y="10734"/>
                  </a:lnTo>
                </a:path>
                <a:path w="1073785" h="867410">
                  <a:moveTo>
                    <a:pt x="644112" y="0"/>
                  </a:moveTo>
                  <a:lnTo>
                    <a:pt x="644112" y="10734"/>
                  </a:lnTo>
                </a:path>
                <a:path w="1073785" h="867410">
                  <a:moveTo>
                    <a:pt x="858817" y="0"/>
                  </a:moveTo>
                  <a:lnTo>
                    <a:pt x="858817" y="10734"/>
                  </a:lnTo>
                </a:path>
                <a:path w="1073785" h="867410">
                  <a:moveTo>
                    <a:pt x="1073521" y="0"/>
                  </a:moveTo>
                  <a:lnTo>
                    <a:pt x="1073521" y="10734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1088074" y="2720787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127216" y="2720787"/>
            <a:ext cx="114300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85589" y="2712683"/>
            <a:ext cx="728980" cy="17653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  <a:tabLst>
                <a:tab pos="227329" algn="l"/>
                <a:tab pos="441959" algn="l"/>
                <a:tab pos="656590" algn="l"/>
              </a:tabLst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20</a:t>
            </a: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	</a:t>
            </a: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40</a:t>
            </a: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	</a:t>
            </a: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60</a:t>
            </a: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	</a:t>
            </a: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80</a:t>
            </a:r>
            <a:endParaRPr sz="400">
              <a:latin typeface="Arial MT"/>
              <a:cs typeface="Arial MT"/>
            </a:endParaRPr>
          </a:p>
          <a:p>
            <a:pPr marL="183515">
              <a:lnSpc>
                <a:spcPct val="100000"/>
              </a:lnSpc>
              <a:spcBef>
                <a:spcPts val="85"/>
              </a:spcBef>
            </a:pP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Time</a:t>
            </a:r>
            <a:r>
              <a:rPr sz="45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50" spc="-10" dirty="0">
                <a:solidFill>
                  <a:srgbClr val="252525"/>
                </a:solidFill>
                <a:latin typeface="Arial MT"/>
                <a:cs typeface="Arial MT"/>
              </a:rPr>
              <a:t>(years)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117968" y="1848436"/>
            <a:ext cx="1073785" cy="867410"/>
          </a:xfrm>
          <a:custGeom>
            <a:avLst/>
            <a:gdLst/>
            <a:ahLst/>
            <a:cxnLst/>
            <a:rect l="l" t="t" r="r" b="b"/>
            <a:pathLst>
              <a:path w="1073785" h="867410">
                <a:moveTo>
                  <a:pt x="0" y="867221"/>
                </a:moveTo>
                <a:lnTo>
                  <a:pt x="0" y="0"/>
                </a:lnTo>
              </a:path>
              <a:path w="1073785" h="867410">
                <a:moveTo>
                  <a:pt x="1073521" y="867221"/>
                </a:moveTo>
                <a:lnTo>
                  <a:pt x="1073521" y="0"/>
                </a:lnTo>
              </a:path>
              <a:path w="1073785" h="867410">
                <a:moveTo>
                  <a:pt x="0" y="867221"/>
                </a:moveTo>
                <a:lnTo>
                  <a:pt x="10734" y="867221"/>
                </a:lnTo>
              </a:path>
              <a:path w="1073785" h="867410">
                <a:moveTo>
                  <a:pt x="0" y="722687"/>
                </a:moveTo>
                <a:lnTo>
                  <a:pt x="10734" y="722687"/>
                </a:lnTo>
              </a:path>
              <a:path w="1073785" h="867410">
                <a:moveTo>
                  <a:pt x="0" y="578148"/>
                </a:moveTo>
                <a:lnTo>
                  <a:pt x="10734" y="578148"/>
                </a:lnTo>
              </a:path>
              <a:path w="1073785" h="867410">
                <a:moveTo>
                  <a:pt x="0" y="433611"/>
                </a:moveTo>
                <a:lnTo>
                  <a:pt x="10734" y="433611"/>
                </a:lnTo>
              </a:path>
              <a:path w="1073785" h="867410">
                <a:moveTo>
                  <a:pt x="0" y="289074"/>
                </a:moveTo>
                <a:lnTo>
                  <a:pt x="10734" y="289074"/>
                </a:lnTo>
              </a:path>
              <a:path w="1073785" h="867410">
                <a:moveTo>
                  <a:pt x="0" y="144537"/>
                </a:moveTo>
                <a:lnTo>
                  <a:pt x="10734" y="144537"/>
                </a:lnTo>
              </a:path>
              <a:path w="1073785" h="867410">
                <a:moveTo>
                  <a:pt x="0" y="0"/>
                </a:moveTo>
                <a:lnTo>
                  <a:pt x="10734" y="0"/>
                </a:lnTo>
              </a:path>
              <a:path w="1073785" h="867410">
                <a:moveTo>
                  <a:pt x="1073521" y="867221"/>
                </a:moveTo>
                <a:lnTo>
                  <a:pt x="1062787" y="867221"/>
                </a:lnTo>
              </a:path>
              <a:path w="1073785" h="867410">
                <a:moveTo>
                  <a:pt x="1073521" y="722687"/>
                </a:moveTo>
                <a:lnTo>
                  <a:pt x="1062787" y="722687"/>
                </a:lnTo>
              </a:path>
              <a:path w="1073785" h="867410">
                <a:moveTo>
                  <a:pt x="1073521" y="578148"/>
                </a:moveTo>
                <a:lnTo>
                  <a:pt x="1062787" y="578148"/>
                </a:lnTo>
              </a:path>
              <a:path w="1073785" h="867410">
                <a:moveTo>
                  <a:pt x="1073521" y="433611"/>
                </a:moveTo>
                <a:lnTo>
                  <a:pt x="1062787" y="433611"/>
                </a:lnTo>
              </a:path>
              <a:path w="1073785" h="867410">
                <a:moveTo>
                  <a:pt x="1073521" y="289074"/>
                </a:moveTo>
                <a:lnTo>
                  <a:pt x="1062787" y="289074"/>
                </a:lnTo>
              </a:path>
              <a:path w="1073785" h="867410">
                <a:moveTo>
                  <a:pt x="1073521" y="144537"/>
                </a:moveTo>
                <a:lnTo>
                  <a:pt x="1062787" y="144537"/>
                </a:lnTo>
              </a:path>
              <a:path w="1073785" h="867410">
                <a:moveTo>
                  <a:pt x="1073521" y="0"/>
                </a:moveTo>
                <a:lnTo>
                  <a:pt x="1062787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1049660" y="2667090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49660" y="2522552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1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49660" y="2378016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2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049660" y="2233480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3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049660" y="2088942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4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049660" y="1944405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049660" y="1799867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6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73360" y="2017983"/>
            <a:ext cx="83820" cy="609600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Cervical</a:t>
            </a:r>
            <a:r>
              <a:rPr sz="45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cancer</a:t>
            </a:r>
            <a:r>
              <a:rPr sz="450" spc="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(in</a:t>
            </a:r>
            <a:r>
              <a:rPr sz="45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50" spc="-25" dirty="0">
                <a:solidFill>
                  <a:srgbClr val="252525"/>
                </a:solidFill>
                <a:latin typeface="Arial MT"/>
                <a:cs typeface="Arial MT"/>
              </a:rPr>
              <a:t>m.)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259992" y="1751581"/>
            <a:ext cx="671195" cy="95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b="1" dirty="0">
                <a:latin typeface="Arial"/>
                <a:cs typeface="Arial"/>
              </a:rPr>
              <a:t>(c)</a:t>
            </a:r>
            <a:r>
              <a:rPr sz="450" b="1" spc="25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Cervical</a:t>
            </a:r>
            <a:r>
              <a:rPr sz="450" b="1" spc="25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Cancer</a:t>
            </a:r>
            <a:r>
              <a:rPr sz="450" b="1" spc="25" dirty="0">
                <a:latin typeface="Arial"/>
                <a:cs typeface="Arial"/>
              </a:rPr>
              <a:t> </a:t>
            </a:r>
            <a:r>
              <a:rPr sz="450" b="1" spc="-20" dirty="0">
                <a:latin typeface="Arial"/>
                <a:cs typeface="Arial"/>
              </a:rPr>
              <a:t>C(t)</a:t>
            </a:r>
            <a:endParaRPr sz="45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117968" y="1980775"/>
            <a:ext cx="1073785" cy="735330"/>
          </a:xfrm>
          <a:custGeom>
            <a:avLst/>
            <a:gdLst/>
            <a:ahLst/>
            <a:cxnLst/>
            <a:rect l="l" t="t" r="r" b="b"/>
            <a:pathLst>
              <a:path w="1073785" h="735330">
                <a:moveTo>
                  <a:pt x="0" y="720560"/>
                </a:moveTo>
                <a:lnTo>
                  <a:pt x="4" y="720237"/>
                </a:lnTo>
                <a:lnTo>
                  <a:pt x="7" y="719912"/>
                </a:lnTo>
                <a:lnTo>
                  <a:pt x="14" y="719586"/>
                </a:lnTo>
                <a:lnTo>
                  <a:pt x="18" y="719263"/>
                </a:lnTo>
                <a:lnTo>
                  <a:pt x="41" y="717646"/>
                </a:lnTo>
                <a:lnTo>
                  <a:pt x="64" y="716029"/>
                </a:lnTo>
                <a:lnTo>
                  <a:pt x="82" y="714417"/>
                </a:lnTo>
                <a:lnTo>
                  <a:pt x="105" y="712809"/>
                </a:lnTo>
                <a:lnTo>
                  <a:pt x="221" y="704798"/>
                </a:lnTo>
                <a:lnTo>
                  <a:pt x="335" y="696855"/>
                </a:lnTo>
                <a:lnTo>
                  <a:pt x="1127" y="643073"/>
                </a:lnTo>
                <a:lnTo>
                  <a:pt x="2252" y="571543"/>
                </a:lnTo>
                <a:lnTo>
                  <a:pt x="5463" y="399408"/>
                </a:lnTo>
                <a:lnTo>
                  <a:pt x="8106" y="287906"/>
                </a:lnTo>
                <a:lnTo>
                  <a:pt x="10752" y="199751"/>
                </a:lnTo>
                <a:lnTo>
                  <a:pt x="13397" y="131569"/>
                </a:lnTo>
                <a:lnTo>
                  <a:pt x="16668" y="70432"/>
                </a:lnTo>
                <a:lnTo>
                  <a:pt x="19936" y="30684"/>
                </a:lnTo>
                <a:lnTo>
                  <a:pt x="26478" y="0"/>
                </a:lnTo>
                <a:lnTo>
                  <a:pt x="30157" y="3549"/>
                </a:lnTo>
                <a:lnTo>
                  <a:pt x="41194" y="68108"/>
                </a:lnTo>
                <a:lnTo>
                  <a:pt x="49394" y="142239"/>
                </a:lnTo>
                <a:lnTo>
                  <a:pt x="53491" y="182316"/>
                </a:lnTo>
                <a:lnTo>
                  <a:pt x="57591" y="222663"/>
                </a:lnTo>
                <a:lnTo>
                  <a:pt x="62161" y="266804"/>
                </a:lnTo>
                <a:lnTo>
                  <a:pt x="66733" y="309433"/>
                </a:lnTo>
                <a:lnTo>
                  <a:pt x="71302" y="350040"/>
                </a:lnTo>
                <a:lnTo>
                  <a:pt x="75872" y="388175"/>
                </a:lnTo>
                <a:lnTo>
                  <a:pt x="80911" y="426994"/>
                </a:lnTo>
                <a:lnTo>
                  <a:pt x="90984" y="494790"/>
                </a:lnTo>
                <a:lnTo>
                  <a:pt x="101590" y="552422"/>
                </a:lnTo>
                <a:lnTo>
                  <a:pt x="112722" y="599628"/>
                </a:lnTo>
                <a:lnTo>
                  <a:pt x="129557" y="650323"/>
                </a:lnTo>
                <a:lnTo>
                  <a:pt x="152161" y="690952"/>
                </a:lnTo>
                <a:lnTo>
                  <a:pt x="186279" y="719116"/>
                </a:lnTo>
                <a:lnTo>
                  <a:pt x="226403" y="730329"/>
                </a:lnTo>
                <a:lnTo>
                  <a:pt x="266751" y="733612"/>
                </a:lnTo>
                <a:lnTo>
                  <a:pt x="307278" y="734536"/>
                </a:lnTo>
                <a:lnTo>
                  <a:pt x="348581" y="734792"/>
                </a:lnTo>
                <a:lnTo>
                  <a:pt x="373376" y="734841"/>
                </a:lnTo>
                <a:lnTo>
                  <a:pt x="380104" y="734854"/>
                </a:lnTo>
                <a:lnTo>
                  <a:pt x="386832" y="734856"/>
                </a:lnTo>
                <a:lnTo>
                  <a:pt x="393560" y="734864"/>
                </a:lnTo>
                <a:lnTo>
                  <a:pt x="400288" y="734868"/>
                </a:lnTo>
                <a:lnTo>
                  <a:pt x="408104" y="734872"/>
                </a:lnTo>
                <a:lnTo>
                  <a:pt x="415914" y="734872"/>
                </a:lnTo>
                <a:lnTo>
                  <a:pt x="423730" y="734877"/>
                </a:lnTo>
                <a:lnTo>
                  <a:pt x="431546" y="734877"/>
                </a:lnTo>
                <a:lnTo>
                  <a:pt x="440715" y="734881"/>
                </a:lnTo>
                <a:lnTo>
                  <a:pt x="449884" y="734881"/>
                </a:lnTo>
                <a:lnTo>
                  <a:pt x="459053" y="734881"/>
                </a:lnTo>
                <a:lnTo>
                  <a:pt x="468227" y="734882"/>
                </a:lnTo>
                <a:lnTo>
                  <a:pt x="479279" y="734882"/>
                </a:lnTo>
                <a:lnTo>
                  <a:pt x="1072359" y="734882"/>
                </a:lnTo>
                <a:lnTo>
                  <a:pt x="1073654" y="734882"/>
                </a:lnTo>
              </a:path>
            </a:pathLst>
          </a:custGeom>
          <a:ln w="10612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75"/>
          <p:cNvGrpSpPr/>
          <p:nvPr/>
        </p:nvGrpSpPr>
        <p:grpSpPr>
          <a:xfrm>
            <a:off x="2526195" y="1847111"/>
            <a:ext cx="1080770" cy="873760"/>
            <a:chOff x="2526195" y="1847111"/>
            <a:chExt cx="1080770" cy="873760"/>
          </a:xfrm>
        </p:grpSpPr>
        <p:sp>
          <p:nvSpPr>
            <p:cNvPr id="76" name="object 76"/>
            <p:cNvSpPr/>
            <p:nvPr/>
          </p:nvSpPr>
          <p:spPr>
            <a:xfrm>
              <a:off x="2531501" y="1848436"/>
              <a:ext cx="1069975" cy="867410"/>
            </a:xfrm>
            <a:custGeom>
              <a:avLst/>
              <a:gdLst/>
              <a:ahLst/>
              <a:cxnLst/>
              <a:rect l="l" t="t" r="r" b="b"/>
              <a:pathLst>
                <a:path w="1069975" h="867410">
                  <a:moveTo>
                    <a:pt x="0" y="867221"/>
                  </a:moveTo>
                  <a:lnTo>
                    <a:pt x="0" y="0"/>
                  </a:lnTo>
                </a:path>
                <a:path w="1069975" h="867410">
                  <a:moveTo>
                    <a:pt x="213940" y="867221"/>
                  </a:moveTo>
                  <a:lnTo>
                    <a:pt x="213940" y="0"/>
                  </a:lnTo>
                </a:path>
                <a:path w="1069975" h="867410">
                  <a:moveTo>
                    <a:pt x="427880" y="867221"/>
                  </a:moveTo>
                  <a:lnTo>
                    <a:pt x="427880" y="0"/>
                  </a:lnTo>
                </a:path>
                <a:path w="1069975" h="867410">
                  <a:moveTo>
                    <a:pt x="641820" y="867221"/>
                  </a:moveTo>
                  <a:lnTo>
                    <a:pt x="641820" y="0"/>
                  </a:lnTo>
                </a:path>
                <a:path w="1069975" h="867410">
                  <a:moveTo>
                    <a:pt x="855761" y="867221"/>
                  </a:moveTo>
                  <a:lnTo>
                    <a:pt x="855761" y="0"/>
                  </a:lnTo>
                </a:path>
                <a:path w="1069975" h="867410">
                  <a:moveTo>
                    <a:pt x="1069701" y="867221"/>
                  </a:moveTo>
                  <a:lnTo>
                    <a:pt x="1069701" y="0"/>
                  </a:lnTo>
                </a:path>
                <a:path w="1069975" h="867410">
                  <a:moveTo>
                    <a:pt x="1069701" y="867221"/>
                  </a:moveTo>
                  <a:lnTo>
                    <a:pt x="0" y="867221"/>
                  </a:lnTo>
                </a:path>
                <a:path w="1069975" h="867410">
                  <a:moveTo>
                    <a:pt x="1069701" y="722687"/>
                  </a:moveTo>
                  <a:lnTo>
                    <a:pt x="0" y="722687"/>
                  </a:lnTo>
                </a:path>
                <a:path w="1069975" h="867410">
                  <a:moveTo>
                    <a:pt x="1069701" y="578148"/>
                  </a:moveTo>
                  <a:lnTo>
                    <a:pt x="0" y="578148"/>
                  </a:lnTo>
                </a:path>
                <a:path w="1069975" h="867410">
                  <a:moveTo>
                    <a:pt x="1069701" y="433611"/>
                  </a:moveTo>
                  <a:lnTo>
                    <a:pt x="0" y="433611"/>
                  </a:lnTo>
                </a:path>
                <a:path w="1069975" h="867410">
                  <a:moveTo>
                    <a:pt x="1069701" y="289074"/>
                  </a:moveTo>
                  <a:lnTo>
                    <a:pt x="0" y="289074"/>
                  </a:lnTo>
                </a:path>
                <a:path w="1069975" h="867410">
                  <a:moveTo>
                    <a:pt x="1069701" y="144537"/>
                  </a:moveTo>
                  <a:lnTo>
                    <a:pt x="0" y="144537"/>
                  </a:lnTo>
                </a:path>
                <a:path w="1069975" h="867410">
                  <a:moveTo>
                    <a:pt x="1069701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531501" y="1848436"/>
              <a:ext cx="1069975" cy="867410"/>
            </a:xfrm>
            <a:custGeom>
              <a:avLst/>
              <a:gdLst/>
              <a:ahLst/>
              <a:cxnLst/>
              <a:rect l="l" t="t" r="r" b="b"/>
              <a:pathLst>
                <a:path w="1069975" h="867410">
                  <a:moveTo>
                    <a:pt x="0" y="867221"/>
                  </a:moveTo>
                  <a:lnTo>
                    <a:pt x="1069701" y="867221"/>
                  </a:lnTo>
                </a:path>
                <a:path w="1069975" h="867410">
                  <a:moveTo>
                    <a:pt x="0" y="0"/>
                  </a:moveTo>
                  <a:lnTo>
                    <a:pt x="1069701" y="0"/>
                  </a:lnTo>
                </a:path>
                <a:path w="1069975" h="867410">
                  <a:moveTo>
                    <a:pt x="0" y="867221"/>
                  </a:moveTo>
                  <a:lnTo>
                    <a:pt x="0" y="856524"/>
                  </a:lnTo>
                </a:path>
                <a:path w="1069975" h="867410">
                  <a:moveTo>
                    <a:pt x="213940" y="867221"/>
                  </a:moveTo>
                  <a:lnTo>
                    <a:pt x="213940" y="856524"/>
                  </a:lnTo>
                </a:path>
                <a:path w="1069975" h="867410">
                  <a:moveTo>
                    <a:pt x="427880" y="867221"/>
                  </a:moveTo>
                  <a:lnTo>
                    <a:pt x="427880" y="856524"/>
                  </a:lnTo>
                </a:path>
                <a:path w="1069975" h="867410">
                  <a:moveTo>
                    <a:pt x="641820" y="867221"/>
                  </a:moveTo>
                  <a:lnTo>
                    <a:pt x="641820" y="856524"/>
                  </a:lnTo>
                </a:path>
                <a:path w="1069975" h="867410">
                  <a:moveTo>
                    <a:pt x="855761" y="867221"/>
                  </a:moveTo>
                  <a:lnTo>
                    <a:pt x="855761" y="856524"/>
                  </a:lnTo>
                </a:path>
                <a:path w="1069975" h="867410">
                  <a:moveTo>
                    <a:pt x="1069701" y="867221"/>
                  </a:moveTo>
                  <a:lnTo>
                    <a:pt x="1069701" y="856524"/>
                  </a:lnTo>
                </a:path>
                <a:path w="1069975" h="867410">
                  <a:moveTo>
                    <a:pt x="0" y="0"/>
                  </a:moveTo>
                  <a:lnTo>
                    <a:pt x="0" y="10697"/>
                  </a:lnTo>
                </a:path>
                <a:path w="1069975" h="867410">
                  <a:moveTo>
                    <a:pt x="213940" y="0"/>
                  </a:moveTo>
                  <a:lnTo>
                    <a:pt x="213940" y="10697"/>
                  </a:lnTo>
                </a:path>
                <a:path w="1069975" h="867410">
                  <a:moveTo>
                    <a:pt x="427880" y="0"/>
                  </a:moveTo>
                  <a:lnTo>
                    <a:pt x="427880" y="10697"/>
                  </a:lnTo>
                </a:path>
                <a:path w="1069975" h="867410">
                  <a:moveTo>
                    <a:pt x="641820" y="0"/>
                  </a:moveTo>
                  <a:lnTo>
                    <a:pt x="641820" y="10697"/>
                  </a:lnTo>
                </a:path>
                <a:path w="1069975" h="867410">
                  <a:moveTo>
                    <a:pt x="855761" y="0"/>
                  </a:moveTo>
                  <a:lnTo>
                    <a:pt x="855761" y="10697"/>
                  </a:lnTo>
                </a:path>
                <a:path w="1069975" h="867410">
                  <a:moveTo>
                    <a:pt x="1069701" y="0"/>
                  </a:moveTo>
                  <a:lnTo>
                    <a:pt x="1069701" y="10697"/>
                  </a:lnTo>
                </a:path>
                <a:path w="1069975" h="867410">
                  <a:moveTo>
                    <a:pt x="0" y="867221"/>
                  </a:moveTo>
                  <a:lnTo>
                    <a:pt x="0" y="0"/>
                  </a:lnTo>
                </a:path>
                <a:path w="1069975" h="867410">
                  <a:moveTo>
                    <a:pt x="1069701" y="867221"/>
                  </a:moveTo>
                  <a:lnTo>
                    <a:pt x="1069701" y="0"/>
                  </a:lnTo>
                </a:path>
                <a:path w="1069975" h="867410">
                  <a:moveTo>
                    <a:pt x="0" y="867221"/>
                  </a:moveTo>
                  <a:lnTo>
                    <a:pt x="10697" y="867221"/>
                  </a:lnTo>
                </a:path>
                <a:path w="1069975" h="867410">
                  <a:moveTo>
                    <a:pt x="0" y="722687"/>
                  </a:moveTo>
                  <a:lnTo>
                    <a:pt x="10697" y="722687"/>
                  </a:lnTo>
                </a:path>
                <a:path w="1069975" h="867410">
                  <a:moveTo>
                    <a:pt x="0" y="578148"/>
                  </a:moveTo>
                  <a:lnTo>
                    <a:pt x="10697" y="578148"/>
                  </a:lnTo>
                </a:path>
                <a:path w="1069975" h="867410">
                  <a:moveTo>
                    <a:pt x="0" y="433611"/>
                  </a:moveTo>
                  <a:lnTo>
                    <a:pt x="10697" y="433611"/>
                  </a:lnTo>
                </a:path>
                <a:path w="1069975" h="867410">
                  <a:moveTo>
                    <a:pt x="0" y="289074"/>
                  </a:moveTo>
                  <a:lnTo>
                    <a:pt x="10697" y="289074"/>
                  </a:lnTo>
                </a:path>
                <a:path w="1069975" h="867410">
                  <a:moveTo>
                    <a:pt x="0" y="144537"/>
                  </a:moveTo>
                  <a:lnTo>
                    <a:pt x="10697" y="144537"/>
                  </a:lnTo>
                </a:path>
                <a:path w="1069975" h="867410">
                  <a:moveTo>
                    <a:pt x="0" y="0"/>
                  </a:moveTo>
                  <a:lnTo>
                    <a:pt x="10697" y="0"/>
                  </a:lnTo>
                </a:path>
                <a:path w="1069975" h="867410">
                  <a:moveTo>
                    <a:pt x="1069701" y="867221"/>
                  </a:moveTo>
                  <a:lnTo>
                    <a:pt x="1059004" y="867221"/>
                  </a:lnTo>
                </a:path>
                <a:path w="1069975" h="867410">
                  <a:moveTo>
                    <a:pt x="1069701" y="722687"/>
                  </a:moveTo>
                  <a:lnTo>
                    <a:pt x="1059004" y="722687"/>
                  </a:lnTo>
                </a:path>
                <a:path w="1069975" h="867410">
                  <a:moveTo>
                    <a:pt x="1069701" y="578148"/>
                  </a:moveTo>
                  <a:lnTo>
                    <a:pt x="1059004" y="578148"/>
                  </a:lnTo>
                </a:path>
                <a:path w="1069975" h="867410">
                  <a:moveTo>
                    <a:pt x="1069701" y="433611"/>
                  </a:moveTo>
                  <a:lnTo>
                    <a:pt x="1059004" y="433611"/>
                  </a:lnTo>
                </a:path>
                <a:path w="1069975" h="867410">
                  <a:moveTo>
                    <a:pt x="1069701" y="289074"/>
                  </a:moveTo>
                  <a:lnTo>
                    <a:pt x="1059004" y="289074"/>
                  </a:lnTo>
                </a:path>
                <a:path w="1069975" h="867410">
                  <a:moveTo>
                    <a:pt x="1069701" y="144537"/>
                  </a:moveTo>
                  <a:lnTo>
                    <a:pt x="1059004" y="144537"/>
                  </a:lnTo>
                </a:path>
                <a:path w="1069975" h="867410">
                  <a:moveTo>
                    <a:pt x="1069701" y="0"/>
                  </a:moveTo>
                  <a:lnTo>
                    <a:pt x="1059004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531501" y="2054991"/>
              <a:ext cx="1069975" cy="660400"/>
            </a:xfrm>
            <a:custGeom>
              <a:avLst/>
              <a:gdLst/>
              <a:ahLst/>
              <a:cxnLst/>
              <a:rect l="l" t="t" r="r" b="b"/>
              <a:pathLst>
                <a:path w="1069975" h="660400">
                  <a:moveTo>
                    <a:pt x="0" y="657775"/>
                  </a:moveTo>
                  <a:lnTo>
                    <a:pt x="5" y="657630"/>
                  </a:lnTo>
                  <a:lnTo>
                    <a:pt x="10" y="657485"/>
                  </a:lnTo>
                  <a:lnTo>
                    <a:pt x="15" y="657340"/>
                  </a:lnTo>
                  <a:lnTo>
                    <a:pt x="21" y="657195"/>
                  </a:lnTo>
                  <a:lnTo>
                    <a:pt x="42" y="656469"/>
                  </a:lnTo>
                  <a:lnTo>
                    <a:pt x="63" y="655746"/>
                  </a:lnTo>
                  <a:lnTo>
                    <a:pt x="84" y="655021"/>
                  </a:lnTo>
                  <a:lnTo>
                    <a:pt x="106" y="654299"/>
                  </a:lnTo>
                  <a:lnTo>
                    <a:pt x="222" y="650689"/>
                  </a:lnTo>
                  <a:lnTo>
                    <a:pt x="334" y="647097"/>
                  </a:lnTo>
                  <a:lnTo>
                    <a:pt x="1687" y="605173"/>
                  </a:lnTo>
                  <a:lnTo>
                    <a:pt x="5444" y="499398"/>
                  </a:lnTo>
                  <a:lnTo>
                    <a:pt x="8081" y="434135"/>
                  </a:lnTo>
                  <a:lnTo>
                    <a:pt x="10718" y="375499"/>
                  </a:lnTo>
                  <a:lnTo>
                    <a:pt x="13350" y="322969"/>
                  </a:lnTo>
                  <a:lnTo>
                    <a:pt x="16607" y="265685"/>
                  </a:lnTo>
                  <a:lnTo>
                    <a:pt x="19865" y="216121"/>
                  </a:lnTo>
                  <a:lnTo>
                    <a:pt x="23123" y="173497"/>
                  </a:lnTo>
                  <a:lnTo>
                    <a:pt x="30048" y="102778"/>
                  </a:lnTo>
                  <a:lnTo>
                    <a:pt x="37381" y="52110"/>
                  </a:lnTo>
                  <a:lnTo>
                    <a:pt x="49219" y="9301"/>
                  </a:lnTo>
                  <a:lnTo>
                    <a:pt x="57385" y="0"/>
                  </a:lnTo>
                  <a:lnTo>
                    <a:pt x="61942" y="53"/>
                  </a:lnTo>
                  <a:lnTo>
                    <a:pt x="85645" y="38500"/>
                  </a:lnTo>
                  <a:lnTo>
                    <a:pt x="101229" y="82365"/>
                  </a:lnTo>
                  <a:lnTo>
                    <a:pt x="117868" y="134492"/>
                  </a:lnTo>
                  <a:lnTo>
                    <a:pt x="123482" y="152342"/>
                  </a:lnTo>
                  <a:lnTo>
                    <a:pt x="129096" y="170085"/>
                  </a:lnTo>
                  <a:lnTo>
                    <a:pt x="145975" y="221910"/>
                  </a:lnTo>
                  <a:lnTo>
                    <a:pt x="162917" y="270444"/>
                  </a:lnTo>
                  <a:lnTo>
                    <a:pt x="179944" y="314983"/>
                  </a:lnTo>
                  <a:lnTo>
                    <a:pt x="197024" y="355224"/>
                  </a:lnTo>
                  <a:lnTo>
                    <a:pt x="214147" y="391252"/>
                  </a:lnTo>
                  <a:lnTo>
                    <a:pt x="237064" y="433203"/>
                  </a:lnTo>
                  <a:lnTo>
                    <a:pt x="260049" y="468904"/>
                  </a:lnTo>
                  <a:lnTo>
                    <a:pt x="288861" y="505962"/>
                  </a:lnTo>
                  <a:lnTo>
                    <a:pt x="317748" y="535974"/>
                  </a:lnTo>
                  <a:lnTo>
                    <a:pt x="347345" y="560716"/>
                  </a:lnTo>
                  <a:lnTo>
                    <a:pt x="385458" y="585495"/>
                  </a:lnTo>
                  <a:lnTo>
                    <a:pt x="422224" y="603564"/>
                  </a:lnTo>
                  <a:lnTo>
                    <a:pt x="466556" y="619679"/>
                  </a:lnTo>
                  <a:lnTo>
                    <a:pt x="510633" y="631189"/>
                  </a:lnTo>
                  <a:lnTo>
                    <a:pt x="551793" y="638999"/>
                  </a:lnTo>
                  <a:lnTo>
                    <a:pt x="601150" y="645688"/>
                  </a:lnTo>
                  <a:lnTo>
                    <a:pt x="661023" y="651097"/>
                  </a:lnTo>
                  <a:lnTo>
                    <a:pt x="709515" y="654010"/>
                  </a:lnTo>
                  <a:lnTo>
                    <a:pt x="760172" y="656107"/>
                  </a:lnTo>
                  <a:lnTo>
                    <a:pt x="812983" y="657595"/>
                  </a:lnTo>
                  <a:lnTo>
                    <a:pt x="865678" y="658596"/>
                  </a:lnTo>
                  <a:lnTo>
                    <a:pt x="918256" y="659270"/>
                  </a:lnTo>
                  <a:lnTo>
                    <a:pt x="970844" y="659724"/>
                  </a:lnTo>
                  <a:lnTo>
                    <a:pt x="1023454" y="660030"/>
                  </a:lnTo>
                  <a:lnTo>
                    <a:pt x="1068544" y="660213"/>
                  </a:lnTo>
                  <a:lnTo>
                    <a:pt x="1069829" y="660217"/>
                  </a:lnTo>
                </a:path>
              </a:pathLst>
            </a:custGeom>
            <a:ln w="10612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2501610" y="2720787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698359" y="2720787"/>
            <a:ext cx="298450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26060" algn="l"/>
              </a:tabLst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20</a:t>
            </a: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	</a:t>
            </a: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126242" y="2720787"/>
            <a:ext cx="8445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60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340183" y="2720787"/>
            <a:ext cx="311150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08915" algn="l"/>
              </a:tabLst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80</a:t>
            </a: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	</a:t>
            </a: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868366" y="2793374"/>
            <a:ext cx="353060" cy="95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Time</a:t>
            </a:r>
            <a:r>
              <a:rPr sz="45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50" spc="-10" dirty="0">
                <a:solidFill>
                  <a:srgbClr val="252525"/>
                </a:solidFill>
                <a:latin typeface="Arial MT"/>
                <a:cs typeface="Arial MT"/>
              </a:rPr>
              <a:t>(years)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463194" y="2667090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463194" y="2522552"/>
            <a:ext cx="55244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428810" y="2378016"/>
            <a:ext cx="8445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428810" y="2233480"/>
            <a:ext cx="8445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428810" y="2088942"/>
            <a:ext cx="8445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428810" y="1944405"/>
            <a:ext cx="8445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428810" y="1799867"/>
            <a:ext cx="84455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30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352512" y="2067251"/>
            <a:ext cx="83820" cy="489584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Recovered</a:t>
            </a:r>
            <a:r>
              <a:rPr sz="450" spc="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(in</a:t>
            </a:r>
            <a:r>
              <a:rPr sz="450" spc="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50" spc="-25" dirty="0">
                <a:solidFill>
                  <a:srgbClr val="252525"/>
                </a:solidFill>
                <a:latin typeface="Arial MT"/>
                <a:cs typeface="Arial MT"/>
              </a:rPr>
              <a:t>m.)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748023" y="1751581"/>
            <a:ext cx="531495" cy="95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" b="1" dirty="0">
                <a:latin typeface="Arial"/>
                <a:cs typeface="Arial"/>
              </a:rPr>
              <a:t>(d)</a:t>
            </a:r>
            <a:r>
              <a:rPr sz="450" b="1" spc="25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Recovered</a:t>
            </a:r>
            <a:r>
              <a:rPr sz="450" b="1" spc="30" dirty="0">
                <a:latin typeface="Arial"/>
                <a:cs typeface="Arial"/>
              </a:rPr>
              <a:t> </a:t>
            </a:r>
            <a:r>
              <a:rPr sz="450" b="1" spc="-20" dirty="0">
                <a:latin typeface="Arial"/>
                <a:cs typeface="Arial"/>
              </a:rPr>
              <a:t>R(t)</a:t>
            </a:r>
            <a:endParaRPr sz="4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54164" y="3115962"/>
            <a:ext cx="3500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Times New Roman"/>
                <a:cs typeface="Times New Roman"/>
              </a:rPr>
              <a:t>Figure</a:t>
            </a:r>
            <a:r>
              <a:rPr sz="1000" spc="17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3333B2"/>
                </a:solidFill>
                <a:latin typeface="Times New Roman"/>
                <a:cs typeface="Times New Roman"/>
              </a:rPr>
              <a:t>1:</a:t>
            </a:r>
            <a:r>
              <a:rPr sz="1000" spc="18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series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under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disease-free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equilibrium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(</a:t>
            </a:r>
            <a:r>
              <a:rPr sz="1000" i="1" u="dbl" spc="80" dirty="0">
                <a:uFill>
                  <a:solidFill>
                    <a:srgbClr val="D6D6EF"/>
                  </a:solidFill>
                </a:uFill>
                <a:latin typeface="Calibri"/>
                <a:cs typeface="Calibri"/>
              </a:rPr>
              <a:t>R</a:t>
            </a:r>
            <a:r>
              <a:rPr sz="1050" spc="120" baseline="-11904" dirty="0">
                <a:latin typeface="Roboto"/>
                <a:cs typeface="Roboto"/>
                <a:hlinkClick r:id="rId2" action="ppaction://hlinksldjump"/>
              </a:rPr>
              <a:t>0</a:t>
            </a:r>
            <a:r>
              <a:rPr sz="1050" spc="367" baseline="-11904" dirty="0">
                <a:latin typeface="Roboto"/>
                <a:cs typeface="Roboto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&lt;</a:t>
            </a:r>
            <a:r>
              <a:rPr sz="1000" i="1" spc="135" dirty="0">
                <a:latin typeface="Calibri"/>
                <a:cs typeface="Calibri"/>
              </a:rPr>
              <a:t> </a:t>
            </a:r>
            <a:r>
              <a:rPr sz="1000" u="dbl" spc="-25" dirty="0">
                <a:uFill>
                  <a:solidFill>
                    <a:srgbClr val="ADADE0"/>
                  </a:solidFill>
                </a:uFill>
                <a:latin typeface="Tahoma"/>
                <a:cs typeface="Tahoma"/>
              </a:rPr>
              <a:t>1</a:t>
            </a:r>
            <a:r>
              <a:rPr sz="1000" spc="-25" dirty="0">
                <a:latin typeface="Times New Roman"/>
                <a:cs typeface="Times New Roman"/>
              </a:rPr>
              <a:t>).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95" name="object 95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98" name="object 9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11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Stability</a:t>
            </a:r>
            <a:r>
              <a:rPr spc="275" dirty="0"/>
              <a:t> </a:t>
            </a:r>
            <a:r>
              <a:rPr dirty="0"/>
              <a:t>Analysis:</a:t>
            </a:r>
            <a:r>
              <a:rPr spc="484" dirty="0"/>
              <a:t> </a:t>
            </a:r>
            <a:r>
              <a:rPr dirty="0"/>
              <a:t>Endemic</a:t>
            </a:r>
            <a:r>
              <a:rPr spc="280" dirty="0"/>
              <a:t> </a:t>
            </a:r>
            <a:r>
              <a:rPr spc="-10" dirty="0"/>
              <a:t>Equilibrium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744" y="588758"/>
            <a:ext cx="4317365" cy="1708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characteristic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equation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of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i="1" spc="135" dirty="0">
                <a:latin typeface="Calibri"/>
                <a:cs typeface="Calibri"/>
              </a:rPr>
              <a:t>J</a:t>
            </a:r>
            <a:r>
              <a:rPr sz="1100" spc="135" dirty="0">
                <a:latin typeface="Tahoma"/>
                <a:cs typeface="Tahoma"/>
              </a:rPr>
              <a:t>(</a:t>
            </a:r>
            <a:r>
              <a:rPr sz="1100" i="1" spc="135" dirty="0">
                <a:latin typeface="Calibri"/>
                <a:cs typeface="Calibri"/>
              </a:rPr>
              <a:t>E</a:t>
            </a:r>
            <a:r>
              <a:rPr sz="1200" spc="202" baseline="-10416" dirty="0">
                <a:latin typeface="Calibri"/>
                <a:cs typeface="Calibri"/>
              </a:rPr>
              <a:t>1</a:t>
            </a:r>
            <a:r>
              <a:rPr sz="1100" spc="135" dirty="0">
                <a:latin typeface="Tahoma"/>
                <a:cs typeface="Tahoma"/>
              </a:rPr>
              <a:t>)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is:</a:t>
            </a: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i="1" spc="70" dirty="0">
                <a:latin typeface="Calibri"/>
                <a:cs typeface="Calibri"/>
              </a:rPr>
              <a:t>λ</a:t>
            </a:r>
            <a:r>
              <a:rPr sz="1200" spc="104" baseline="27777" dirty="0">
                <a:latin typeface="Calibri"/>
                <a:cs typeface="Calibri"/>
              </a:rPr>
              <a:t>4</a:t>
            </a:r>
            <a:r>
              <a:rPr sz="1200" spc="195" baseline="27777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55" dirty="0">
                <a:latin typeface="Calibri"/>
                <a:cs typeface="Calibri"/>
              </a:rPr>
              <a:t>a</a:t>
            </a:r>
            <a:r>
              <a:rPr sz="1200" spc="82" baseline="-10416" dirty="0">
                <a:latin typeface="Calibri"/>
                <a:cs typeface="Calibri"/>
              </a:rPr>
              <a:t>1</a:t>
            </a:r>
            <a:r>
              <a:rPr sz="1100" i="1" spc="55" dirty="0">
                <a:latin typeface="Calibri"/>
                <a:cs typeface="Calibri"/>
              </a:rPr>
              <a:t>λ</a:t>
            </a:r>
            <a:r>
              <a:rPr sz="1200" spc="82" baseline="27777" dirty="0">
                <a:latin typeface="Calibri"/>
                <a:cs typeface="Calibri"/>
              </a:rPr>
              <a:t>3</a:t>
            </a:r>
            <a:r>
              <a:rPr sz="1200" spc="195" baseline="27777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Calibri"/>
                <a:cs typeface="Calibri"/>
              </a:rPr>
              <a:t>a</a:t>
            </a:r>
            <a:r>
              <a:rPr sz="1200" spc="82" baseline="-10416" dirty="0">
                <a:latin typeface="Calibri"/>
                <a:cs typeface="Calibri"/>
              </a:rPr>
              <a:t>2</a:t>
            </a:r>
            <a:r>
              <a:rPr sz="1100" i="1" spc="55" dirty="0">
                <a:latin typeface="Calibri"/>
                <a:cs typeface="Calibri"/>
              </a:rPr>
              <a:t>λ</a:t>
            </a:r>
            <a:r>
              <a:rPr sz="1200" spc="82" baseline="27777" dirty="0">
                <a:latin typeface="Calibri"/>
                <a:cs typeface="Calibri"/>
              </a:rPr>
              <a:t>2</a:t>
            </a:r>
            <a:r>
              <a:rPr sz="1200" spc="195" baseline="27777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spc="65" dirty="0">
                <a:latin typeface="Calibri"/>
                <a:cs typeface="Calibri"/>
              </a:rPr>
              <a:t>a</a:t>
            </a:r>
            <a:r>
              <a:rPr sz="1200" spc="97" baseline="-10416" dirty="0">
                <a:latin typeface="Calibri"/>
                <a:cs typeface="Calibri"/>
              </a:rPr>
              <a:t>3</a:t>
            </a:r>
            <a:r>
              <a:rPr sz="1100" i="1" spc="65" dirty="0">
                <a:latin typeface="Calibri"/>
                <a:cs typeface="Calibri"/>
              </a:rPr>
              <a:t>λ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4</a:t>
            </a:r>
            <a:r>
              <a:rPr sz="1200" spc="292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100">
              <a:latin typeface="Tahoma"/>
              <a:cs typeface="Tahoma"/>
            </a:endParaRPr>
          </a:p>
          <a:p>
            <a:pPr marL="165735">
              <a:lnSpc>
                <a:spcPct val="100000"/>
              </a:lnSpc>
            </a:pP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1</a:t>
            </a:r>
            <a:r>
              <a:rPr sz="1200" spc="315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spc="55" dirty="0">
                <a:latin typeface="Cambria"/>
                <a:cs typeface="Cambria"/>
              </a:rPr>
              <a:t>−</a:t>
            </a:r>
            <a:r>
              <a:rPr sz="1100" spc="55" dirty="0">
                <a:latin typeface="Tahoma"/>
                <a:cs typeface="Tahoma"/>
              </a:rPr>
              <a:t>(</a:t>
            </a:r>
            <a:r>
              <a:rPr sz="1100" i="1" spc="55" dirty="0">
                <a:latin typeface="Calibri"/>
                <a:cs typeface="Calibri"/>
              </a:rPr>
              <a:t>a</a:t>
            </a:r>
            <a:r>
              <a:rPr sz="1200" spc="82" baseline="-10416" dirty="0">
                <a:latin typeface="Calibri"/>
                <a:cs typeface="Calibri"/>
              </a:rPr>
              <a:t>11</a:t>
            </a:r>
            <a:r>
              <a:rPr sz="1200" spc="209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22</a:t>
            </a:r>
            <a:r>
              <a:rPr sz="1200" spc="217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33</a:t>
            </a:r>
            <a:r>
              <a:rPr sz="1200" spc="217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a</a:t>
            </a:r>
            <a:r>
              <a:rPr sz="1200" spc="-30" baseline="-10416" dirty="0">
                <a:latin typeface="Calibri"/>
                <a:cs typeface="Calibri"/>
              </a:rPr>
              <a:t>44</a:t>
            </a:r>
            <a:r>
              <a:rPr sz="1100" spc="-20" dirty="0">
                <a:latin typeface="Tahoma"/>
                <a:cs typeface="Tahoma"/>
              </a:rPr>
              <a:t>)</a:t>
            </a:r>
            <a:r>
              <a:rPr sz="1100" i="1" spc="-20" dirty="0">
                <a:latin typeface="Calibri"/>
                <a:cs typeface="Calibri"/>
              </a:rPr>
              <a:t>,</a:t>
            </a:r>
            <a:endParaRPr sz="1100">
              <a:latin typeface="Calibri"/>
              <a:cs typeface="Calibri"/>
            </a:endParaRPr>
          </a:p>
          <a:p>
            <a:pPr marL="165735" marR="43180">
              <a:lnSpc>
                <a:spcPct val="125299"/>
              </a:lnSpc>
              <a:spcBef>
                <a:spcPts val="165"/>
              </a:spcBef>
            </a:pP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2</a:t>
            </a:r>
            <a:r>
              <a:rPr sz="800" spc="265" dirty="0">
                <a:latin typeface="Calibri"/>
                <a:cs typeface="Calibri"/>
              </a:rPr>
              <a:t> </a:t>
            </a:r>
            <a:r>
              <a:rPr sz="1650" baseline="7575" dirty="0">
                <a:latin typeface="Tahoma"/>
                <a:cs typeface="Tahoma"/>
              </a:rPr>
              <a:t>=</a:t>
            </a:r>
            <a:r>
              <a:rPr sz="1650" spc="89" baseline="7575" dirty="0">
                <a:latin typeface="Tahoma"/>
                <a:cs typeface="Tahoma"/>
              </a:rPr>
              <a:t> </a:t>
            </a:r>
            <a:r>
              <a:rPr sz="1650" baseline="7575" dirty="0">
                <a:latin typeface="Tahoma"/>
                <a:cs typeface="Tahoma"/>
              </a:rPr>
              <a:t>(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33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44</a:t>
            </a:r>
            <a:r>
              <a:rPr sz="800" spc="190" dirty="0">
                <a:latin typeface="Calibri"/>
                <a:cs typeface="Calibri"/>
              </a:rPr>
              <a:t> </a:t>
            </a: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44" baseline="7575" dirty="0">
                <a:latin typeface="Tahoma"/>
                <a:cs typeface="Tahoma"/>
              </a:rPr>
              <a:t> 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11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44</a:t>
            </a:r>
            <a:r>
              <a:rPr sz="800" spc="190" dirty="0">
                <a:latin typeface="Calibri"/>
                <a:cs typeface="Calibri"/>
              </a:rPr>
              <a:t> </a:t>
            </a: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44" baseline="7575" dirty="0">
                <a:latin typeface="Tahoma"/>
                <a:cs typeface="Tahoma"/>
              </a:rPr>
              <a:t> 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11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22</a:t>
            </a:r>
            <a:r>
              <a:rPr sz="800" spc="195" dirty="0">
                <a:latin typeface="Calibri"/>
                <a:cs typeface="Calibri"/>
              </a:rPr>
              <a:t> </a:t>
            </a:r>
            <a:r>
              <a:rPr sz="1650" spc="345" baseline="7575" dirty="0">
                <a:latin typeface="Cambria"/>
                <a:cs typeface="Cambria"/>
              </a:rPr>
              <a:t>−</a:t>
            </a:r>
            <a:r>
              <a:rPr sz="1650" spc="104" baseline="7575" dirty="0">
                <a:latin typeface="Cambria"/>
                <a:cs typeface="Cambria"/>
              </a:rPr>
              <a:t> 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12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21</a:t>
            </a:r>
            <a:r>
              <a:rPr sz="800" spc="195" dirty="0">
                <a:latin typeface="Calibri"/>
                <a:cs typeface="Calibri"/>
              </a:rPr>
              <a:t> </a:t>
            </a: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44" baseline="7575" dirty="0">
                <a:latin typeface="Tahoma"/>
                <a:cs typeface="Tahoma"/>
              </a:rPr>
              <a:t> 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11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33</a:t>
            </a:r>
            <a:r>
              <a:rPr sz="800" spc="190" dirty="0">
                <a:latin typeface="Calibri"/>
                <a:cs typeface="Calibri"/>
              </a:rPr>
              <a:t> </a:t>
            </a: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44" baseline="7575" dirty="0">
                <a:latin typeface="Tahoma"/>
                <a:cs typeface="Tahoma"/>
              </a:rPr>
              <a:t> 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22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44</a:t>
            </a:r>
            <a:r>
              <a:rPr sz="800" spc="190" dirty="0">
                <a:latin typeface="Calibri"/>
                <a:cs typeface="Calibri"/>
              </a:rPr>
              <a:t> </a:t>
            </a: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44" baseline="7575" dirty="0">
                <a:latin typeface="Tahoma"/>
                <a:cs typeface="Tahoma"/>
              </a:rPr>
              <a:t> </a:t>
            </a:r>
            <a:r>
              <a:rPr sz="1650" i="1" spc="-15" baseline="7575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22</a:t>
            </a:r>
            <a:r>
              <a:rPr sz="1650" i="1" spc="-15" baseline="7575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33</a:t>
            </a:r>
            <a:r>
              <a:rPr sz="1650" spc="-15" baseline="7575" dirty="0">
                <a:latin typeface="Tahoma"/>
                <a:cs typeface="Tahoma"/>
              </a:rPr>
              <a:t>)</a:t>
            </a:r>
            <a:r>
              <a:rPr sz="1650" i="1" spc="-15" baseline="7575" dirty="0">
                <a:latin typeface="Calibri"/>
                <a:cs typeface="Calibri"/>
              </a:rPr>
              <a:t>, </a:t>
            </a:r>
            <a:r>
              <a:rPr sz="1650" i="1" spc="30" baseline="7575" dirty="0">
                <a:latin typeface="Calibri"/>
                <a:cs typeface="Calibri"/>
              </a:rPr>
              <a:t>a</a:t>
            </a:r>
            <a:r>
              <a:rPr sz="800" spc="20" dirty="0">
                <a:latin typeface="Calibri"/>
                <a:cs typeface="Calibri"/>
              </a:rPr>
              <a:t>3</a:t>
            </a:r>
            <a:r>
              <a:rPr sz="800" spc="225" dirty="0">
                <a:latin typeface="Calibri"/>
                <a:cs typeface="Calibri"/>
              </a:rPr>
              <a:t> </a:t>
            </a:r>
            <a:r>
              <a:rPr sz="1650" spc="30" baseline="7575" dirty="0">
                <a:latin typeface="Tahoma"/>
                <a:cs typeface="Tahoma"/>
              </a:rPr>
              <a:t>= </a:t>
            </a:r>
            <a:r>
              <a:rPr sz="1650" spc="30" baseline="7575" dirty="0">
                <a:latin typeface="Cambria"/>
                <a:cs typeface="Cambria"/>
              </a:rPr>
              <a:t>−</a:t>
            </a:r>
            <a:r>
              <a:rPr sz="1650" spc="30" baseline="7575" dirty="0">
                <a:latin typeface="Tahoma"/>
                <a:cs typeface="Tahoma"/>
              </a:rPr>
              <a:t>(</a:t>
            </a:r>
            <a:r>
              <a:rPr sz="1650" i="1" spc="30" baseline="7575" dirty="0">
                <a:latin typeface="Calibri"/>
                <a:cs typeface="Calibri"/>
              </a:rPr>
              <a:t>a</a:t>
            </a:r>
            <a:r>
              <a:rPr sz="800" spc="20" dirty="0">
                <a:latin typeface="Calibri"/>
                <a:cs typeface="Calibri"/>
              </a:rPr>
              <a:t>22</a:t>
            </a:r>
            <a:r>
              <a:rPr sz="1650" i="1" spc="30" baseline="7575" dirty="0">
                <a:latin typeface="Calibri"/>
                <a:cs typeface="Calibri"/>
              </a:rPr>
              <a:t>a</a:t>
            </a:r>
            <a:r>
              <a:rPr sz="800" spc="20" dirty="0">
                <a:latin typeface="Calibri"/>
                <a:cs typeface="Calibri"/>
              </a:rPr>
              <a:t>33</a:t>
            </a:r>
            <a:r>
              <a:rPr sz="1650" i="1" spc="30" baseline="7575" dirty="0">
                <a:latin typeface="Calibri"/>
                <a:cs typeface="Calibri"/>
              </a:rPr>
              <a:t>a</a:t>
            </a:r>
            <a:r>
              <a:rPr sz="800" spc="20" dirty="0">
                <a:latin typeface="Calibri"/>
                <a:cs typeface="Calibri"/>
              </a:rPr>
              <a:t>44</a:t>
            </a:r>
            <a:r>
              <a:rPr sz="800" spc="160" dirty="0">
                <a:latin typeface="Calibri"/>
                <a:cs typeface="Calibri"/>
              </a:rPr>
              <a:t> </a:t>
            </a:r>
            <a:r>
              <a:rPr sz="1650" spc="30" baseline="7575" dirty="0">
                <a:latin typeface="Tahoma"/>
                <a:cs typeface="Tahoma"/>
              </a:rPr>
              <a:t>+</a:t>
            </a:r>
            <a:r>
              <a:rPr sz="1650" spc="-89" baseline="7575" dirty="0">
                <a:latin typeface="Tahoma"/>
                <a:cs typeface="Tahoma"/>
              </a:rPr>
              <a:t> </a:t>
            </a:r>
            <a:r>
              <a:rPr sz="1650" i="1" spc="30" baseline="7575" dirty="0">
                <a:latin typeface="Calibri"/>
                <a:cs typeface="Calibri"/>
              </a:rPr>
              <a:t>a</a:t>
            </a:r>
            <a:r>
              <a:rPr sz="800" spc="20" dirty="0">
                <a:latin typeface="Calibri"/>
                <a:cs typeface="Calibri"/>
              </a:rPr>
              <a:t>11</a:t>
            </a:r>
            <a:r>
              <a:rPr sz="1650" i="1" spc="30" baseline="7575" dirty="0">
                <a:latin typeface="Calibri"/>
                <a:cs typeface="Calibri"/>
              </a:rPr>
              <a:t>a</a:t>
            </a:r>
            <a:r>
              <a:rPr sz="800" spc="20" dirty="0">
                <a:latin typeface="Calibri"/>
                <a:cs typeface="Calibri"/>
              </a:rPr>
              <a:t>33</a:t>
            </a:r>
            <a:r>
              <a:rPr sz="1650" i="1" spc="30" baseline="7575" dirty="0">
                <a:latin typeface="Calibri"/>
                <a:cs typeface="Calibri"/>
              </a:rPr>
              <a:t>a</a:t>
            </a:r>
            <a:r>
              <a:rPr sz="800" spc="20" dirty="0">
                <a:latin typeface="Calibri"/>
                <a:cs typeface="Calibri"/>
              </a:rPr>
              <a:t>44</a:t>
            </a:r>
            <a:r>
              <a:rPr sz="800" spc="160" dirty="0">
                <a:latin typeface="Calibri"/>
                <a:cs typeface="Calibri"/>
              </a:rPr>
              <a:t> </a:t>
            </a:r>
            <a:r>
              <a:rPr sz="1650" spc="30" baseline="7575" dirty="0">
                <a:latin typeface="Tahoma"/>
                <a:cs typeface="Tahoma"/>
              </a:rPr>
              <a:t>+</a:t>
            </a:r>
            <a:r>
              <a:rPr sz="1650" spc="-89" baseline="7575" dirty="0">
                <a:latin typeface="Tahoma"/>
                <a:cs typeface="Tahoma"/>
              </a:rPr>
              <a:t> </a:t>
            </a:r>
            <a:r>
              <a:rPr sz="1650" i="1" spc="30" baseline="7575" dirty="0">
                <a:latin typeface="Calibri"/>
                <a:cs typeface="Calibri"/>
              </a:rPr>
              <a:t>a</a:t>
            </a:r>
            <a:r>
              <a:rPr sz="800" spc="20" dirty="0">
                <a:latin typeface="Calibri"/>
                <a:cs typeface="Calibri"/>
              </a:rPr>
              <a:t>11</a:t>
            </a:r>
            <a:r>
              <a:rPr sz="1650" i="1" spc="30" baseline="7575" dirty="0">
                <a:latin typeface="Calibri"/>
                <a:cs typeface="Calibri"/>
              </a:rPr>
              <a:t>a</a:t>
            </a:r>
            <a:r>
              <a:rPr sz="800" spc="20" dirty="0">
                <a:latin typeface="Calibri"/>
                <a:cs typeface="Calibri"/>
              </a:rPr>
              <a:t>22</a:t>
            </a:r>
            <a:r>
              <a:rPr sz="1650" i="1" spc="30" baseline="7575" dirty="0">
                <a:latin typeface="Calibri"/>
                <a:cs typeface="Calibri"/>
              </a:rPr>
              <a:t>a</a:t>
            </a:r>
            <a:r>
              <a:rPr sz="800" spc="20" dirty="0">
                <a:latin typeface="Calibri"/>
                <a:cs typeface="Calibri"/>
              </a:rPr>
              <a:t>44</a:t>
            </a:r>
            <a:r>
              <a:rPr sz="800" spc="160" dirty="0">
                <a:latin typeface="Calibri"/>
                <a:cs typeface="Calibri"/>
              </a:rPr>
              <a:t> </a:t>
            </a:r>
            <a:r>
              <a:rPr sz="1650" spc="345" baseline="7575" dirty="0">
                <a:latin typeface="Cambria"/>
                <a:cs typeface="Cambria"/>
              </a:rPr>
              <a:t>−</a:t>
            </a:r>
            <a:r>
              <a:rPr sz="1650" spc="67" baseline="7575" dirty="0">
                <a:latin typeface="Cambria"/>
                <a:cs typeface="Cambria"/>
              </a:rPr>
              <a:t> </a:t>
            </a:r>
            <a:r>
              <a:rPr sz="1650" i="1" spc="30" baseline="7575" dirty="0">
                <a:latin typeface="Calibri"/>
                <a:cs typeface="Calibri"/>
              </a:rPr>
              <a:t>a</a:t>
            </a:r>
            <a:r>
              <a:rPr sz="800" spc="20" dirty="0">
                <a:latin typeface="Calibri"/>
                <a:cs typeface="Calibri"/>
              </a:rPr>
              <a:t>12</a:t>
            </a:r>
            <a:r>
              <a:rPr sz="1650" i="1" spc="30" baseline="7575" dirty="0">
                <a:latin typeface="Calibri"/>
                <a:cs typeface="Calibri"/>
              </a:rPr>
              <a:t>a</a:t>
            </a:r>
            <a:r>
              <a:rPr sz="800" spc="20" dirty="0">
                <a:latin typeface="Calibri"/>
                <a:cs typeface="Calibri"/>
              </a:rPr>
              <a:t>21</a:t>
            </a:r>
            <a:r>
              <a:rPr sz="1650" i="1" spc="30" baseline="7575" dirty="0">
                <a:latin typeface="Calibri"/>
                <a:cs typeface="Calibri"/>
              </a:rPr>
              <a:t>a</a:t>
            </a:r>
            <a:r>
              <a:rPr sz="800" spc="20" dirty="0">
                <a:latin typeface="Calibri"/>
                <a:cs typeface="Calibri"/>
              </a:rPr>
              <a:t>44</a:t>
            </a:r>
            <a:r>
              <a:rPr sz="800" spc="160" dirty="0">
                <a:latin typeface="Calibri"/>
                <a:cs typeface="Calibri"/>
              </a:rPr>
              <a:t> </a:t>
            </a:r>
            <a:r>
              <a:rPr sz="1650" spc="30" baseline="7575" dirty="0">
                <a:latin typeface="Tahoma"/>
                <a:cs typeface="Tahoma"/>
              </a:rPr>
              <a:t>+</a:t>
            </a:r>
            <a:r>
              <a:rPr sz="1650" spc="-89" baseline="7575" dirty="0">
                <a:latin typeface="Tahoma"/>
                <a:cs typeface="Tahoma"/>
              </a:rPr>
              <a:t> </a:t>
            </a:r>
            <a:r>
              <a:rPr sz="1650" i="1" spc="-15" baseline="7575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14</a:t>
            </a:r>
            <a:r>
              <a:rPr sz="1650" i="1" spc="-15" baseline="7575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21</a:t>
            </a:r>
            <a:r>
              <a:rPr sz="1650" i="1" spc="-15" baseline="7575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42</a:t>
            </a:r>
            <a:endParaRPr sz="800">
              <a:latin typeface="Calibri"/>
              <a:cs typeface="Calibri"/>
            </a:endParaRPr>
          </a:p>
          <a:p>
            <a:pPr marL="467995">
              <a:lnSpc>
                <a:spcPct val="100000"/>
              </a:lnSpc>
              <a:spcBef>
                <a:spcPts val="335"/>
              </a:spcBef>
            </a:pP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22" baseline="7575" dirty="0">
                <a:latin typeface="Tahoma"/>
                <a:cs typeface="Tahoma"/>
              </a:rPr>
              <a:t> 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11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22</a:t>
            </a:r>
            <a:r>
              <a:rPr sz="1650" i="1" baseline="757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33</a:t>
            </a:r>
            <a:r>
              <a:rPr sz="800" spc="210" dirty="0">
                <a:latin typeface="Calibri"/>
                <a:cs typeface="Calibri"/>
              </a:rPr>
              <a:t> </a:t>
            </a:r>
            <a:r>
              <a:rPr sz="1650" spc="345" baseline="7575" dirty="0">
                <a:latin typeface="Cambria"/>
                <a:cs typeface="Cambria"/>
              </a:rPr>
              <a:t>−</a:t>
            </a:r>
            <a:r>
              <a:rPr sz="1650" spc="135" baseline="7575" dirty="0">
                <a:latin typeface="Cambria"/>
                <a:cs typeface="Cambria"/>
              </a:rPr>
              <a:t> </a:t>
            </a:r>
            <a:r>
              <a:rPr sz="1650" i="1" spc="-15" baseline="7575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12</a:t>
            </a:r>
            <a:r>
              <a:rPr sz="1650" i="1" spc="-15" baseline="7575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21</a:t>
            </a:r>
            <a:r>
              <a:rPr sz="1650" i="1" spc="-15" baseline="7575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33</a:t>
            </a:r>
            <a:r>
              <a:rPr sz="1650" spc="-15" baseline="7575" dirty="0">
                <a:latin typeface="Tahoma"/>
                <a:cs typeface="Tahoma"/>
              </a:rPr>
              <a:t>)</a:t>
            </a:r>
            <a:endParaRPr sz="1650" baseline="7575">
              <a:latin typeface="Tahoma"/>
              <a:cs typeface="Tahoma"/>
            </a:endParaRPr>
          </a:p>
          <a:p>
            <a:pPr marL="165735">
              <a:lnSpc>
                <a:spcPct val="100000"/>
              </a:lnSpc>
              <a:spcBef>
                <a:spcPts val="334"/>
              </a:spcBef>
            </a:pPr>
            <a:r>
              <a:rPr sz="1650" i="1" spc="15" baseline="7575" dirty="0">
                <a:latin typeface="Calibri"/>
                <a:cs typeface="Calibri"/>
              </a:rPr>
              <a:t>a</a:t>
            </a:r>
            <a:r>
              <a:rPr sz="800" spc="10" dirty="0">
                <a:latin typeface="Calibri"/>
                <a:cs typeface="Calibri"/>
              </a:rPr>
              <a:t>4</a:t>
            </a:r>
            <a:r>
              <a:rPr sz="800" spc="270" dirty="0">
                <a:latin typeface="Calibri"/>
                <a:cs typeface="Calibri"/>
              </a:rPr>
              <a:t> </a:t>
            </a:r>
            <a:r>
              <a:rPr sz="1650" spc="15" baseline="7575" dirty="0">
                <a:latin typeface="Tahoma"/>
                <a:cs typeface="Tahoma"/>
              </a:rPr>
              <a:t>=</a:t>
            </a:r>
            <a:r>
              <a:rPr sz="1650" spc="89" baseline="7575" dirty="0">
                <a:latin typeface="Tahoma"/>
                <a:cs typeface="Tahoma"/>
              </a:rPr>
              <a:t> </a:t>
            </a:r>
            <a:r>
              <a:rPr sz="1650" i="1" spc="15" baseline="7575" dirty="0">
                <a:latin typeface="Calibri"/>
                <a:cs typeface="Calibri"/>
              </a:rPr>
              <a:t>a</a:t>
            </a:r>
            <a:r>
              <a:rPr sz="800" spc="10" dirty="0">
                <a:latin typeface="Calibri"/>
                <a:cs typeface="Calibri"/>
              </a:rPr>
              <a:t>11</a:t>
            </a:r>
            <a:r>
              <a:rPr sz="1650" i="1" spc="15" baseline="7575" dirty="0">
                <a:latin typeface="Calibri"/>
                <a:cs typeface="Calibri"/>
              </a:rPr>
              <a:t>a</a:t>
            </a:r>
            <a:r>
              <a:rPr sz="800" spc="10" dirty="0">
                <a:latin typeface="Calibri"/>
                <a:cs typeface="Calibri"/>
              </a:rPr>
              <a:t>22</a:t>
            </a:r>
            <a:r>
              <a:rPr sz="1650" i="1" spc="15" baseline="7575" dirty="0">
                <a:latin typeface="Calibri"/>
                <a:cs typeface="Calibri"/>
              </a:rPr>
              <a:t>a</a:t>
            </a:r>
            <a:r>
              <a:rPr sz="800" spc="10" dirty="0">
                <a:latin typeface="Calibri"/>
                <a:cs typeface="Calibri"/>
              </a:rPr>
              <a:t>33</a:t>
            </a:r>
            <a:r>
              <a:rPr sz="1650" i="1" spc="15" baseline="7575" dirty="0">
                <a:latin typeface="Calibri"/>
                <a:cs typeface="Calibri"/>
              </a:rPr>
              <a:t>a</a:t>
            </a:r>
            <a:r>
              <a:rPr sz="800" spc="10" dirty="0">
                <a:latin typeface="Calibri"/>
                <a:cs typeface="Calibri"/>
              </a:rPr>
              <a:t>44</a:t>
            </a:r>
            <a:r>
              <a:rPr sz="800" spc="195" dirty="0">
                <a:latin typeface="Calibri"/>
                <a:cs typeface="Calibri"/>
              </a:rPr>
              <a:t> </a:t>
            </a:r>
            <a:r>
              <a:rPr sz="1650" spc="345" baseline="7575" dirty="0">
                <a:latin typeface="Cambria"/>
                <a:cs typeface="Cambria"/>
              </a:rPr>
              <a:t>−</a:t>
            </a:r>
            <a:r>
              <a:rPr sz="1650" spc="112" baseline="7575" dirty="0">
                <a:latin typeface="Cambria"/>
                <a:cs typeface="Cambria"/>
              </a:rPr>
              <a:t> </a:t>
            </a:r>
            <a:r>
              <a:rPr sz="1650" i="1" spc="15" baseline="7575" dirty="0">
                <a:latin typeface="Calibri"/>
                <a:cs typeface="Calibri"/>
              </a:rPr>
              <a:t>a</a:t>
            </a:r>
            <a:r>
              <a:rPr sz="800" spc="10" dirty="0">
                <a:latin typeface="Calibri"/>
                <a:cs typeface="Calibri"/>
              </a:rPr>
              <a:t>12</a:t>
            </a:r>
            <a:r>
              <a:rPr sz="1650" i="1" spc="15" baseline="7575" dirty="0">
                <a:latin typeface="Calibri"/>
                <a:cs typeface="Calibri"/>
              </a:rPr>
              <a:t>a</a:t>
            </a:r>
            <a:r>
              <a:rPr sz="800" spc="10" dirty="0">
                <a:latin typeface="Calibri"/>
                <a:cs typeface="Calibri"/>
              </a:rPr>
              <a:t>21</a:t>
            </a:r>
            <a:r>
              <a:rPr sz="1650" i="1" spc="15" baseline="7575" dirty="0">
                <a:latin typeface="Calibri"/>
                <a:cs typeface="Calibri"/>
              </a:rPr>
              <a:t>a</a:t>
            </a:r>
            <a:r>
              <a:rPr sz="800" spc="10" dirty="0">
                <a:latin typeface="Calibri"/>
                <a:cs typeface="Calibri"/>
              </a:rPr>
              <a:t>33</a:t>
            </a:r>
            <a:r>
              <a:rPr sz="1650" i="1" spc="15" baseline="7575" dirty="0">
                <a:latin typeface="Calibri"/>
                <a:cs typeface="Calibri"/>
              </a:rPr>
              <a:t>a</a:t>
            </a:r>
            <a:r>
              <a:rPr sz="800" spc="10" dirty="0">
                <a:latin typeface="Calibri"/>
                <a:cs typeface="Calibri"/>
              </a:rPr>
              <a:t>44</a:t>
            </a:r>
            <a:r>
              <a:rPr sz="800" spc="195" dirty="0">
                <a:latin typeface="Calibri"/>
                <a:cs typeface="Calibri"/>
              </a:rPr>
              <a:t> </a:t>
            </a:r>
            <a:r>
              <a:rPr sz="1650" spc="15" baseline="7575" dirty="0">
                <a:latin typeface="Tahoma"/>
                <a:cs typeface="Tahoma"/>
              </a:rPr>
              <a:t>+</a:t>
            </a:r>
            <a:r>
              <a:rPr sz="1650" spc="-44" baseline="7575" dirty="0">
                <a:latin typeface="Tahoma"/>
                <a:cs typeface="Tahoma"/>
              </a:rPr>
              <a:t> </a:t>
            </a:r>
            <a:r>
              <a:rPr sz="1650" i="1" spc="-15" baseline="7575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14</a:t>
            </a:r>
            <a:r>
              <a:rPr sz="1650" i="1" spc="-15" baseline="7575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21</a:t>
            </a:r>
            <a:r>
              <a:rPr sz="1650" i="1" spc="-15" baseline="7575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33</a:t>
            </a:r>
            <a:r>
              <a:rPr sz="1650" i="1" spc="-15" baseline="7575" dirty="0">
                <a:latin typeface="Calibri"/>
                <a:cs typeface="Calibri"/>
              </a:rPr>
              <a:t>a</a:t>
            </a:r>
            <a:r>
              <a:rPr sz="800" spc="-10" dirty="0">
                <a:latin typeface="Calibri"/>
                <a:cs typeface="Calibri"/>
              </a:rPr>
              <a:t>42</a:t>
            </a:r>
            <a:r>
              <a:rPr sz="1650" i="1" spc="-15" baseline="7575" dirty="0">
                <a:latin typeface="Calibri"/>
                <a:cs typeface="Calibri"/>
              </a:rPr>
              <a:t>,</a:t>
            </a:r>
            <a:endParaRPr sz="1650" baseline="7575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072" y="2479521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alibri"/>
                <a:cs typeface="Calibri"/>
              </a:rPr>
              <a:t>11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2421418"/>
            <a:ext cx="50545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8125" algn="l"/>
              </a:tabLst>
            </a:pPr>
            <a:r>
              <a:rPr sz="1100" i="1" spc="-50" dirty="0">
                <a:latin typeface="Calibri"/>
                <a:cs typeface="Calibri"/>
              </a:rPr>
              <a:t>a</a:t>
            </a:r>
            <a:r>
              <a:rPr sz="1100" i="1" dirty="0">
                <a:latin typeface="Calibri"/>
                <a:cs typeface="Calibri"/>
              </a:rPr>
              <a:t>	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180" dirty="0">
                <a:latin typeface="Cambria"/>
                <a:cs typeface="Cambria"/>
              </a:rPr>
              <a:t>−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3323" y="2538031"/>
            <a:ext cx="350520" cy="0"/>
          </a:xfrm>
          <a:custGeom>
            <a:avLst/>
            <a:gdLst/>
            <a:ahLst/>
            <a:cxnLst/>
            <a:rect l="l" t="t" r="r" b="b"/>
            <a:pathLst>
              <a:path w="350519">
                <a:moveTo>
                  <a:pt x="0" y="0"/>
                </a:moveTo>
                <a:lnTo>
                  <a:pt x="3499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5223" y="2396107"/>
            <a:ext cx="420370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15"/>
              </a:lnSpc>
              <a:spcBef>
                <a:spcPts val="95"/>
              </a:spcBef>
            </a:pPr>
            <a:r>
              <a:rPr sz="800" i="1" spc="105" dirty="0">
                <a:latin typeface="Calibri"/>
                <a:cs typeface="Calibri"/>
              </a:rPr>
              <a:t>βI</a:t>
            </a:r>
            <a:r>
              <a:rPr sz="900" spc="157" baseline="27777" dirty="0">
                <a:latin typeface="Cambria"/>
                <a:cs typeface="Cambria"/>
              </a:rPr>
              <a:t>∗</a:t>
            </a:r>
            <a:endParaRPr sz="900" baseline="27777">
              <a:latin typeface="Cambria"/>
              <a:cs typeface="Cambria"/>
            </a:endParaRPr>
          </a:p>
          <a:p>
            <a:pPr algn="ctr">
              <a:lnSpc>
                <a:spcPts val="915"/>
              </a:lnSpc>
            </a:pPr>
            <a:r>
              <a:rPr sz="800" spc="120" dirty="0">
                <a:latin typeface="Calibri"/>
                <a:cs typeface="Calibri"/>
              </a:rPr>
              <a:t>1+</a:t>
            </a:r>
            <a:r>
              <a:rPr sz="800" i="1" spc="120" dirty="0">
                <a:latin typeface="Calibri"/>
                <a:cs typeface="Calibri"/>
              </a:rPr>
              <a:t>α</a:t>
            </a:r>
            <a:r>
              <a:rPr sz="900" spc="179" baseline="23148" dirty="0">
                <a:latin typeface="Cambria"/>
                <a:cs typeface="Cambria"/>
              </a:rPr>
              <a:t>′</a:t>
            </a:r>
            <a:r>
              <a:rPr sz="800" i="1" spc="120" dirty="0">
                <a:latin typeface="Calibri"/>
                <a:cs typeface="Calibri"/>
              </a:rPr>
              <a:t>I</a:t>
            </a:r>
            <a:r>
              <a:rPr sz="900" spc="179" baseline="23148" dirty="0">
                <a:latin typeface="Cambria"/>
                <a:cs typeface="Cambria"/>
              </a:rPr>
              <a:t>∗</a:t>
            </a:r>
            <a:endParaRPr sz="900" baseline="23148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3377" y="2479521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alibri"/>
                <a:cs typeface="Calibri"/>
              </a:rPr>
              <a:t>12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533" y="2421418"/>
            <a:ext cx="7886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21334" algn="l"/>
              </a:tabLst>
            </a:pPr>
            <a:r>
              <a:rPr sz="1100" spc="-254" dirty="0">
                <a:latin typeface="Cambria"/>
                <a:cs typeface="Cambria"/>
              </a:rPr>
              <a:t>—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i="1" dirty="0">
                <a:latin typeface="Calibri"/>
                <a:cs typeface="Calibri"/>
              </a:rPr>
              <a:t>µ,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a</a:t>
            </a:r>
            <a:r>
              <a:rPr sz="1100" i="1" dirty="0">
                <a:latin typeface="Calibri"/>
                <a:cs typeface="Calibri"/>
              </a:rPr>
              <a:t>	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180" dirty="0">
                <a:latin typeface="Cambria"/>
                <a:cs typeface="Cambria"/>
              </a:rPr>
              <a:t>−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07616" y="2538031"/>
            <a:ext cx="486409" cy="0"/>
          </a:xfrm>
          <a:custGeom>
            <a:avLst/>
            <a:gdLst/>
            <a:ahLst/>
            <a:cxnLst/>
            <a:rect l="l" t="t" r="r" b="b"/>
            <a:pathLst>
              <a:path w="486410">
                <a:moveTo>
                  <a:pt x="0" y="0"/>
                </a:moveTo>
                <a:lnTo>
                  <a:pt x="48630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769516" y="2396120"/>
            <a:ext cx="556260" cy="260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30"/>
              </a:lnSpc>
              <a:spcBef>
                <a:spcPts val="95"/>
              </a:spcBef>
            </a:pPr>
            <a:r>
              <a:rPr sz="800" i="1" spc="100" dirty="0">
                <a:latin typeface="Calibri"/>
                <a:cs typeface="Calibri"/>
              </a:rPr>
              <a:t>βS</a:t>
            </a:r>
            <a:r>
              <a:rPr sz="900" spc="150" baseline="27777" dirty="0">
                <a:latin typeface="Cambria"/>
                <a:cs typeface="Cambria"/>
              </a:rPr>
              <a:t>∗</a:t>
            </a:r>
            <a:endParaRPr sz="900" baseline="27777">
              <a:latin typeface="Cambria"/>
              <a:cs typeface="Cambria"/>
            </a:endParaRPr>
          </a:p>
          <a:p>
            <a:pPr algn="ctr">
              <a:lnSpc>
                <a:spcPts val="930"/>
              </a:lnSpc>
            </a:pPr>
            <a:r>
              <a:rPr sz="800" spc="100" dirty="0">
                <a:latin typeface="Calibri"/>
                <a:cs typeface="Calibri"/>
              </a:rPr>
              <a:t>(1+</a:t>
            </a:r>
            <a:r>
              <a:rPr sz="800" i="1" spc="100" dirty="0">
                <a:latin typeface="Calibri"/>
                <a:cs typeface="Calibri"/>
              </a:rPr>
              <a:t>α</a:t>
            </a:r>
            <a:r>
              <a:rPr sz="900" spc="150" baseline="23148" dirty="0">
                <a:latin typeface="Cambria"/>
                <a:cs typeface="Cambria"/>
              </a:rPr>
              <a:t>′</a:t>
            </a:r>
            <a:r>
              <a:rPr sz="800" i="1" spc="100" dirty="0">
                <a:latin typeface="Calibri"/>
                <a:cs typeface="Calibri"/>
              </a:rPr>
              <a:t>I</a:t>
            </a:r>
            <a:r>
              <a:rPr sz="900" spc="150" baseline="23148" dirty="0">
                <a:latin typeface="Cambria"/>
                <a:cs typeface="Cambria"/>
              </a:rPr>
              <a:t>∗</a:t>
            </a:r>
            <a:r>
              <a:rPr sz="800" spc="100" dirty="0">
                <a:latin typeface="Calibri"/>
                <a:cs typeface="Calibri"/>
              </a:rPr>
              <a:t>)</a:t>
            </a:r>
            <a:r>
              <a:rPr sz="900" spc="150" baseline="23148" dirty="0">
                <a:latin typeface="Lucida Console"/>
                <a:cs typeface="Lucida Console"/>
              </a:rPr>
              <a:t>2</a:t>
            </a:r>
            <a:endParaRPr sz="900" baseline="23148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1014" y="2421418"/>
            <a:ext cx="993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14</a:t>
            </a:r>
            <a:r>
              <a:rPr sz="1200" spc="345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α,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21</a:t>
            </a:r>
            <a:r>
              <a:rPr sz="1200" spc="352" baseline="-10416" dirty="0">
                <a:latin typeface="Calibri"/>
                <a:cs typeface="Calibri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80257" y="2538031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>
                <a:moveTo>
                  <a:pt x="0" y="0"/>
                </a:moveTo>
                <a:lnTo>
                  <a:pt x="3499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42157" y="2396120"/>
            <a:ext cx="420370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15"/>
              </a:lnSpc>
              <a:spcBef>
                <a:spcPts val="95"/>
              </a:spcBef>
            </a:pPr>
            <a:r>
              <a:rPr sz="800" i="1" spc="105" dirty="0">
                <a:latin typeface="Calibri"/>
                <a:cs typeface="Calibri"/>
              </a:rPr>
              <a:t>βI</a:t>
            </a:r>
            <a:r>
              <a:rPr sz="900" spc="157" baseline="27777" dirty="0">
                <a:latin typeface="Cambria"/>
                <a:cs typeface="Cambria"/>
              </a:rPr>
              <a:t>∗</a:t>
            </a:r>
            <a:endParaRPr sz="900" baseline="27777">
              <a:latin typeface="Cambria"/>
              <a:cs typeface="Cambria"/>
            </a:endParaRPr>
          </a:p>
          <a:p>
            <a:pPr algn="ctr">
              <a:lnSpc>
                <a:spcPts val="915"/>
              </a:lnSpc>
            </a:pPr>
            <a:r>
              <a:rPr sz="800" spc="120" dirty="0">
                <a:latin typeface="Calibri"/>
                <a:cs typeface="Calibri"/>
              </a:rPr>
              <a:t>1+</a:t>
            </a:r>
            <a:r>
              <a:rPr sz="800" i="1" spc="120" dirty="0">
                <a:latin typeface="Calibri"/>
                <a:cs typeface="Calibri"/>
              </a:rPr>
              <a:t>α</a:t>
            </a:r>
            <a:r>
              <a:rPr sz="900" spc="179" baseline="23148" dirty="0">
                <a:latin typeface="Cambria"/>
                <a:cs typeface="Cambria"/>
              </a:rPr>
              <a:t>′</a:t>
            </a:r>
            <a:r>
              <a:rPr sz="800" i="1" spc="120" dirty="0">
                <a:latin typeface="Calibri"/>
                <a:cs typeface="Calibri"/>
              </a:rPr>
              <a:t>I</a:t>
            </a:r>
            <a:r>
              <a:rPr sz="900" spc="179" baseline="23148" dirty="0">
                <a:latin typeface="Cambria"/>
                <a:cs typeface="Cambria"/>
              </a:rPr>
              <a:t>∗</a:t>
            </a:r>
            <a:endParaRPr sz="900" baseline="23148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2682" y="2421418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Calibri"/>
                <a:cs typeface="Calibri"/>
              </a:rPr>
              <a:t>,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4729" y="2702584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alibri"/>
                <a:cs typeface="Calibri"/>
              </a:rPr>
              <a:t>22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5844" y="2644469"/>
            <a:ext cx="354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3679" algn="l"/>
              </a:tabLst>
            </a:pPr>
            <a:r>
              <a:rPr sz="1100" dirty="0">
                <a:latin typeface="Times New Roman"/>
                <a:cs typeface="Times New Roman"/>
              </a:rPr>
              <a:t>a	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0542" y="2619170"/>
            <a:ext cx="2616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100" dirty="0">
                <a:latin typeface="Calibri"/>
                <a:cs typeface="Calibri"/>
              </a:rPr>
              <a:t>βS</a:t>
            </a:r>
            <a:r>
              <a:rPr sz="900" spc="150" baseline="27777" dirty="0">
                <a:latin typeface="Cambria"/>
                <a:cs typeface="Cambria"/>
              </a:rPr>
              <a:t>∗</a:t>
            </a:r>
            <a:endParaRPr sz="900" baseline="27777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21208" y="2761081"/>
            <a:ext cx="486409" cy="0"/>
          </a:xfrm>
          <a:custGeom>
            <a:avLst/>
            <a:gdLst/>
            <a:ahLst/>
            <a:cxnLst/>
            <a:rect l="l" t="t" r="r" b="b"/>
            <a:pathLst>
              <a:path w="486409">
                <a:moveTo>
                  <a:pt x="0" y="0"/>
                </a:moveTo>
                <a:lnTo>
                  <a:pt x="48630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108" y="2733216"/>
            <a:ext cx="556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100" dirty="0">
                <a:latin typeface="Calibri"/>
                <a:cs typeface="Calibri"/>
              </a:rPr>
              <a:t>(1+</a:t>
            </a:r>
            <a:r>
              <a:rPr sz="800" i="1" spc="100" dirty="0">
                <a:latin typeface="Calibri"/>
                <a:cs typeface="Calibri"/>
              </a:rPr>
              <a:t>α</a:t>
            </a:r>
            <a:r>
              <a:rPr sz="900" spc="150" baseline="23148" dirty="0">
                <a:latin typeface="Cambria"/>
                <a:cs typeface="Cambria"/>
              </a:rPr>
              <a:t>′</a:t>
            </a:r>
            <a:r>
              <a:rPr sz="800" i="1" spc="100" dirty="0">
                <a:latin typeface="Calibri"/>
                <a:cs typeface="Calibri"/>
              </a:rPr>
              <a:t>I</a:t>
            </a:r>
            <a:r>
              <a:rPr sz="900" spc="150" baseline="23148" dirty="0">
                <a:latin typeface="Cambria"/>
                <a:cs typeface="Cambria"/>
              </a:rPr>
              <a:t>∗</a:t>
            </a:r>
            <a:r>
              <a:rPr sz="800" spc="100" dirty="0">
                <a:latin typeface="Calibri"/>
                <a:cs typeface="Calibri"/>
              </a:rPr>
              <a:t>)</a:t>
            </a:r>
            <a:r>
              <a:rPr sz="900" spc="150" baseline="23148" dirty="0">
                <a:latin typeface="Lucida Console"/>
                <a:cs typeface="Lucida Console"/>
              </a:rPr>
              <a:t>2</a:t>
            </a:r>
            <a:endParaRPr sz="900" baseline="23148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40790" y="2644469"/>
            <a:ext cx="878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4" dirty="0">
                <a:latin typeface="Cambria"/>
                <a:cs typeface="Cambria"/>
              </a:rPr>
              <a:t>—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Calibri"/>
                <a:cs typeface="Calibri"/>
              </a:rPr>
              <a:t>γ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δ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Calibri"/>
                <a:cs typeface="Calibri"/>
              </a:rPr>
              <a:t>µ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i="1" spc="-25" dirty="0">
                <a:latin typeface="Calibri"/>
                <a:cs typeface="Calibri"/>
              </a:rPr>
              <a:t>,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444" y="2837763"/>
            <a:ext cx="3017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32</a:t>
            </a:r>
            <a:r>
              <a:rPr sz="1200" spc="315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δ,</a:t>
            </a:r>
            <a:r>
              <a:rPr sz="1100" i="1" spc="-4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33</a:t>
            </a:r>
            <a:r>
              <a:rPr sz="1200" spc="315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105" dirty="0">
                <a:latin typeface="Cambria"/>
                <a:cs typeface="Cambria"/>
              </a:rPr>
              <a:t>−</a:t>
            </a:r>
            <a:r>
              <a:rPr sz="1100" spc="105" dirty="0">
                <a:latin typeface="Tahoma"/>
                <a:cs typeface="Tahoma"/>
              </a:rPr>
              <a:t>(</a:t>
            </a:r>
            <a:r>
              <a:rPr sz="1100" i="1" spc="105" dirty="0">
                <a:latin typeface="Calibri"/>
                <a:cs typeface="Calibri"/>
              </a:rPr>
              <a:t>ζ</a:t>
            </a:r>
            <a:r>
              <a:rPr sz="1100" i="1" spc="12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µ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42</a:t>
            </a:r>
            <a:r>
              <a:rPr sz="1200" spc="322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spc="75" dirty="0">
                <a:latin typeface="Calibri"/>
                <a:cs typeface="Calibri"/>
              </a:rPr>
              <a:t>γ,</a:t>
            </a:r>
            <a:r>
              <a:rPr sz="1100" i="1" spc="-4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44</a:t>
            </a:r>
            <a:r>
              <a:rPr sz="1200" spc="322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95" dirty="0">
                <a:latin typeface="Cambria"/>
                <a:cs typeface="Cambria"/>
              </a:rPr>
              <a:t>−</a:t>
            </a:r>
            <a:r>
              <a:rPr sz="1100" spc="95" dirty="0">
                <a:latin typeface="Tahoma"/>
                <a:cs typeface="Tahoma"/>
              </a:rPr>
              <a:t>(</a:t>
            </a:r>
            <a:r>
              <a:rPr sz="1100" i="1" spc="95" dirty="0">
                <a:latin typeface="Calibri"/>
                <a:cs typeface="Calibri"/>
              </a:rPr>
              <a:t>α</a:t>
            </a:r>
            <a:r>
              <a:rPr sz="1100" i="1" spc="3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Calibri"/>
                <a:cs typeface="Calibri"/>
              </a:rPr>
              <a:t>µ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i="1" spc="-25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25" name="object 25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12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Stability</a:t>
            </a:r>
            <a:r>
              <a:rPr spc="275" dirty="0"/>
              <a:t> </a:t>
            </a:r>
            <a:r>
              <a:rPr dirty="0"/>
              <a:t>Analysis:</a:t>
            </a:r>
            <a:r>
              <a:rPr spc="484" dirty="0"/>
              <a:t> </a:t>
            </a:r>
            <a:r>
              <a:rPr dirty="0"/>
              <a:t>Endemic</a:t>
            </a:r>
            <a:r>
              <a:rPr spc="280" dirty="0"/>
              <a:t> </a:t>
            </a:r>
            <a:r>
              <a:rPr spc="-10" dirty="0"/>
              <a:t>Equilibrium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444" y="708506"/>
            <a:ext cx="417258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observe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80" dirty="0">
                <a:latin typeface="Times New Roman"/>
                <a:cs typeface="Times New Roman"/>
              </a:rPr>
              <a:t>that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307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&gt;</a:t>
            </a:r>
            <a:r>
              <a:rPr sz="1100" i="1" spc="9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following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(Routh-</a:t>
            </a:r>
            <a:r>
              <a:rPr sz="1100" spc="-10" dirty="0">
                <a:latin typeface="Times New Roman"/>
                <a:cs typeface="Times New Roman"/>
              </a:rPr>
              <a:t>Hurwitz </a:t>
            </a:r>
            <a:r>
              <a:rPr sz="1100" dirty="0">
                <a:latin typeface="Times New Roman"/>
                <a:cs typeface="Times New Roman"/>
              </a:rPr>
              <a:t>criterion)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hold: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7118" y="1141981"/>
            <a:ext cx="502284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1</a:t>
            </a:r>
            <a:r>
              <a:rPr sz="1200" spc="270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&gt;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spc="-25" dirty="0">
                <a:latin typeface="Tahoma"/>
                <a:cs typeface="Tahoma"/>
              </a:rPr>
              <a:t>0</a:t>
            </a:r>
            <a:r>
              <a:rPr sz="1100" i="1" spc="-25" dirty="0">
                <a:latin typeface="Calibri"/>
                <a:cs typeface="Calibri"/>
              </a:rPr>
              <a:t>,</a:t>
            </a:r>
            <a:endParaRPr sz="11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3</a:t>
            </a:r>
            <a:r>
              <a:rPr sz="1200" spc="270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&gt;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spc="-25" dirty="0">
                <a:latin typeface="Tahoma"/>
                <a:cs typeface="Tahoma"/>
              </a:rPr>
              <a:t>0</a:t>
            </a:r>
            <a:r>
              <a:rPr sz="1100" i="1" spc="-25" dirty="0">
                <a:latin typeface="Calibri"/>
                <a:cs typeface="Calibri"/>
              </a:rPr>
              <a:t>,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7287" y="1141981"/>
            <a:ext cx="502284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2</a:t>
            </a:r>
            <a:r>
              <a:rPr sz="1200" spc="270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&gt;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spc="-25" dirty="0">
                <a:latin typeface="Tahoma"/>
                <a:cs typeface="Tahoma"/>
              </a:rPr>
              <a:t>0</a:t>
            </a:r>
            <a:r>
              <a:rPr sz="1100" i="1" spc="-25" dirty="0">
                <a:latin typeface="Calibri"/>
                <a:cs typeface="Calibri"/>
              </a:rPr>
              <a:t>,</a:t>
            </a:r>
            <a:endParaRPr sz="11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4</a:t>
            </a:r>
            <a:r>
              <a:rPr sz="1200" spc="270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&gt;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spc="-25" dirty="0">
                <a:latin typeface="Tahoma"/>
                <a:cs typeface="Tahoma"/>
              </a:rPr>
              <a:t>0</a:t>
            </a:r>
            <a:r>
              <a:rPr sz="1100" i="1" spc="-25" dirty="0">
                <a:latin typeface="Calibri"/>
                <a:cs typeface="Calibri"/>
              </a:rPr>
              <a:t>,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444" y="1620455"/>
            <a:ext cx="1268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1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2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-10416" dirty="0">
                <a:latin typeface="Calibri"/>
                <a:cs typeface="Calibri"/>
              </a:rPr>
              <a:t>3</a:t>
            </a:r>
            <a:r>
              <a:rPr sz="1200" spc="359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&gt;</a:t>
            </a:r>
            <a:r>
              <a:rPr sz="1100" i="1" spc="1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</a:t>
            </a:r>
            <a:r>
              <a:rPr sz="1200" baseline="31250" dirty="0">
                <a:latin typeface="Calibri"/>
                <a:cs typeface="Calibri"/>
              </a:rPr>
              <a:t>2</a:t>
            </a:r>
            <a:r>
              <a:rPr sz="1200" spc="254" baseline="3125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a</a:t>
            </a:r>
            <a:r>
              <a:rPr sz="1200" spc="-30" baseline="31250" dirty="0">
                <a:latin typeface="Calibri"/>
                <a:cs typeface="Calibri"/>
              </a:rPr>
              <a:t>2</a:t>
            </a:r>
            <a:r>
              <a:rPr sz="1100" i="1" spc="-20" dirty="0">
                <a:latin typeface="Calibri"/>
                <a:cs typeface="Calibri"/>
              </a:rPr>
              <a:t>a</a:t>
            </a:r>
            <a:r>
              <a:rPr sz="1200" spc="-30" baseline="-10416" dirty="0">
                <a:latin typeface="Calibri"/>
                <a:cs typeface="Calibri"/>
              </a:rPr>
              <a:t>4</a:t>
            </a:r>
            <a:r>
              <a:rPr sz="1100" i="1" spc="-2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44" y="1692032"/>
            <a:ext cx="4294505" cy="624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5960">
              <a:lnSpc>
                <a:spcPts val="825"/>
              </a:lnSpc>
              <a:spcBef>
                <a:spcPts val="95"/>
              </a:spcBef>
              <a:tabLst>
                <a:tab pos="998219" algn="l"/>
              </a:tabLst>
            </a:pPr>
            <a:r>
              <a:rPr sz="800" spc="-50" dirty="0">
                <a:latin typeface="Calibri"/>
                <a:cs typeface="Calibri"/>
              </a:rPr>
              <a:t>3</a:t>
            </a:r>
            <a:r>
              <a:rPr sz="800" dirty="0">
                <a:latin typeface="Calibri"/>
                <a:cs typeface="Calibri"/>
              </a:rPr>
              <a:t>	</a:t>
            </a:r>
            <a:r>
              <a:rPr sz="800" spc="-50" dirty="0"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  <a:p>
            <a:pPr marL="38100">
              <a:lnSpc>
                <a:spcPts val="1185"/>
              </a:lnSpc>
            </a:pPr>
            <a:r>
              <a:rPr sz="1100" spc="10" dirty="0">
                <a:latin typeface="Times New Roman"/>
                <a:cs typeface="Times New Roman"/>
              </a:rPr>
              <a:t>Thus,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all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roots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of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characteristic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equation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have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negative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real</a:t>
            </a:r>
            <a:endParaRPr sz="1100">
              <a:latin typeface="Times New Roman"/>
              <a:cs typeface="Times New Roman"/>
            </a:endParaRPr>
          </a:p>
          <a:p>
            <a:pPr marL="38100" marR="30480">
              <a:lnSpc>
                <a:spcPct val="102600"/>
              </a:lnSpc>
            </a:pPr>
            <a:r>
              <a:rPr sz="1100" spc="50" dirty="0">
                <a:latin typeface="Times New Roman"/>
                <a:cs typeface="Times New Roman"/>
              </a:rPr>
              <a:t>parts,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implying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80" dirty="0">
                <a:latin typeface="Times New Roman"/>
                <a:cs typeface="Times New Roman"/>
              </a:rPr>
              <a:t>that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endemic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equilibrium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locally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asymptotically </a:t>
            </a:r>
            <a:r>
              <a:rPr sz="1100" dirty="0">
                <a:latin typeface="Times New Roman"/>
                <a:cs typeface="Times New Roman"/>
              </a:rPr>
              <a:t>stable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352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&gt;</a:t>
            </a:r>
            <a:r>
              <a:rPr sz="1100" i="1" spc="120" dirty="0">
                <a:latin typeface="Calibri"/>
                <a:cs typeface="Calibri"/>
              </a:rPr>
              <a:t> </a:t>
            </a:r>
            <a:r>
              <a:rPr sz="1100" spc="-25" dirty="0">
                <a:latin typeface="Tahoma"/>
                <a:cs typeface="Tahoma"/>
              </a:rPr>
              <a:t>1</a:t>
            </a:r>
            <a:r>
              <a:rPr sz="1100" spc="-25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999" y="2563500"/>
            <a:ext cx="4254500" cy="2940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-635" algn="ctr">
              <a:lnSpc>
                <a:spcPts val="700"/>
              </a:lnSpc>
              <a:spcBef>
                <a:spcPts val="135"/>
              </a:spcBef>
            </a:pPr>
            <a:r>
              <a:rPr sz="600" b="1" spc="20" dirty="0">
                <a:latin typeface="Georgia"/>
                <a:cs typeface="Georgia"/>
              </a:rPr>
              <a:t>Reference:</a:t>
            </a:r>
            <a:r>
              <a:rPr sz="600" b="1" spc="235" dirty="0">
                <a:latin typeface="Georgia"/>
                <a:cs typeface="Georgia"/>
              </a:rPr>
              <a:t> </a:t>
            </a:r>
            <a:r>
              <a:rPr sz="600" spc="55" dirty="0">
                <a:latin typeface="Georgia"/>
                <a:cs typeface="Georgia"/>
              </a:rPr>
              <a:t>Patil,</a:t>
            </a:r>
            <a:r>
              <a:rPr sz="600" spc="160" dirty="0">
                <a:latin typeface="Georgia"/>
                <a:cs typeface="Georgia"/>
              </a:rPr>
              <a:t> </a:t>
            </a:r>
            <a:r>
              <a:rPr sz="600" spc="70" dirty="0">
                <a:latin typeface="Georgia"/>
                <a:cs typeface="Georgia"/>
              </a:rPr>
              <a:t>A.,</a:t>
            </a:r>
            <a:r>
              <a:rPr sz="600" spc="160" dirty="0">
                <a:latin typeface="Georgia"/>
                <a:cs typeface="Georgia"/>
              </a:rPr>
              <a:t> </a:t>
            </a:r>
            <a:r>
              <a:rPr sz="600" spc="20" dirty="0">
                <a:latin typeface="Georgia"/>
                <a:cs typeface="Georgia"/>
              </a:rPr>
              <a:t>2021.</a:t>
            </a:r>
            <a:r>
              <a:rPr sz="600" spc="260" dirty="0">
                <a:latin typeface="Georgia"/>
                <a:cs typeface="Georgia"/>
              </a:rPr>
              <a:t> </a:t>
            </a:r>
            <a:r>
              <a:rPr sz="600" i="1" spc="55" dirty="0">
                <a:latin typeface="Georgia"/>
                <a:cs typeface="Georgia"/>
              </a:rPr>
              <a:t>Routh-</a:t>
            </a:r>
            <a:r>
              <a:rPr sz="600" i="1" spc="60" dirty="0">
                <a:latin typeface="Georgia"/>
                <a:cs typeface="Georgia"/>
              </a:rPr>
              <a:t>Hurwitz</a:t>
            </a:r>
            <a:r>
              <a:rPr sz="600" i="1" spc="210" dirty="0">
                <a:latin typeface="Georgia"/>
                <a:cs typeface="Georgia"/>
              </a:rPr>
              <a:t> </a:t>
            </a:r>
            <a:r>
              <a:rPr sz="600" i="1" spc="65" dirty="0">
                <a:latin typeface="Georgia"/>
                <a:cs typeface="Georgia"/>
              </a:rPr>
              <a:t>criterion</a:t>
            </a:r>
            <a:r>
              <a:rPr sz="600" i="1" spc="204" dirty="0">
                <a:latin typeface="Georgia"/>
                <a:cs typeface="Georgia"/>
              </a:rPr>
              <a:t> </a:t>
            </a:r>
            <a:r>
              <a:rPr sz="600" i="1" spc="55" dirty="0">
                <a:latin typeface="Georgia"/>
                <a:cs typeface="Georgia"/>
              </a:rPr>
              <a:t>for</a:t>
            </a:r>
            <a:r>
              <a:rPr sz="600" i="1" spc="210" dirty="0">
                <a:latin typeface="Georgia"/>
                <a:cs typeface="Georgia"/>
              </a:rPr>
              <a:t> </a:t>
            </a:r>
            <a:r>
              <a:rPr sz="600" i="1" spc="20" dirty="0">
                <a:latin typeface="Georgia"/>
                <a:cs typeface="Georgia"/>
              </a:rPr>
              <a:t>stability:</a:t>
            </a:r>
            <a:r>
              <a:rPr sz="600" i="1" spc="300" dirty="0">
                <a:latin typeface="Georgia"/>
                <a:cs typeface="Georgia"/>
              </a:rPr>
              <a:t> </a:t>
            </a:r>
            <a:r>
              <a:rPr sz="600" i="1" spc="65" dirty="0">
                <a:latin typeface="Georgia"/>
                <a:cs typeface="Georgia"/>
              </a:rPr>
              <a:t>an</a:t>
            </a:r>
            <a:r>
              <a:rPr sz="600" i="1" spc="210" dirty="0">
                <a:latin typeface="Georgia"/>
                <a:cs typeface="Georgia"/>
              </a:rPr>
              <a:t> </a:t>
            </a:r>
            <a:r>
              <a:rPr sz="600" i="1" spc="50" dirty="0">
                <a:latin typeface="Georgia"/>
                <a:cs typeface="Georgia"/>
              </a:rPr>
              <a:t>overview</a:t>
            </a:r>
            <a:r>
              <a:rPr sz="600" i="1" spc="210" dirty="0">
                <a:latin typeface="Georgia"/>
                <a:cs typeface="Georgia"/>
              </a:rPr>
              <a:t> </a:t>
            </a:r>
            <a:r>
              <a:rPr sz="600" i="1" spc="60" dirty="0">
                <a:latin typeface="Georgia"/>
                <a:cs typeface="Georgia"/>
              </a:rPr>
              <a:t>and</a:t>
            </a:r>
            <a:r>
              <a:rPr sz="600" i="1" spc="210" dirty="0">
                <a:latin typeface="Georgia"/>
                <a:cs typeface="Georgia"/>
              </a:rPr>
              <a:t> </a:t>
            </a:r>
            <a:r>
              <a:rPr sz="600" i="1" spc="30" dirty="0">
                <a:latin typeface="Georgia"/>
                <a:cs typeface="Georgia"/>
              </a:rPr>
              <a:t>its</a:t>
            </a:r>
            <a:r>
              <a:rPr sz="600" i="1" spc="65" dirty="0">
                <a:latin typeface="Georgia"/>
                <a:cs typeface="Georgia"/>
              </a:rPr>
              <a:t> implementation</a:t>
            </a:r>
            <a:r>
              <a:rPr sz="600" i="1" spc="190" dirty="0">
                <a:latin typeface="Georgia"/>
                <a:cs typeface="Georgia"/>
              </a:rPr>
              <a:t> </a:t>
            </a:r>
            <a:r>
              <a:rPr sz="600" i="1" spc="75" dirty="0">
                <a:latin typeface="Georgia"/>
                <a:cs typeface="Georgia"/>
              </a:rPr>
              <a:t>on</a:t>
            </a:r>
            <a:r>
              <a:rPr sz="600" i="1" spc="190" dirty="0">
                <a:latin typeface="Georgia"/>
                <a:cs typeface="Georgia"/>
              </a:rPr>
              <a:t> </a:t>
            </a:r>
            <a:r>
              <a:rPr sz="600" i="1" spc="60" dirty="0">
                <a:latin typeface="Georgia"/>
                <a:cs typeface="Georgia"/>
              </a:rPr>
              <a:t>characteristic</a:t>
            </a:r>
            <a:r>
              <a:rPr sz="600" i="1" spc="190" dirty="0">
                <a:latin typeface="Georgia"/>
                <a:cs typeface="Georgia"/>
              </a:rPr>
              <a:t> </a:t>
            </a:r>
            <a:r>
              <a:rPr sz="600" i="1" spc="55" dirty="0">
                <a:latin typeface="Georgia"/>
                <a:cs typeface="Georgia"/>
              </a:rPr>
              <a:t>equation</a:t>
            </a:r>
            <a:r>
              <a:rPr sz="600" i="1" spc="195" dirty="0">
                <a:latin typeface="Georgia"/>
                <a:cs typeface="Georgia"/>
              </a:rPr>
              <a:t> </a:t>
            </a:r>
            <a:r>
              <a:rPr sz="600" i="1" spc="50" dirty="0">
                <a:latin typeface="Georgia"/>
                <a:cs typeface="Georgia"/>
              </a:rPr>
              <a:t>vectors</a:t>
            </a:r>
            <a:r>
              <a:rPr sz="600" i="1" spc="190" dirty="0">
                <a:latin typeface="Georgia"/>
                <a:cs typeface="Georgia"/>
              </a:rPr>
              <a:t> </a:t>
            </a:r>
            <a:r>
              <a:rPr sz="600" i="1" spc="55" dirty="0">
                <a:latin typeface="Georgia"/>
                <a:cs typeface="Georgia"/>
              </a:rPr>
              <a:t>using</a:t>
            </a:r>
            <a:r>
              <a:rPr sz="600" i="1" spc="190" dirty="0">
                <a:latin typeface="Georgia"/>
                <a:cs typeface="Georgia"/>
              </a:rPr>
              <a:t> </a:t>
            </a:r>
            <a:r>
              <a:rPr sz="600" i="1" spc="120" dirty="0">
                <a:latin typeface="Georgia"/>
                <a:cs typeface="Georgia"/>
              </a:rPr>
              <a:t>MATLAB</a:t>
            </a:r>
            <a:r>
              <a:rPr sz="600" spc="120" dirty="0">
                <a:latin typeface="Georgia"/>
                <a:cs typeface="Georgia"/>
              </a:rPr>
              <a:t>.</a:t>
            </a:r>
            <a:r>
              <a:rPr sz="600" spc="150" dirty="0">
                <a:latin typeface="Georgia"/>
                <a:cs typeface="Georgia"/>
              </a:rPr>
              <a:t> </a:t>
            </a:r>
            <a:r>
              <a:rPr sz="600" spc="55" dirty="0">
                <a:latin typeface="Georgia"/>
                <a:cs typeface="Georgia"/>
              </a:rPr>
              <a:t>Emerging</a:t>
            </a:r>
            <a:r>
              <a:rPr sz="600" spc="145" dirty="0">
                <a:latin typeface="Georgia"/>
                <a:cs typeface="Georgia"/>
              </a:rPr>
              <a:t> </a:t>
            </a:r>
            <a:r>
              <a:rPr sz="600" spc="20" dirty="0">
                <a:latin typeface="Georgia"/>
                <a:cs typeface="Georgia"/>
              </a:rPr>
              <a:t>Technologies</a:t>
            </a:r>
            <a:r>
              <a:rPr sz="600" spc="145" dirty="0">
                <a:latin typeface="Georgia"/>
                <a:cs typeface="Georgia"/>
              </a:rPr>
              <a:t> </a:t>
            </a:r>
            <a:r>
              <a:rPr sz="600" spc="20" dirty="0">
                <a:latin typeface="Georgia"/>
                <a:cs typeface="Georgia"/>
              </a:rPr>
              <a:t>in</a:t>
            </a:r>
            <a:r>
              <a:rPr sz="600" spc="145" dirty="0">
                <a:latin typeface="Georgia"/>
                <a:cs typeface="Georgia"/>
              </a:rPr>
              <a:t> </a:t>
            </a:r>
            <a:r>
              <a:rPr sz="600" spc="55" dirty="0">
                <a:latin typeface="Georgia"/>
                <a:cs typeface="Georgia"/>
              </a:rPr>
              <a:t>Data </a:t>
            </a:r>
            <a:r>
              <a:rPr sz="600" spc="50" dirty="0">
                <a:latin typeface="Georgia"/>
                <a:cs typeface="Georgia"/>
              </a:rPr>
              <a:t>Mining</a:t>
            </a:r>
            <a:r>
              <a:rPr sz="600" spc="140" dirty="0">
                <a:latin typeface="Georgia"/>
                <a:cs typeface="Georgia"/>
              </a:rPr>
              <a:t> </a:t>
            </a:r>
            <a:r>
              <a:rPr sz="600" spc="50" dirty="0">
                <a:latin typeface="Georgia"/>
                <a:cs typeface="Georgia"/>
              </a:rPr>
              <a:t>and</a:t>
            </a:r>
            <a:r>
              <a:rPr sz="600" spc="140" dirty="0">
                <a:latin typeface="Georgia"/>
                <a:cs typeface="Georgia"/>
              </a:rPr>
              <a:t> </a:t>
            </a:r>
            <a:r>
              <a:rPr sz="600" spc="20" dirty="0">
                <a:latin typeface="Georgia"/>
                <a:cs typeface="Georgia"/>
              </a:rPr>
              <a:t>Information</a:t>
            </a:r>
            <a:r>
              <a:rPr sz="600" spc="140" dirty="0">
                <a:latin typeface="Georgia"/>
                <a:cs typeface="Georgia"/>
              </a:rPr>
              <a:t> </a:t>
            </a:r>
            <a:r>
              <a:rPr sz="600" spc="45" dirty="0">
                <a:latin typeface="Georgia"/>
                <a:cs typeface="Georgia"/>
              </a:rPr>
              <a:t>Security:</a:t>
            </a:r>
            <a:r>
              <a:rPr sz="600" spc="229" dirty="0">
                <a:latin typeface="Georgia"/>
                <a:cs typeface="Georgia"/>
              </a:rPr>
              <a:t> </a:t>
            </a:r>
            <a:r>
              <a:rPr sz="600" spc="45" dirty="0">
                <a:latin typeface="Georgia"/>
                <a:cs typeface="Georgia"/>
              </a:rPr>
              <a:t>Proceedings</a:t>
            </a:r>
            <a:r>
              <a:rPr sz="600" spc="140" dirty="0">
                <a:latin typeface="Georgia"/>
                <a:cs typeface="Georgia"/>
              </a:rPr>
              <a:t> </a:t>
            </a:r>
            <a:r>
              <a:rPr sz="600" spc="20" dirty="0">
                <a:latin typeface="Georgia"/>
                <a:cs typeface="Georgia"/>
              </a:rPr>
              <a:t>of</a:t>
            </a:r>
            <a:r>
              <a:rPr sz="600" spc="140" dirty="0">
                <a:latin typeface="Georgia"/>
                <a:cs typeface="Georgia"/>
              </a:rPr>
              <a:t> </a:t>
            </a:r>
            <a:r>
              <a:rPr sz="600" spc="55" dirty="0">
                <a:latin typeface="Georgia"/>
                <a:cs typeface="Georgia"/>
              </a:rPr>
              <a:t>IEMIS</a:t>
            </a:r>
            <a:r>
              <a:rPr sz="600" spc="140" dirty="0">
                <a:latin typeface="Georgia"/>
                <a:cs typeface="Georgia"/>
              </a:rPr>
              <a:t> </a:t>
            </a:r>
            <a:r>
              <a:rPr sz="600" spc="20" dirty="0">
                <a:latin typeface="Georgia"/>
                <a:cs typeface="Georgia"/>
              </a:rPr>
              <a:t>2020,</a:t>
            </a:r>
            <a:r>
              <a:rPr sz="600" spc="140" dirty="0">
                <a:latin typeface="Georgia"/>
                <a:cs typeface="Georgia"/>
              </a:rPr>
              <a:t> </a:t>
            </a:r>
            <a:r>
              <a:rPr sz="600" spc="50" dirty="0">
                <a:latin typeface="Georgia"/>
                <a:cs typeface="Georgia"/>
              </a:rPr>
              <a:t>Volume</a:t>
            </a:r>
            <a:r>
              <a:rPr sz="600" spc="140" dirty="0">
                <a:latin typeface="Georgia"/>
                <a:cs typeface="Georgia"/>
              </a:rPr>
              <a:t> </a:t>
            </a:r>
            <a:r>
              <a:rPr sz="600" spc="70" dirty="0">
                <a:latin typeface="Georgia"/>
                <a:cs typeface="Georgia"/>
              </a:rPr>
              <a:t>1,</a:t>
            </a:r>
            <a:r>
              <a:rPr sz="600" spc="140" dirty="0">
                <a:latin typeface="Georgia"/>
                <a:cs typeface="Georgia"/>
              </a:rPr>
              <a:t> </a:t>
            </a:r>
            <a:r>
              <a:rPr sz="600" spc="-10" dirty="0">
                <a:latin typeface="Georgia"/>
                <a:cs typeface="Georgia"/>
              </a:rPr>
              <a:t>pp.319–329.</a:t>
            </a:r>
            <a:endParaRPr sz="60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11" name="object 11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13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35"/>
              </a:spcBef>
            </a:pPr>
            <a:r>
              <a:rPr dirty="0"/>
              <a:t>Time</a:t>
            </a:r>
            <a:r>
              <a:rPr spc="175" dirty="0"/>
              <a:t> </a:t>
            </a:r>
            <a:r>
              <a:rPr dirty="0"/>
              <a:t>Series</a:t>
            </a:r>
            <a:r>
              <a:rPr spc="185" dirty="0"/>
              <a:t> </a:t>
            </a:r>
            <a:r>
              <a:rPr dirty="0"/>
              <a:t>for</a:t>
            </a:r>
            <a:r>
              <a:rPr spc="175" dirty="0"/>
              <a:t> </a:t>
            </a:r>
            <a:r>
              <a:rPr dirty="0"/>
              <a:t>Endemic</a:t>
            </a:r>
            <a:r>
              <a:rPr spc="180" dirty="0"/>
              <a:t> </a:t>
            </a:r>
            <a:r>
              <a:rPr spc="-10" dirty="0"/>
              <a:t>Equilibrium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01978" y="722166"/>
          <a:ext cx="1444625" cy="78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1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74341" y="1511579"/>
            <a:ext cx="5334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1145" y="1511579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0321" y="1511579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9496" y="1511579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300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8671" y="1511579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87847" y="1511579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500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5208" y="1577717"/>
            <a:ext cx="30607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Time</a:t>
            </a:r>
            <a:r>
              <a:rPr sz="4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(years)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3433" y="1461025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150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3433" y="1349013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3433" y="1237001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250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3433" y="1124990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300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3433" y="1012978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350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3433" y="900967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3433" y="788955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450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3433" y="676944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500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5461" y="786737"/>
            <a:ext cx="75565" cy="7696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Susceptible</a:t>
            </a:r>
            <a:r>
              <a:rPr sz="40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population</a:t>
            </a:r>
            <a:r>
              <a:rPr sz="40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(in</a:t>
            </a:r>
            <a:r>
              <a:rPr sz="40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million)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3226" y="898388"/>
            <a:ext cx="1445895" cy="504190"/>
          </a:xfrm>
          <a:custGeom>
            <a:avLst/>
            <a:gdLst/>
            <a:ahLst/>
            <a:cxnLst/>
            <a:rect l="l" t="t" r="r" b="b"/>
            <a:pathLst>
              <a:path w="1445895" h="504190">
                <a:moveTo>
                  <a:pt x="0" y="0"/>
                </a:moveTo>
                <a:lnTo>
                  <a:pt x="29" y="179"/>
                </a:lnTo>
                <a:lnTo>
                  <a:pt x="59" y="359"/>
                </a:lnTo>
                <a:lnTo>
                  <a:pt x="149" y="909"/>
                </a:lnTo>
                <a:lnTo>
                  <a:pt x="229" y="1363"/>
                </a:lnTo>
                <a:lnTo>
                  <a:pt x="304" y="1823"/>
                </a:lnTo>
                <a:lnTo>
                  <a:pt x="379" y="2287"/>
                </a:lnTo>
                <a:lnTo>
                  <a:pt x="764" y="4635"/>
                </a:lnTo>
                <a:lnTo>
                  <a:pt x="1138" y="7038"/>
                </a:lnTo>
                <a:lnTo>
                  <a:pt x="7613" y="56333"/>
                </a:lnTo>
                <a:lnTo>
                  <a:pt x="13887" y="117876"/>
                </a:lnTo>
                <a:lnTo>
                  <a:pt x="18258" y="166267"/>
                </a:lnTo>
                <a:lnTo>
                  <a:pt x="22634" y="216586"/>
                </a:lnTo>
                <a:lnTo>
                  <a:pt x="27005" y="266415"/>
                </a:lnTo>
                <a:lnTo>
                  <a:pt x="33234" y="332100"/>
                </a:lnTo>
                <a:lnTo>
                  <a:pt x="39463" y="387839"/>
                </a:lnTo>
                <a:lnTo>
                  <a:pt x="45688" y="431579"/>
                </a:lnTo>
                <a:lnTo>
                  <a:pt x="57372" y="482742"/>
                </a:lnTo>
                <a:lnTo>
                  <a:pt x="73747" y="504122"/>
                </a:lnTo>
                <a:lnTo>
                  <a:pt x="79991" y="501779"/>
                </a:lnTo>
                <a:lnTo>
                  <a:pt x="107591" y="454632"/>
                </a:lnTo>
                <a:lnTo>
                  <a:pt x="125335" y="408275"/>
                </a:lnTo>
                <a:lnTo>
                  <a:pt x="144372" y="354025"/>
                </a:lnTo>
                <a:lnTo>
                  <a:pt x="154538" y="324707"/>
                </a:lnTo>
                <a:lnTo>
                  <a:pt x="164703" y="295713"/>
                </a:lnTo>
                <a:lnTo>
                  <a:pt x="185669" y="238276"/>
                </a:lnTo>
                <a:lnTo>
                  <a:pt x="207269" y="184161"/>
                </a:lnTo>
                <a:lnTo>
                  <a:pt x="231962" y="130829"/>
                </a:lnTo>
                <a:lnTo>
                  <a:pt x="259746" y="84697"/>
                </a:lnTo>
                <a:lnTo>
                  <a:pt x="292531" y="53880"/>
                </a:lnTo>
                <a:lnTo>
                  <a:pt x="311429" y="49659"/>
                </a:lnTo>
                <a:lnTo>
                  <a:pt x="330327" y="55574"/>
                </a:lnTo>
                <a:lnTo>
                  <a:pt x="349219" y="69935"/>
                </a:lnTo>
                <a:lnTo>
                  <a:pt x="365779" y="87100"/>
                </a:lnTo>
                <a:lnTo>
                  <a:pt x="382334" y="105822"/>
                </a:lnTo>
                <a:lnTo>
                  <a:pt x="398894" y="123546"/>
                </a:lnTo>
                <a:lnTo>
                  <a:pt x="415453" y="138133"/>
                </a:lnTo>
                <a:lnTo>
                  <a:pt x="430415" y="147394"/>
                </a:lnTo>
                <a:lnTo>
                  <a:pt x="445376" y="152520"/>
                </a:lnTo>
                <a:lnTo>
                  <a:pt x="460332" y="153544"/>
                </a:lnTo>
                <a:lnTo>
                  <a:pt x="475299" y="151001"/>
                </a:lnTo>
                <a:lnTo>
                  <a:pt x="518304" y="130100"/>
                </a:lnTo>
                <a:lnTo>
                  <a:pt x="548262" y="109619"/>
                </a:lnTo>
                <a:lnTo>
                  <a:pt x="563877" y="98729"/>
                </a:lnTo>
                <a:lnTo>
                  <a:pt x="616479" y="68022"/>
                </a:lnTo>
                <a:lnTo>
                  <a:pt x="659215" y="55184"/>
                </a:lnTo>
                <a:lnTo>
                  <a:pt x="680585" y="53480"/>
                </a:lnTo>
                <a:lnTo>
                  <a:pt x="700712" y="54310"/>
                </a:lnTo>
                <a:lnTo>
                  <a:pt x="720838" y="57037"/>
                </a:lnTo>
                <a:lnTo>
                  <a:pt x="740970" y="60999"/>
                </a:lnTo>
                <a:lnTo>
                  <a:pt x="761096" y="65444"/>
                </a:lnTo>
                <a:lnTo>
                  <a:pt x="780833" y="69616"/>
                </a:lnTo>
                <a:lnTo>
                  <a:pt x="800565" y="73043"/>
                </a:lnTo>
                <a:lnTo>
                  <a:pt x="820297" y="75330"/>
                </a:lnTo>
                <a:lnTo>
                  <a:pt x="840034" y="76359"/>
                </a:lnTo>
                <a:lnTo>
                  <a:pt x="863028" y="76065"/>
                </a:lnTo>
                <a:lnTo>
                  <a:pt x="886017" y="74321"/>
                </a:lnTo>
                <a:lnTo>
                  <a:pt x="909011" y="71459"/>
                </a:lnTo>
                <a:lnTo>
                  <a:pt x="932000" y="68007"/>
                </a:lnTo>
                <a:lnTo>
                  <a:pt x="952546" y="64825"/>
                </a:lnTo>
                <a:lnTo>
                  <a:pt x="973097" y="61838"/>
                </a:lnTo>
                <a:lnTo>
                  <a:pt x="993643" y="59280"/>
                </a:lnTo>
                <a:lnTo>
                  <a:pt x="1014189" y="57292"/>
                </a:lnTo>
                <a:lnTo>
                  <a:pt x="1041404" y="55594"/>
                </a:lnTo>
                <a:lnTo>
                  <a:pt x="1068619" y="55039"/>
                </a:lnTo>
                <a:lnTo>
                  <a:pt x="1095829" y="55524"/>
                </a:lnTo>
                <a:lnTo>
                  <a:pt x="1123044" y="56618"/>
                </a:lnTo>
                <a:lnTo>
                  <a:pt x="1148216" y="57801"/>
                </a:lnTo>
                <a:lnTo>
                  <a:pt x="1173388" y="58915"/>
                </a:lnTo>
                <a:lnTo>
                  <a:pt x="1198555" y="59730"/>
                </a:lnTo>
                <a:lnTo>
                  <a:pt x="1223727" y="60154"/>
                </a:lnTo>
                <a:lnTo>
                  <a:pt x="1254709" y="60164"/>
                </a:lnTo>
                <a:lnTo>
                  <a:pt x="1285690" y="59610"/>
                </a:lnTo>
                <a:lnTo>
                  <a:pt x="1316672" y="58606"/>
                </a:lnTo>
                <a:lnTo>
                  <a:pt x="1347653" y="57502"/>
                </a:lnTo>
                <a:lnTo>
                  <a:pt x="1372211" y="56787"/>
                </a:lnTo>
                <a:lnTo>
                  <a:pt x="1396763" y="56233"/>
                </a:lnTo>
                <a:lnTo>
                  <a:pt x="1421316" y="55898"/>
                </a:lnTo>
                <a:lnTo>
                  <a:pt x="1445873" y="55763"/>
                </a:lnTo>
              </a:path>
            </a:pathLst>
          </a:custGeom>
          <a:ln w="999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2608229" y="722166"/>
          <a:ext cx="1450973" cy="78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2580592" y="1511579"/>
            <a:ext cx="5334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38116" y="1511579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8011" y="1511579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17906" y="1511579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300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07801" y="1511579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97696" y="1511579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500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63258" y="1577717"/>
            <a:ext cx="30607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Time</a:t>
            </a:r>
            <a:r>
              <a:rPr sz="4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(years)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44425" y="1461025"/>
            <a:ext cx="5334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12055" y="1265004"/>
            <a:ext cx="8128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12055" y="1068985"/>
            <a:ext cx="8128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12055" y="872964"/>
            <a:ext cx="8128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60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12055" y="676944"/>
            <a:ext cx="8128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80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44083" y="725242"/>
            <a:ext cx="75565" cy="9086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Infected</a:t>
            </a: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 with</a:t>
            </a:r>
            <a:r>
              <a:rPr sz="4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HPV</a:t>
            </a:r>
            <a:r>
              <a:rPr sz="4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population</a:t>
            </a:r>
            <a:r>
              <a:rPr sz="4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(in</a:t>
            </a:r>
            <a:r>
              <a:rPr sz="4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million)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93510" y="625591"/>
            <a:ext cx="718185" cy="97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b="1" dirty="0">
                <a:latin typeface="Arial"/>
                <a:cs typeface="Arial"/>
              </a:rPr>
              <a:t>(b)</a:t>
            </a:r>
            <a:r>
              <a:rPr sz="450" b="1" spc="35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Infected</a:t>
            </a:r>
            <a:r>
              <a:rPr sz="450" b="1" spc="45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with</a:t>
            </a:r>
            <a:r>
              <a:rPr sz="450" b="1" spc="45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HPV</a:t>
            </a:r>
            <a:r>
              <a:rPr sz="450" b="1" spc="50" dirty="0">
                <a:latin typeface="Arial"/>
                <a:cs typeface="Arial"/>
              </a:rPr>
              <a:t> </a:t>
            </a:r>
            <a:r>
              <a:rPr sz="450" b="1" spc="-20" dirty="0">
                <a:latin typeface="Arial"/>
                <a:cs typeface="Arial"/>
              </a:rPr>
              <a:t>I(t)</a:t>
            </a:r>
            <a:endParaRPr sz="4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609477" y="733005"/>
            <a:ext cx="1449705" cy="702945"/>
          </a:xfrm>
          <a:custGeom>
            <a:avLst/>
            <a:gdLst/>
            <a:ahLst/>
            <a:cxnLst/>
            <a:rect l="l" t="t" r="r" b="b"/>
            <a:pathLst>
              <a:path w="1449704" h="702944">
                <a:moveTo>
                  <a:pt x="0" y="482232"/>
                </a:moveTo>
                <a:lnTo>
                  <a:pt x="0" y="482232"/>
                </a:lnTo>
                <a:lnTo>
                  <a:pt x="0" y="482202"/>
                </a:lnTo>
                <a:lnTo>
                  <a:pt x="9" y="482037"/>
                </a:lnTo>
                <a:lnTo>
                  <a:pt x="29" y="481743"/>
                </a:lnTo>
                <a:lnTo>
                  <a:pt x="44" y="481498"/>
                </a:lnTo>
                <a:lnTo>
                  <a:pt x="59" y="481253"/>
                </a:lnTo>
                <a:lnTo>
                  <a:pt x="74" y="481008"/>
                </a:lnTo>
                <a:lnTo>
                  <a:pt x="149" y="479784"/>
                </a:lnTo>
                <a:lnTo>
                  <a:pt x="229" y="478556"/>
                </a:lnTo>
                <a:lnTo>
                  <a:pt x="304" y="477317"/>
                </a:lnTo>
                <a:lnTo>
                  <a:pt x="379" y="476083"/>
                </a:lnTo>
                <a:lnTo>
                  <a:pt x="764" y="469859"/>
                </a:lnTo>
                <a:lnTo>
                  <a:pt x="1143" y="463559"/>
                </a:lnTo>
                <a:lnTo>
                  <a:pt x="3816" y="417477"/>
                </a:lnTo>
                <a:lnTo>
                  <a:pt x="7632" y="346806"/>
                </a:lnTo>
                <a:lnTo>
                  <a:pt x="13922" y="225643"/>
                </a:lnTo>
                <a:lnTo>
                  <a:pt x="18303" y="146780"/>
                </a:lnTo>
                <a:lnTo>
                  <a:pt x="22689" y="80306"/>
                </a:lnTo>
                <a:lnTo>
                  <a:pt x="27070" y="31695"/>
                </a:lnTo>
                <a:lnTo>
                  <a:pt x="33314" y="0"/>
                </a:lnTo>
                <a:lnTo>
                  <a:pt x="39558" y="9646"/>
                </a:lnTo>
                <a:lnTo>
                  <a:pt x="45802" y="52267"/>
                </a:lnTo>
                <a:lnTo>
                  <a:pt x="52047" y="116423"/>
                </a:lnTo>
                <a:lnTo>
                  <a:pt x="57517" y="180409"/>
                </a:lnTo>
                <a:lnTo>
                  <a:pt x="62987" y="245479"/>
                </a:lnTo>
                <a:lnTo>
                  <a:pt x="68462" y="307612"/>
                </a:lnTo>
                <a:lnTo>
                  <a:pt x="73927" y="364650"/>
                </a:lnTo>
                <a:lnTo>
                  <a:pt x="80191" y="422567"/>
                </a:lnTo>
                <a:lnTo>
                  <a:pt x="86445" y="472286"/>
                </a:lnTo>
                <a:lnTo>
                  <a:pt x="92709" y="514248"/>
                </a:lnTo>
                <a:lnTo>
                  <a:pt x="107861" y="588984"/>
                </a:lnTo>
                <a:lnTo>
                  <a:pt x="125649" y="642645"/>
                </a:lnTo>
                <a:lnTo>
                  <a:pt x="154922" y="685755"/>
                </a:lnTo>
                <a:lnTo>
                  <a:pt x="196959" y="702820"/>
                </a:lnTo>
                <a:lnTo>
                  <a:pt x="207784" y="702420"/>
                </a:lnTo>
                <a:lnTo>
                  <a:pt x="246463" y="688368"/>
                </a:lnTo>
                <a:lnTo>
                  <a:pt x="293261" y="643010"/>
                </a:lnTo>
                <a:lnTo>
                  <a:pt x="331146" y="586821"/>
                </a:lnTo>
                <a:lnTo>
                  <a:pt x="350088" y="559157"/>
                </a:lnTo>
                <a:lnTo>
                  <a:pt x="366688" y="540239"/>
                </a:lnTo>
                <a:lnTo>
                  <a:pt x="383288" y="528565"/>
                </a:lnTo>
                <a:lnTo>
                  <a:pt x="399888" y="525008"/>
                </a:lnTo>
                <a:lnTo>
                  <a:pt x="416487" y="529624"/>
                </a:lnTo>
                <a:lnTo>
                  <a:pt x="431484" y="539410"/>
                </a:lnTo>
                <a:lnTo>
                  <a:pt x="446485" y="552118"/>
                </a:lnTo>
                <a:lnTo>
                  <a:pt x="461481" y="566020"/>
                </a:lnTo>
                <a:lnTo>
                  <a:pt x="476477" y="579588"/>
                </a:lnTo>
                <a:lnTo>
                  <a:pt x="519598" y="609945"/>
                </a:lnTo>
                <a:lnTo>
                  <a:pt x="565281" y="624716"/>
                </a:lnTo>
                <a:lnTo>
                  <a:pt x="580932" y="625955"/>
                </a:lnTo>
                <a:lnTo>
                  <a:pt x="596587" y="625526"/>
                </a:lnTo>
                <a:lnTo>
                  <a:pt x="618008" y="622598"/>
                </a:lnTo>
                <a:lnTo>
                  <a:pt x="639433" y="617498"/>
                </a:lnTo>
                <a:lnTo>
                  <a:pt x="660853" y="610959"/>
                </a:lnTo>
                <a:lnTo>
                  <a:pt x="682274" y="603736"/>
                </a:lnTo>
                <a:lnTo>
                  <a:pt x="702455" y="597012"/>
                </a:lnTo>
                <a:lnTo>
                  <a:pt x="722637" y="591167"/>
                </a:lnTo>
                <a:lnTo>
                  <a:pt x="742813" y="586811"/>
                </a:lnTo>
                <a:lnTo>
                  <a:pt x="762990" y="584254"/>
                </a:lnTo>
                <a:lnTo>
                  <a:pt x="782776" y="583554"/>
                </a:lnTo>
                <a:lnTo>
                  <a:pt x="802558" y="584473"/>
                </a:lnTo>
                <a:lnTo>
                  <a:pt x="822340" y="586681"/>
                </a:lnTo>
                <a:lnTo>
                  <a:pt x="842127" y="589709"/>
                </a:lnTo>
                <a:lnTo>
                  <a:pt x="865171" y="593660"/>
                </a:lnTo>
                <a:lnTo>
                  <a:pt x="888225" y="597456"/>
                </a:lnTo>
                <a:lnTo>
                  <a:pt x="911269" y="600559"/>
                </a:lnTo>
                <a:lnTo>
                  <a:pt x="934317" y="602742"/>
                </a:lnTo>
                <a:lnTo>
                  <a:pt x="954914" y="603881"/>
                </a:lnTo>
                <a:lnTo>
                  <a:pt x="975515" y="604225"/>
                </a:lnTo>
                <a:lnTo>
                  <a:pt x="996116" y="603841"/>
                </a:lnTo>
                <a:lnTo>
                  <a:pt x="1016712" y="602891"/>
                </a:lnTo>
                <a:lnTo>
                  <a:pt x="1043997" y="601053"/>
                </a:lnTo>
                <a:lnTo>
                  <a:pt x="1071277" y="598980"/>
                </a:lnTo>
                <a:lnTo>
                  <a:pt x="1098557" y="597117"/>
                </a:lnTo>
                <a:lnTo>
                  <a:pt x="1125837" y="595738"/>
                </a:lnTo>
                <a:lnTo>
                  <a:pt x="1151074" y="595009"/>
                </a:lnTo>
                <a:lnTo>
                  <a:pt x="1176306" y="594854"/>
                </a:lnTo>
                <a:lnTo>
                  <a:pt x="1201537" y="595224"/>
                </a:lnTo>
                <a:lnTo>
                  <a:pt x="1226769" y="595948"/>
                </a:lnTo>
                <a:lnTo>
                  <a:pt x="1257831" y="597062"/>
                </a:lnTo>
                <a:lnTo>
                  <a:pt x="1288887" y="598126"/>
                </a:lnTo>
                <a:lnTo>
                  <a:pt x="1319949" y="598875"/>
                </a:lnTo>
                <a:lnTo>
                  <a:pt x="1351005" y="599210"/>
                </a:lnTo>
                <a:lnTo>
                  <a:pt x="1375623" y="599190"/>
                </a:lnTo>
                <a:lnTo>
                  <a:pt x="1400240" y="598975"/>
                </a:lnTo>
                <a:lnTo>
                  <a:pt x="1424853" y="598625"/>
                </a:lnTo>
                <a:lnTo>
                  <a:pt x="1449470" y="598221"/>
                </a:lnTo>
              </a:path>
            </a:pathLst>
          </a:custGeom>
          <a:ln w="99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084365" y="483118"/>
            <a:ext cx="1692275" cy="24002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345"/>
              </a:spcBef>
            </a:pPr>
            <a:r>
              <a:rPr sz="550" b="1" dirty="0">
                <a:latin typeface="Arial"/>
                <a:cs typeface="Arial"/>
              </a:rPr>
              <a:t>Endemic</a:t>
            </a:r>
            <a:r>
              <a:rPr sz="550" b="1" spc="-5" dirty="0">
                <a:latin typeface="Arial"/>
                <a:cs typeface="Arial"/>
              </a:rPr>
              <a:t> </a:t>
            </a:r>
            <a:r>
              <a:rPr sz="550" b="1" dirty="0">
                <a:latin typeface="Arial"/>
                <a:cs typeface="Arial"/>
              </a:rPr>
              <a:t>Equilibrium</a:t>
            </a:r>
            <a:r>
              <a:rPr sz="550" b="1" spc="-5" dirty="0">
                <a:latin typeface="Arial"/>
                <a:cs typeface="Arial"/>
              </a:rPr>
              <a:t> </a:t>
            </a:r>
            <a:r>
              <a:rPr sz="550" b="1" dirty="0">
                <a:latin typeface="Arial"/>
                <a:cs typeface="Arial"/>
              </a:rPr>
              <a:t>(Ro</a:t>
            </a:r>
            <a:r>
              <a:rPr sz="550" b="1" spc="-5" dirty="0">
                <a:latin typeface="Arial"/>
                <a:cs typeface="Arial"/>
              </a:rPr>
              <a:t> </a:t>
            </a:r>
            <a:r>
              <a:rPr sz="550" b="1" dirty="0">
                <a:latin typeface="Arial"/>
                <a:cs typeface="Arial"/>
              </a:rPr>
              <a:t>=</a:t>
            </a:r>
            <a:r>
              <a:rPr sz="550" b="1" spc="-5" dirty="0">
                <a:latin typeface="Arial"/>
                <a:cs typeface="Arial"/>
              </a:rPr>
              <a:t> </a:t>
            </a:r>
            <a:r>
              <a:rPr sz="550" b="1" spc="-10" dirty="0">
                <a:latin typeface="Arial"/>
                <a:cs typeface="Arial"/>
              </a:rPr>
              <a:t>1.7402)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450" b="1" dirty="0">
                <a:latin typeface="Arial"/>
                <a:cs typeface="Arial"/>
              </a:rPr>
              <a:t>(a)</a:t>
            </a:r>
            <a:r>
              <a:rPr sz="450" b="1" spc="65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Susceptible</a:t>
            </a:r>
            <a:r>
              <a:rPr sz="450" b="1" spc="65" dirty="0">
                <a:latin typeface="Arial"/>
                <a:cs typeface="Arial"/>
              </a:rPr>
              <a:t> </a:t>
            </a:r>
            <a:r>
              <a:rPr sz="450" b="1" spc="-20" dirty="0">
                <a:latin typeface="Arial"/>
                <a:cs typeface="Arial"/>
              </a:rPr>
              <a:t>S(t)</a:t>
            </a:r>
            <a:endParaRPr sz="450">
              <a:latin typeface="Arial"/>
              <a:cs typeface="Arial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701978" y="1811966"/>
          <a:ext cx="1444625" cy="787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674341" y="2604977"/>
            <a:ext cx="5334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1145" y="2604977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20321" y="2604977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09496" y="2604977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300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98671" y="2604977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087847" y="2604977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500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55208" y="2671115"/>
            <a:ext cx="30607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Time</a:t>
            </a:r>
            <a:r>
              <a:rPr sz="4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(years)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8174" y="2554421"/>
            <a:ext cx="5334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38174" y="2357502"/>
            <a:ext cx="5334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05803" y="2160584"/>
            <a:ext cx="8128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05803" y="1963665"/>
            <a:ext cx="8128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05803" y="1766744"/>
            <a:ext cx="8128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7832" y="1839121"/>
            <a:ext cx="75565" cy="8559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Cervical</a:t>
            </a:r>
            <a:r>
              <a:rPr sz="400" spc="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cancer</a:t>
            </a:r>
            <a:r>
              <a:rPr sz="40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population</a:t>
            </a:r>
            <a:r>
              <a:rPr sz="400" spc="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(in</a:t>
            </a:r>
            <a:r>
              <a:rPr sz="40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million)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25019" y="1715391"/>
            <a:ext cx="678815" cy="97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b="1" dirty="0">
                <a:latin typeface="Arial"/>
                <a:cs typeface="Arial"/>
              </a:rPr>
              <a:t>(c)</a:t>
            </a:r>
            <a:r>
              <a:rPr sz="450" b="1" spc="55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Cervical</a:t>
            </a:r>
            <a:r>
              <a:rPr sz="450" b="1" spc="55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cancer</a:t>
            </a:r>
            <a:r>
              <a:rPr sz="450" b="1" spc="55" dirty="0">
                <a:latin typeface="Arial"/>
                <a:cs typeface="Arial"/>
              </a:rPr>
              <a:t> </a:t>
            </a:r>
            <a:r>
              <a:rPr sz="450" b="1" spc="-20" dirty="0">
                <a:latin typeface="Arial"/>
                <a:cs typeface="Arial"/>
              </a:rPr>
              <a:t>C(t)</a:t>
            </a:r>
            <a:endParaRPr sz="45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03226" y="2000812"/>
            <a:ext cx="1445895" cy="596265"/>
          </a:xfrm>
          <a:custGeom>
            <a:avLst/>
            <a:gdLst/>
            <a:ahLst/>
            <a:cxnLst/>
            <a:rect l="l" t="t" r="r" b="b"/>
            <a:pathLst>
              <a:path w="1445895" h="596264">
                <a:moveTo>
                  <a:pt x="0" y="596176"/>
                </a:moveTo>
                <a:lnTo>
                  <a:pt x="29" y="596030"/>
                </a:lnTo>
                <a:lnTo>
                  <a:pt x="59" y="595882"/>
                </a:lnTo>
                <a:lnTo>
                  <a:pt x="149" y="595435"/>
                </a:lnTo>
                <a:lnTo>
                  <a:pt x="229" y="595066"/>
                </a:lnTo>
                <a:lnTo>
                  <a:pt x="304" y="594692"/>
                </a:lnTo>
                <a:lnTo>
                  <a:pt x="379" y="594313"/>
                </a:lnTo>
                <a:lnTo>
                  <a:pt x="764" y="592422"/>
                </a:lnTo>
                <a:lnTo>
                  <a:pt x="1138" y="590490"/>
                </a:lnTo>
                <a:lnTo>
                  <a:pt x="7613" y="552100"/>
                </a:lnTo>
                <a:lnTo>
                  <a:pt x="13887" y="504227"/>
                </a:lnTo>
                <a:lnTo>
                  <a:pt x="18258" y="464943"/>
                </a:lnTo>
                <a:lnTo>
                  <a:pt x="22634" y="421639"/>
                </a:lnTo>
                <a:lnTo>
                  <a:pt x="27005" y="375516"/>
                </a:lnTo>
                <a:lnTo>
                  <a:pt x="33234" y="307867"/>
                </a:lnTo>
                <a:lnTo>
                  <a:pt x="39463" y="242227"/>
                </a:lnTo>
                <a:lnTo>
                  <a:pt x="45688" y="182457"/>
                </a:lnTo>
                <a:lnTo>
                  <a:pt x="51917" y="130864"/>
                </a:lnTo>
                <a:lnTo>
                  <a:pt x="62832" y="62907"/>
                </a:lnTo>
                <a:lnTo>
                  <a:pt x="73747" y="22084"/>
                </a:lnTo>
                <a:lnTo>
                  <a:pt x="92480" y="0"/>
                </a:lnTo>
                <a:lnTo>
                  <a:pt x="98724" y="1953"/>
                </a:lnTo>
                <a:lnTo>
                  <a:pt x="125335" y="38115"/>
                </a:lnTo>
                <a:lnTo>
                  <a:pt x="144372" y="76999"/>
                </a:lnTo>
                <a:lnTo>
                  <a:pt x="154538" y="98924"/>
                </a:lnTo>
                <a:lnTo>
                  <a:pt x="164703" y="120749"/>
                </a:lnTo>
                <a:lnTo>
                  <a:pt x="185669" y="163719"/>
                </a:lnTo>
                <a:lnTo>
                  <a:pt x="207269" y="203093"/>
                </a:lnTo>
                <a:lnTo>
                  <a:pt x="231962" y="240054"/>
                </a:lnTo>
                <a:lnTo>
                  <a:pt x="259746" y="269387"/>
                </a:lnTo>
                <a:lnTo>
                  <a:pt x="292531" y="284529"/>
                </a:lnTo>
                <a:lnTo>
                  <a:pt x="311429" y="282385"/>
                </a:lnTo>
                <a:lnTo>
                  <a:pt x="330327" y="271970"/>
                </a:lnTo>
                <a:lnTo>
                  <a:pt x="349219" y="254416"/>
                </a:lnTo>
                <a:lnTo>
                  <a:pt x="365779" y="234794"/>
                </a:lnTo>
                <a:lnTo>
                  <a:pt x="382334" y="213459"/>
                </a:lnTo>
                <a:lnTo>
                  <a:pt x="398894" y="192723"/>
                </a:lnTo>
                <a:lnTo>
                  <a:pt x="430415" y="161496"/>
                </a:lnTo>
                <a:lnTo>
                  <a:pt x="475299" y="146710"/>
                </a:lnTo>
                <a:lnTo>
                  <a:pt x="489635" y="148688"/>
                </a:lnTo>
                <a:lnTo>
                  <a:pt x="532646" y="165952"/>
                </a:lnTo>
                <a:lnTo>
                  <a:pt x="563877" y="182752"/>
                </a:lnTo>
                <a:lnTo>
                  <a:pt x="579493" y="190799"/>
                </a:lnTo>
                <a:lnTo>
                  <a:pt x="616479" y="206340"/>
                </a:lnTo>
                <a:lnTo>
                  <a:pt x="659215" y="214877"/>
                </a:lnTo>
                <a:lnTo>
                  <a:pt x="680585" y="214982"/>
                </a:lnTo>
                <a:lnTo>
                  <a:pt x="700712" y="212939"/>
                </a:lnTo>
                <a:lnTo>
                  <a:pt x="720838" y="209213"/>
                </a:lnTo>
                <a:lnTo>
                  <a:pt x="740970" y="204387"/>
                </a:lnTo>
                <a:lnTo>
                  <a:pt x="761096" y="199122"/>
                </a:lnTo>
                <a:lnTo>
                  <a:pt x="780833" y="194146"/>
                </a:lnTo>
                <a:lnTo>
                  <a:pt x="800565" y="189885"/>
                </a:lnTo>
                <a:lnTo>
                  <a:pt x="820297" y="186743"/>
                </a:lnTo>
                <a:lnTo>
                  <a:pt x="840034" y="184845"/>
                </a:lnTo>
                <a:lnTo>
                  <a:pt x="863028" y="184141"/>
                </a:lnTo>
                <a:lnTo>
                  <a:pt x="886017" y="184910"/>
                </a:lnTo>
                <a:lnTo>
                  <a:pt x="909011" y="186853"/>
                </a:lnTo>
                <a:lnTo>
                  <a:pt x="932000" y="189456"/>
                </a:lnTo>
                <a:lnTo>
                  <a:pt x="952546" y="191928"/>
                </a:lnTo>
                <a:lnTo>
                  <a:pt x="973097" y="194291"/>
                </a:lnTo>
                <a:lnTo>
                  <a:pt x="993643" y="196289"/>
                </a:lnTo>
                <a:lnTo>
                  <a:pt x="1014189" y="197788"/>
                </a:lnTo>
                <a:lnTo>
                  <a:pt x="1041404" y="198952"/>
                </a:lnTo>
                <a:lnTo>
                  <a:pt x="1068619" y="199087"/>
                </a:lnTo>
                <a:lnTo>
                  <a:pt x="1095829" y="198273"/>
                </a:lnTo>
                <a:lnTo>
                  <a:pt x="1123044" y="196904"/>
                </a:lnTo>
                <a:lnTo>
                  <a:pt x="1148216" y="195510"/>
                </a:lnTo>
                <a:lnTo>
                  <a:pt x="1173388" y="194186"/>
                </a:lnTo>
                <a:lnTo>
                  <a:pt x="1198555" y="193162"/>
                </a:lnTo>
                <a:lnTo>
                  <a:pt x="1223727" y="192528"/>
                </a:lnTo>
                <a:lnTo>
                  <a:pt x="1254709" y="192248"/>
                </a:lnTo>
                <a:lnTo>
                  <a:pt x="1285690" y="192543"/>
                </a:lnTo>
                <a:lnTo>
                  <a:pt x="1316672" y="193297"/>
                </a:lnTo>
                <a:lnTo>
                  <a:pt x="1347653" y="194176"/>
                </a:lnTo>
                <a:lnTo>
                  <a:pt x="1372211" y="194746"/>
                </a:lnTo>
                <a:lnTo>
                  <a:pt x="1396763" y="195175"/>
                </a:lnTo>
                <a:lnTo>
                  <a:pt x="1421316" y="195410"/>
                </a:lnTo>
                <a:lnTo>
                  <a:pt x="1445873" y="195460"/>
                </a:lnTo>
              </a:path>
            </a:pathLst>
          </a:custGeom>
          <a:ln w="9991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2608229" y="1811966"/>
          <a:ext cx="1450973" cy="786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2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DEDE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DEDEDE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EDEDE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DEDEDE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6" name="object 56"/>
          <p:cNvSpPr txBox="1"/>
          <p:nvPr/>
        </p:nvSpPr>
        <p:spPr>
          <a:xfrm>
            <a:off x="2580592" y="2604977"/>
            <a:ext cx="5334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838116" y="2604977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128011" y="2604977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417906" y="2604977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300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707801" y="2604977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400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997696" y="2604977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500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163258" y="2671115"/>
            <a:ext cx="30607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Time</a:t>
            </a:r>
            <a:r>
              <a:rPr sz="4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(years)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544425" y="2554421"/>
            <a:ext cx="5334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512055" y="2441898"/>
            <a:ext cx="8128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50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479684" y="2329372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479684" y="2216846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150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479684" y="2104320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479684" y="1991794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250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479684" y="1879269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300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479684" y="1766743"/>
            <a:ext cx="109220" cy="85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350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411713" y="1882431"/>
            <a:ext cx="75565" cy="7531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Recovered</a:t>
            </a:r>
            <a:r>
              <a:rPr sz="400" spc="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population</a:t>
            </a:r>
            <a:r>
              <a:rPr sz="400" spc="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dirty="0">
                <a:solidFill>
                  <a:srgbClr val="252525"/>
                </a:solidFill>
                <a:latin typeface="Arial MT"/>
                <a:cs typeface="Arial MT"/>
              </a:rPr>
              <a:t>(in</a:t>
            </a:r>
            <a:r>
              <a:rPr sz="400" spc="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400" spc="-10" dirty="0">
                <a:solidFill>
                  <a:srgbClr val="252525"/>
                </a:solidFill>
                <a:latin typeface="Arial MT"/>
                <a:cs typeface="Arial MT"/>
              </a:rPr>
              <a:t>million)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008605" y="1715391"/>
            <a:ext cx="545465" cy="97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b="1" dirty="0">
                <a:latin typeface="Arial"/>
                <a:cs typeface="Arial"/>
              </a:rPr>
              <a:t>(d)</a:t>
            </a:r>
            <a:r>
              <a:rPr sz="450" b="1" spc="60" dirty="0">
                <a:latin typeface="Arial"/>
                <a:cs typeface="Arial"/>
              </a:rPr>
              <a:t> </a:t>
            </a:r>
            <a:r>
              <a:rPr sz="450" b="1" dirty="0">
                <a:latin typeface="Arial"/>
                <a:cs typeface="Arial"/>
              </a:rPr>
              <a:t>Recovered</a:t>
            </a:r>
            <a:r>
              <a:rPr sz="450" b="1" spc="65" dirty="0">
                <a:latin typeface="Arial"/>
                <a:cs typeface="Arial"/>
              </a:rPr>
              <a:t> </a:t>
            </a:r>
            <a:r>
              <a:rPr sz="450" b="1" spc="-20" dirty="0">
                <a:latin typeface="Arial"/>
                <a:cs typeface="Arial"/>
              </a:rPr>
              <a:t>R(t)</a:t>
            </a:r>
            <a:endParaRPr sz="45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609477" y="1917768"/>
            <a:ext cx="1449705" cy="683260"/>
          </a:xfrm>
          <a:custGeom>
            <a:avLst/>
            <a:gdLst/>
            <a:ahLst/>
            <a:cxnLst/>
            <a:rect l="l" t="t" r="r" b="b"/>
            <a:pathLst>
              <a:path w="1449704" h="683260">
                <a:moveTo>
                  <a:pt x="0" y="683123"/>
                </a:moveTo>
                <a:lnTo>
                  <a:pt x="29" y="682983"/>
                </a:lnTo>
                <a:lnTo>
                  <a:pt x="59" y="682838"/>
                </a:lnTo>
                <a:lnTo>
                  <a:pt x="149" y="682415"/>
                </a:lnTo>
                <a:lnTo>
                  <a:pt x="229" y="682057"/>
                </a:lnTo>
                <a:lnTo>
                  <a:pt x="304" y="681698"/>
                </a:lnTo>
                <a:lnTo>
                  <a:pt x="379" y="681340"/>
                </a:lnTo>
                <a:lnTo>
                  <a:pt x="764" y="679523"/>
                </a:lnTo>
                <a:lnTo>
                  <a:pt x="1143" y="677667"/>
                </a:lnTo>
                <a:lnTo>
                  <a:pt x="9541" y="627381"/>
                </a:lnTo>
                <a:lnTo>
                  <a:pt x="18303" y="554559"/>
                </a:lnTo>
                <a:lnTo>
                  <a:pt x="22689" y="511287"/>
                </a:lnTo>
                <a:lnTo>
                  <a:pt x="27070" y="464792"/>
                </a:lnTo>
                <a:lnTo>
                  <a:pt x="33314" y="395737"/>
                </a:lnTo>
                <a:lnTo>
                  <a:pt x="39558" y="327494"/>
                </a:lnTo>
                <a:lnTo>
                  <a:pt x="45802" y="263818"/>
                </a:lnTo>
                <a:lnTo>
                  <a:pt x="52047" y="207070"/>
                </a:lnTo>
                <a:lnTo>
                  <a:pt x="57517" y="164049"/>
                </a:lnTo>
                <a:lnTo>
                  <a:pt x="68462" y="97250"/>
                </a:lnTo>
                <a:lnTo>
                  <a:pt x="80191" y="51133"/>
                </a:lnTo>
                <a:lnTo>
                  <a:pt x="98969" y="17389"/>
                </a:lnTo>
                <a:lnTo>
                  <a:pt x="107861" y="13073"/>
                </a:lnTo>
                <a:lnTo>
                  <a:pt x="116752" y="13747"/>
                </a:lnTo>
                <a:lnTo>
                  <a:pt x="154922" y="47191"/>
                </a:lnTo>
                <a:lnTo>
                  <a:pt x="186129" y="87384"/>
                </a:lnTo>
                <a:lnTo>
                  <a:pt x="196959" y="101307"/>
                </a:lnTo>
                <a:lnTo>
                  <a:pt x="232536" y="141994"/>
                </a:lnTo>
                <a:lnTo>
                  <a:pt x="274318" y="171572"/>
                </a:lnTo>
                <a:lnTo>
                  <a:pt x="293261" y="175533"/>
                </a:lnTo>
                <a:lnTo>
                  <a:pt x="312203" y="171962"/>
                </a:lnTo>
                <a:lnTo>
                  <a:pt x="350088" y="141220"/>
                </a:lnTo>
                <a:lnTo>
                  <a:pt x="383288" y="95772"/>
                </a:lnTo>
                <a:lnTo>
                  <a:pt x="399888" y="71584"/>
                </a:lnTo>
                <a:lnTo>
                  <a:pt x="416487" y="49144"/>
                </a:lnTo>
                <a:lnTo>
                  <a:pt x="446485" y="18123"/>
                </a:lnTo>
                <a:lnTo>
                  <a:pt x="490854" y="0"/>
                </a:lnTo>
                <a:lnTo>
                  <a:pt x="505226" y="24"/>
                </a:lnTo>
                <a:lnTo>
                  <a:pt x="549620" y="10820"/>
                </a:lnTo>
                <a:lnTo>
                  <a:pt x="580932" y="22499"/>
                </a:lnTo>
                <a:lnTo>
                  <a:pt x="596587" y="28129"/>
                </a:lnTo>
                <a:lnTo>
                  <a:pt x="618008" y="34833"/>
                </a:lnTo>
                <a:lnTo>
                  <a:pt x="639433" y="39628"/>
                </a:lnTo>
                <a:lnTo>
                  <a:pt x="660853" y="41991"/>
                </a:lnTo>
                <a:lnTo>
                  <a:pt x="682274" y="41876"/>
                </a:lnTo>
                <a:lnTo>
                  <a:pt x="722637" y="35762"/>
                </a:lnTo>
                <a:lnTo>
                  <a:pt x="762990" y="24662"/>
                </a:lnTo>
                <a:lnTo>
                  <a:pt x="782776" y="18857"/>
                </a:lnTo>
                <a:lnTo>
                  <a:pt x="802558" y="13562"/>
                </a:lnTo>
                <a:lnTo>
                  <a:pt x="822340" y="9211"/>
                </a:lnTo>
                <a:lnTo>
                  <a:pt x="842127" y="6009"/>
                </a:lnTo>
                <a:lnTo>
                  <a:pt x="865171" y="3751"/>
                </a:lnTo>
                <a:lnTo>
                  <a:pt x="888225" y="3057"/>
                </a:lnTo>
                <a:lnTo>
                  <a:pt x="911269" y="3711"/>
                </a:lnTo>
                <a:lnTo>
                  <a:pt x="934317" y="5255"/>
                </a:lnTo>
                <a:lnTo>
                  <a:pt x="954914" y="6998"/>
                </a:lnTo>
                <a:lnTo>
                  <a:pt x="975515" y="8816"/>
                </a:lnTo>
                <a:lnTo>
                  <a:pt x="996116" y="10460"/>
                </a:lnTo>
                <a:lnTo>
                  <a:pt x="1016712" y="11759"/>
                </a:lnTo>
                <a:lnTo>
                  <a:pt x="1043997" y="12813"/>
                </a:lnTo>
                <a:lnTo>
                  <a:pt x="1071277" y="12938"/>
                </a:lnTo>
                <a:lnTo>
                  <a:pt x="1098557" y="12128"/>
                </a:lnTo>
                <a:lnTo>
                  <a:pt x="1125837" y="10710"/>
                </a:lnTo>
                <a:lnTo>
                  <a:pt x="1151074" y="9186"/>
                </a:lnTo>
                <a:lnTo>
                  <a:pt x="1176306" y="7657"/>
                </a:lnTo>
                <a:lnTo>
                  <a:pt x="1201537" y="6344"/>
                </a:lnTo>
                <a:lnTo>
                  <a:pt x="1226769" y="5375"/>
                </a:lnTo>
                <a:lnTo>
                  <a:pt x="1257831" y="4675"/>
                </a:lnTo>
                <a:lnTo>
                  <a:pt x="1288887" y="4570"/>
                </a:lnTo>
                <a:lnTo>
                  <a:pt x="1319949" y="5010"/>
                </a:lnTo>
                <a:lnTo>
                  <a:pt x="1351005" y="5674"/>
                </a:lnTo>
                <a:lnTo>
                  <a:pt x="1375623" y="6139"/>
                </a:lnTo>
                <a:lnTo>
                  <a:pt x="1400240" y="6519"/>
                </a:lnTo>
                <a:lnTo>
                  <a:pt x="1424853" y="6738"/>
                </a:lnTo>
                <a:lnTo>
                  <a:pt x="1449470" y="6788"/>
                </a:lnTo>
              </a:path>
            </a:pathLst>
          </a:custGeom>
          <a:ln w="9991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641134" y="2974078"/>
            <a:ext cx="332612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Times New Roman"/>
                <a:cs typeface="Times New Roman"/>
              </a:rPr>
              <a:t>Figure</a:t>
            </a:r>
            <a:r>
              <a:rPr sz="1000" spc="18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3333B2"/>
                </a:solidFill>
                <a:latin typeface="Times New Roman"/>
                <a:cs typeface="Times New Roman"/>
              </a:rPr>
              <a:t>2:</a:t>
            </a:r>
            <a:r>
              <a:rPr sz="1000" spc="19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Time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series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under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endemic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equilibrium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spc="80" dirty="0">
                <a:latin typeface="Times New Roman"/>
                <a:cs typeface="Times New Roman"/>
              </a:rPr>
              <a:t>(</a:t>
            </a:r>
            <a:r>
              <a:rPr sz="1000" i="1" spc="80" dirty="0">
                <a:latin typeface="Calibri"/>
                <a:cs typeface="Calibri"/>
              </a:rPr>
              <a:t>R</a:t>
            </a:r>
            <a:r>
              <a:rPr sz="1050" spc="120" baseline="-11904" dirty="0">
                <a:latin typeface="Roboto"/>
                <a:cs typeface="Roboto"/>
              </a:rPr>
              <a:t>0</a:t>
            </a:r>
            <a:r>
              <a:rPr sz="1050" spc="382" baseline="-11904" dirty="0">
                <a:latin typeface="Roboto"/>
                <a:cs typeface="Roboto"/>
              </a:rPr>
              <a:t> </a:t>
            </a:r>
            <a:r>
              <a:rPr sz="1000" i="1" spc="270" dirty="0">
                <a:latin typeface="Calibri"/>
                <a:cs typeface="Calibri"/>
              </a:rPr>
              <a:t>&gt;</a:t>
            </a:r>
            <a:r>
              <a:rPr sz="1000" i="1" spc="140" dirty="0">
                <a:latin typeface="Calibri"/>
                <a:cs typeface="Calibri"/>
              </a:rPr>
              <a:t> </a:t>
            </a:r>
            <a:r>
              <a:rPr sz="1000" spc="-25" dirty="0">
                <a:latin typeface="Tahoma"/>
                <a:cs typeface="Tahoma"/>
              </a:rPr>
              <a:t>1</a:t>
            </a:r>
            <a:r>
              <a:rPr sz="1000" spc="-25" dirty="0">
                <a:latin typeface="Times New Roman"/>
                <a:cs typeface="Times New Roman"/>
              </a:rPr>
              <a:t>).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76" name="object 76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79" name="object 7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14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Bifurcation</a:t>
            </a:r>
            <a:r>
              <a:rPr spc="365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46" y="1851177"/>
            <a:ext cx="63220" cy="632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46" y="2061197"/>
            <a:ext cx="63220" cy="632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46" y="2271229"/>
            <a:ext cx="63220" cy="632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46" y="2481262"/>
            <a:ext cx="63220" cy="6322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0444" y="867345"/>
            <a:ext cx="4346575" cy="172021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b="1" spc="-40" dirty="0">
                <a:latin typeface="Georgia"/>
                <a:cs typeface="Georgia"/>
              </a:rPr>
              <a:t>Transcritical</a:t>
            </a:r>
            <a:r>
              <a:rPr sz="1100" b="1" spc="250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Bifurcation</a:t>
            </a:r>
            <a:r>
              <a:rPr sz="1100" spc="-30" dirty="0">
                <a:latin typeface="Times New Roman"/>
                <a:cs typeface="Times New Roman"/>
              </a:rPr>
              <a:t>: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transcritical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bifurcation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local </a:t>
            </a:r>
            <a:r>
              <a:rPr sz="1100" dirty="0">
                <a:latin typeface="Times New Roman"/>
                <a:cs typeface="Times New Roman"/>
              </a:rPr>
              <a:t>bifurcation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stability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fixed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exchanged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</a:t>
            </a:r>
            <a:r>
              <a:rPr sz="1100" spc="10" dirty="0">
                <a:latin typeface="Times New Roman"/>
                <a:cs typeface="Times New Roman"/>
              </a:rPr>
              <a:t>parameter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passes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through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critical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value.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Specifically,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two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equilibrium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intersect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exchange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stability,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meaning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stable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fixed </a:t>
            </a:r>
            <a:r>
              <a:rPr sz="1100" dirty="0">
                <a:latin typeface="Times New Roman"/>
                <a:cs typeface="Times New Roman"/>
              </a:rPr>
              <a:t>point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becomes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unstable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vice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versa.</a:t>
            </a:r>
            <a:endParaRPr sz="1100">
              <a:latin typeface="Times New Roman"/>
              <a:cs typeface="Times New Roman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imes New Roman"/>
                <a:cs typeface="Times New Roman"/>
              </a:rPr>
              <a:t>Occurs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80" dirty="0">
                <a:latin typeface="Times New Roman"/>
                <a:cs typeface="Times New Roman"/>
              </a:rPr>
              <a:t>at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307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314960" marR="85725">
              <a:lnSpc>
                <a:spcPct val="125299"/>
              </a:lnSpc>
            </a:pPr>
            <a:r>
              <a:rPr sz="1100" dirty="0">
                <a:latin typeface="Times New Roman"/>
                <a:cs typeface="Times New Roman"/>
              </a:rPr>
              <a:t>Exchange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stability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disease-free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endemic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equilibria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262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&lt;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i="1" spc="140" dirty="0">
                <a:latin typeface="Calibri"/>
                <a:cs typeface="Calibri"/>
              </a:rPr>
              <a:t>E</a:t>
            </a:r>
            <a:r>
              <a:rPr sz="1200" spc="209" baseline="-10416" dirty="0">
                <a:latin typeface="Calibri"/>
                <a:cs typeface="Calibri"/>
              </a:rPr>
              <a:t>0</a:t>
            </a:r>
            <a:r>
              <a:rPr sz="1200" spc="352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stable</a:t>
            </a:r>
            <a:endParaRPr sz="1100">
              <a:latin typeface="Times New Roman"/>
              <a:cs typeface="Times New Roman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262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&gt;</a:t>
            </a:r>
            <a:r>
              <a:rPr sz="1100" i="1" spc="6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i="1" spc="140" dirty="0">
                <a:latin typeface="Calibri"/>
                <a:cs typeface="Calibri"/>
              </a:rPr>
              <a:t>E</a:t>
            </a:r>
            <a:r>
              <a:rPr sz="1200" spc="209" baseline="-10416" dirty="0">
                <a:latin typeface="Calibri"/>
                <a:cs typeface="Calibri"/>
              </a:rPr>
              <a:t>1</a:t>
            </a:r>
            <a:r>
              <a:rPr sz="1200" spc="352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becomes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stable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10" name="object 10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15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Bifurcation</a:t>
            </a:r>
            <a:r>
              <a:rPr spc="365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7" y="900455"/>
            <a:ext cx="63220" cy="632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444" y="814957"/>
            <a:ext cx="22802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10" dirty="0">
                <a:latin typeface="Times New Roman"/>
                <a:cs typeface="Times New Roman"/>
              </a:rPr>
              <a:t>Parameter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values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are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taken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from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E</a:t>
            </a:r>
            <a:r>
              <a:rPr sz="1200" spc="37" baseline="-10416" dirty="0">
                <a:latin typeface="Calibri"/>
                <a:cs typeface="Calibri"/>
              </a:rPr>
              <a:t>1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6863" y="2463432"/>
            <a:ext cx="55244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936" y="2463432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0.2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8321" y="2463432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0.4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6706" y="2463432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0.6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5091" y="2463432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0.8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8788" y="2463432"/>
            <a:ext cx="55244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1</a:t>
            </a:r>
            <a:endParaRPr sz="4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7460" y="2551268"/>
            <a:ext cx="455288" cy="5920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93582" y="2414365"/>
            <a:ext cx="55244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2959" y="2238033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582" y="2061701"/>
            <a:ext cx="55244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1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2959" y="1885369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1.5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3582" y="1709037"/>
            <a:ext cx="55244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2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2959" y="1532705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2.5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3582" y="1356374"/>
            <a:ext cx="55244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3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2959" y="1180042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3.5</a:t>
            </a:r>
            <a:endParaRPr sz="40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2515" y="1413996"/>
            <a:ext cx="57973" cy="86403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5706" y="1153482"/>
            <a:ext cx="1545629" cy="130879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556844" y="2463432"/>
            <a:ext cx="55244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17013" y="2463432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0.2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02494" y="2463432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0.4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87976" y="2463432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0.6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73457" y="2463432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0.8</a:t>
            </a:r>
            <a:endParaRPr sz="400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12253" y="2551268"/>
            <a:ext cx="686193" cy="59205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472939" y="2414365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0.3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72939" y="2290933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0.4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72939" y="2167501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72939" y="2044068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0.6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72939" y="1920635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0.7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72939" y="1797203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0.8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72939" y="1673770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0.9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23563" y="1550338"/>
            <a:ext cx="55244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1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72939" y="1426904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1.1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72939" y="1303472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1.2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72939" y="1180040"/>
            <a:ext cx="990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1.3</a:t>
            </a:r>
            <a:endParaRPr sz="400">
              <a:latin typeface="Arial MT"/>
              <a:cs typeface="Arial MT"/>
            </a:endParaRPr>
          </a:p>
        </p:txBody>
      </p:sp>
      <p:pic>
        <p:nvPicPr>
          <p:cNvPr id="40" name="object 4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12496" y="1413996"/>
            <a:ext cx="57973" cy="86403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85375" y="1153482"/>
            <a:ext cx="1545940" cy="1308797"/>
          </a:xfrm>
          <a:prstGeom prst="rect">
            <a:avLst/>
          </a:prstGeom>
        </p:spPr>
      </p:pic>
      <p:grpSp>
        <p:nvGrpSpPr>
          <p:cNvPr id="42" name="object 42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43" name="object 43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16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Bifurcation</a:t>
            </a:r>
            <a:r>
              <a:rPr spc="36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4866" y="2293068"/>
            <a:ext cx="54610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778" y="2293068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0.2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3452" y="2293068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0.4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5127" y="2293068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0.6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6801" y="2293068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0.8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3236" y="2293068"/>
            <a:ext cx="54610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1</a:t>
            </a:r>
            <a:endParaRPr sz="4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814" y="2377741"/>
            <a:ext cx="450235" cy="5671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32309" y="2246068"/>
            <a:ext cx="54610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2787" y="2077161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2309" y="1908254"/>
            <a:ext cx="54610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1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2787" y="1739348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1.5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2309" y="1570441"/>
            <a:ext cx="54610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2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2787" y="1401534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2.5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2309" y="1232627"/>
            <a:ext cx="54610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3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2787" y="1063720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3.5</a:t>
            </a:r>
            <a:endParaRPr sz="4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36" y="1288358"/>
            <a:ext cx="56711" cy="82765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3358" y="1038814"/>
            <a:ext cx="1511952" cy="125368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551565" y="2293068"/>
            <a:ext cx="54610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78199" y="2293068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0.1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9594" y="2293068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0.2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80989" y="2293068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0.3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32384" y="2293068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0.4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83780" y="2293068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0.5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35175" y="2293068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0.6</a:t>
            </a:r>
            <a:endParaRPr sz="400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50267" y="2377741"/>
            <a:ext cx="766145" cy="56712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469486" y="2246068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0.4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69486" y="2077161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0.6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69486" y="1908254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0.8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19008" y="1739348"/>
            <a:ext cx="54610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50" dirty="0">
                <a:solidFill>
                  <a:srgbClr val="252525"/>
                </a:solidFill>
                <a:latin typeface="Arial MT"/>
                <a:cs typeface="Arial MT"/>
              </a:rPr>
              <a:t>1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69486" y="1570441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1.2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69486" y="1401534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1.4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69486" y="1232627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1.6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69486" y="1063720"/>
            <a:ext cx="9715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-25" dirty="0">
                <a:solidFill>
                  <a:srgbClr val="252525"/>
                </a:solidFill>
                <a:latin typeface="Arial MT"/>
                <a:cs typeface="Arial MT"/>
              </a:rPr>
              <a:t>1.8</a:t>
            </a:r>
            <a:endParaRPr sz="400">
              <a:latin typeface="Arial MT"/>
              <a:cs typeface="Arial M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0635" y="1288358"/>
            <a:ext cx="56711" cy="827652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80057" y="1038361"/>
            <a:ext cx="1511952" cy="1254138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40" name="object 40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17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Stability</a:t>
            </a:r>
            <a:r>
              <a:rPr spc="180" dirty="0"/>
              <a:t> </a:t>
            </a:r>
            <a:r>
              <a:rPr dirty="0"/>
              <a:t>regions</a:t>
            </a:r>
            <a:r>
              <a:rPr spc="185" dirty="0"/>
              <a:t> </a:t>
            </a:r>
            <a:r>
              <a:rPr dirty="0"/>
              <a:t>for</a:t>
            </a:r>
            <a:r>
              <a:rPr spc="175" dirty="0"/>
              <a:t> </a:t>
            </a:r>
            <a:r>
              <a:rPr spc="55" dirty="0"/>
              <a:t>the</a:t>
            </a:r>
            <a:r>
              <a:rPr spc="180" dirty="0"/>
              <a:t> </a:t>
            </a:r>
            <a:r>
              <a:rPr dirty="0"/>
              <a:t>disease-free</a:t>
            </a:r>
            <a:r>
              <a:rPr spc="180" dirty="0"/>
              <a:t> </a:t>
            </a:r>
            <a:r>
              <a:rPr spc="50" dirty="0"/>
              <a:t>and</a:t>
            </a:r>
            <a:r>
              <a:rPr spc="175" dirty="0"/>
              <a:t> </a:t>
            </a:r>
            <a:r>
              <a:rPr dirty="0"/>
              <a:t>Endemic</a:t>
            </a:r>
            <a:r>
              <a:rPr spc="180" dirty="0"/>
              <a:t> </a:t>
            </a:r>
            <a:r>
              <a:rPr spc="-25" dirty="0"/>
              <a:t>Eq.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63346" y="571176"/>
            <a:ext cx="3681729" cy="2453005"/>
            <a:chOff x="463346" y="571176"/>
            <a:chExt cx="3681729" cy="24530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346" y="1388286"/>
              <a:ext cx="3681201" cy="16353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346" y="571176"/>
              <a:ext cx="3681201" cy="81710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80580" y="3074960"/>
            <a:ext cx="34474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Georgia"/>
                <a:cs typeface="Georgia"/>
              </a:rPr>
              <a:t>Stability</a:t>
            </a:r>
            <a:r>
              <a:rPr sz="800" spc="114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regions</a:t>
            </a:r>
            <a:r>
              <a:rPr sz="800" spc="114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for</a:t>
            </a:r>
            <a:r>
              <a:rPr sz="800" spc="114" dirty="0">
                <a:latin typeface="Georgia"/>
                <a:cs typeface="Georgia"/>
              </a:rPr>
              <a:t> </a:t>
            </a:r>
            <a:r>
              <a:rPr sz="800" i="1" dirty="0">
                <a:latin typeface="Calibri"/>
                <a:cs typeface="Calibri"/>
              </a:rPr>
              <a:t>β</a:t>
            </a:r>
            <a:r>
              <a:rPr sz="800" i="1" spc="114" dirty="0">
                <a:latin typeface="Calibri"/>
                <a:cs typeface="Calibri"/>
              </a:rPr>
              <a:t> </a:t>
            </a:r>
            <a:r>
              <a:rPr sz="800" spc="254" dirty="0">
                <a:latin typeface="Calibri"/>
                <a:cs typeface="Calibri"/>
              </a:rPr>
              <a:t>=</a:t>
            </a:r>
            <a:r>
              <a:rPr sz="800" spc="7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0</a:t>
            </a:r>
            <a:r>
              <a:rPr sz="800" i="1" dirty="0">
                <a:latin typeface="Calibri"/>
                <a:cs typeface="Calibri"/>
              </a:rPr>
              <a:t>.</a:t>
            </a:r>
            <a:r>
              <a:rPr sz="800" dirty="0">
                <a:latin typeface="Calibri"/>
                <a:cs typeface="Calibri"/>
              </a:rPr>
              <a:t>5</a:t>
            </a:r>
            <a:r>
              <a:rPr sz="800" dirty="0">
                <a:latin typeface="Georgia"/>
                <a:cs typeface="Georgia"/>
              </a:rPr>
              <a:t>,</a:t>
            </a:r>
            <a:r>
              <a:rPr sz="800" spc="114" dirty="0">
                <a:latin typeface="Georgia"/>
                <a:cs typeface="Georgia"/>
              </a:rPr>
              <a:t> </a:t>
            </a:r>
            <a:r>
              <a:rPr sz="800" i="1" spc="70" dirty="0">
                <a:latin typeface="Calibri"/>
                <a:cs typeface="Calibri"/>
              </a:rPr>
              <a:t>γ</a:t>
            </a:r>
            <a:r>
              <a:rPr sz="800" i="1" spc="125" dirty="0">
                <a:latin typeface="Calibri"/>
                <a:cs typeface="Calibri"/>
              </a:rPr>
              <a:t> </a:t>
            </a:r>
            <a:r>
              <a:rPr sz="800" spc="254" dirty="0">
                <a:latin typeface="Calibri"/>
                <a:cs typeface="Calibri"/>
              </a:rPr>
              <a:t>=</a:t>
            </a:r>
            <a:r>
              <a:rPr sz="800" spc="7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0</a:t>
            </a:r>
            <a:r>
              <a:rPr sz="800" i="1" dirty="0">
                <a:latin typeface="Calibri"/>
                <a:cs typeface="Calibri"/>
              </a:rPr>
              <a:t>.</a:t>
            </a:r>
            <a:r>
              <a:rPr sz="800" dirty="0">
                <a:latin typeface="Calibri"/>
                <a:cs typeface="Calibri"/>
              </a:rPr>
              <a:t>2</a:t>
            </a:r>
            <a:r>
              <a:rPr sz="800" dirty="0">
                <a:latin typeface="Georgia"/>
                <a:cs typeface="Georgia"/>
              </a:rPr>
              <a:t>,</a:t>
            </a:r>
            <a:r>
              <a:rPr sz="800" spc="114" dirty="0">
                <a:latin typeface="Georgia"/>
                <a:cs typeface="Georgia"/>
              </a:rPr>
              <a:t> </a:t>
            </a:r>
            <a:r>
              <a:rPr sz="800" i="1" spc="80" dirty="0">
                <a:latin typeface="Calibri"/>
                <a:cs typeface="Calibri"/>
              </a:rPr>
              <a:t>µ</a:t>
            </a:r>
            <a:r>
              <a:rPr sz="800" i="1" spc="75" dirty="0">
                <a:latin typeface="Calibri"/>
                <a:cs typeface="Calibri"/>
              </a:rPr>
              <a:t> </a:t>
            </a:r>
            <a:r>
              <a:rPr sz="800" spc="254" dirty="0">
                <a:latin typeface="Calibri"/>
                <a:cs typeface="Calibri"/>
              </a:rPr>
              <a:t>=</a:t>
            </a:r>
            <a:r>
              <a:rPr sz="800" spc="7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0</a:t>
            </a:r>
            <a:r>
              <a:rPr sz="800" i="1" dirty="0">
                <a:latin typeface="Calibri"/>
                <a:cs typeface="Calibri"/>
              </a:rPr>
              <a:t>.</a:t>
            </a:r>
            <a:r>
              <a:rPr sz="800" dirty="0">
                <a:latin typeface="Calibri"/>
                <a:cs typeface="Calibri"/>
              </a:rPr>
              <a:t>1</a:t>
            </a:r>
            <a:r>
              <a:rPr sz="800" dirty="0">
                <a:latin typeface="Georgia"/>
                <a:cs typeface="Georgia"/>
              </a:rPr>
              <a:t>,</a:t>
            </a:r>
            <a:r>
              <a:rPr sz="800" spc="114" dirty="0">
                <a:latin typeface="Georgia"/>
                <a:cs typeface="Georgia"/>
              </a:rPr>
              <a:t> </a:t>
            </a:r>
            <a:r>
              <a:rPr sz="800" i="1" dirty="0">
                <a:latin typeface="Calibri"/>
                <a:cs typeface="Calibri"/>
              </a:rPr>
              <a:t>δ</a:t>
            </a:r>
            <a:r>
              <a:rPr sz="800" i="1" spc="110" dirty="0">
                <a:latin typeface="Calibri"/>
                <a:cs typeface="Calibri"/>
              </a:rPr>
              <a:t> </a:t>
            </a:r>
            <a:r>
              <a:rPr sz="800" spc="254" dirty="0">
                <a:latin typeface="Calibri"/>
                <a:cs typeface="Calibri"/>
              </a:rPr>
              <a:t>=</a:t>
            </a:r>
            <a:r>
              <a:rPr sz="800" spc="7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0</a:t>
            </a:r>
            <a:r>
              <a:rPr sz="800" i="1" dirty="0">
                <a:latin typeface="Calibri"/>
                <a:cs typeface="Calibri"/>
              </a:rPr>
              <a:t>.</a:t>
            </a:r>
            <a:r>
              <a:rPr sz="800" dirty="0">
                <a:latin typeface="Calibri"/>
                <a:cs typeface="Calibri"/>
              </a:rPr>
              <a:t>05</a:t>
            </a:r>
            <a:r>
              <a:rPr sz="800" dirty="0">
                <a:latin typeface="Georgia"/>
                <a:cs typeface="Georgia"/>
              </a:rPr>
              <a:t>,</a:t>
            </a:r>
            <a:r>
              <a:rPr sz="800" spc="114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and</a:t>
            </a:r>
            <a:r>
              <a:rPr sz="800" spc="114" dirty="0">
                <a:latin typeface="Georgia"/>
                <a:cs typeface="Georgia"/>
              </a:rPr>
              <a:t> </a:t>
            </a:r>
            <a:r>
              <a:rPr sz="800" i="1" spc="-80" dirty="0">
                <a:latin typeface="Calibri"/>
                <a:cs typeface="Calibri"/>
              </a:rPr>
              <a:t>S</a:t>
            </a:r>
            <a:r>
              <a:rPr sz="1200" spc="-120" baseline="13888" dirty="0">
                <a:latin typeface="Calibri"/>
                <a:cs typeface="Calibri"/>
              </a:rPr>
              <a:t>˜</a:t>
            </a:r>
            <a:r>
              <a:rPr sz="1200" spc="112" baseline="13888" dirty="0">
                <a:latin typeface="Calibri"/>
                <a:cs typeface="Calibri"/>
              </a:rPr>
              <a:t> </a:t>
            </a:r>
            <a:r>
              <a:rPr sz="800" spc="254" dirty="0">
                <a:latin typeface="Calibri"/>
                <a:cs typeface="Calibri"/>
              </a:rPr>
              <a:t>=</a:t>
            </a:r>
            <a:r>
              <a:rPr sz="800" spc="7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0</a:t>
            </a:r>
            <a:r>
              <a:rPr sz="800" i="1" spc="-10" dirty="0">
                <a:latin typeface="Calibri"/>
                <a:cs typeface="Calibri"/>
              </a:rPr>
              <a:t>.</a:t>
            </a:r>
            <a:r>
              <a:rPr sz="800" spc="-10" dirty="0">
                <a:latin typeface="Calibri"/>
                <a:cs typeface="Calibri"/>
              </a:rPr>
              <a:t>9338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9" name="object 9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18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Local</a:t>
            </a:r>
            <a:r>
              <a:rPr spc="235" dirty="0"/>
              <a:t> </a:t>
            </a:r>
            <a:r>
              <a:rPr dirty="0"/>
              <a:t>Sensitivity</a:t>
            </a:r>
            <a:r>
              <a:rPr spc="240" dirty="0"/>
              <a:t> </a:t>
            </a:r>
            <a:r>
              <a:rPr spc="-10" dirty="0"/>
              <a:t>Analysis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42569" y="1023924"/>
          <a:ext cx="3317875" cy="10898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b="1" spc="-10" dirty="0">
                          <a:latin typeface="Georgia"/>
                          <a:cs typeface="Georgia"/>
                        </a:rPr>
                        <a:t>Parameter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b="1" spc="-20" dirty="0">
                          <a:latin typeface="Georgia"/>
                          <a:cs typeface="Georgia"/>
                        </a:rPr>
                        <a:t>Sensitivity</a:t>
                      </a:r>
                      <a:r>
                        <a:rPr sz="1100" b="1" spc="9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b="1" spc="-10" dirty="0">
                          <a:latin typeface="Georgia"/>
                          <a:cs typeface="Georgia"/>
                        </a:rPr>
                        <a:t>Index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4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i="1" dirty="0">
                          <a:latin typeface="Calibri"/>
                          <a:cs typeface="Calibri"/>
                        </a:rPr>
                        <a:t>β</a:t>
                      </a:r>
                      <a:r>
                        <a:rPr sz="1100" i="1" spc="3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(Transmission</a:t>
                      </a:r>
                      <a:r>
                        <a:rPr sz="1100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rate)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spc="90" dirty="0">
                          <a:latin typeface="Tahoma"/>
                          <a:cs typeface="Tahoma"/>
                        </a:rPr>
                        <a:t>Λ</a:t>
                      </a:r>
                      <a:r>
                        <a:rPr sz="1100" spc="1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(Recruitment</a:t>
                      </a:r>
                      <a:r>
                        <a:rPr sz="11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rate)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100" i="1" spc="70" dirty="0">
                          <a:latin typeface="Calibri"/>
                          <a:cs typeface="Calibri"/>
                        </a:rPr>
                        <a:t>γ</a:t>
                      </a:r>
                      <a:r>
                        <a:rPr sz="1100" i="1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(Recovery</a:t>
                      </a:r>
                      <a:r>
                        <a:rPr sz="11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rate)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i="1" dirty="0">
                          <a:latin typeface="Calibri"/>
                          <a:cs typeface="Calibri"/>
                        </a:rPr>
                        <a:t>δ</a:t>
                      </a:r>
                      <a:r>
                        <a:rPr sz="1100" i="1" spc="2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(Disease-induced</a:t>
                      </a:r>
                      <a:r>
                        <a:rPr sz="11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death</a:t>
                      </a:r>
                      <a:r>
                        <a:rPr sz="11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rate)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100" i="1" spc="60" dirty="0">
                          <a:latin typeface="Calibri"/>
                          <a:cs typeface="Calibri"/>
                        </a:rPr>
                        <a:t>µ</a:t>
                      </a:r>
                      <a:r>
                        <a:rPr sz="1100" i="1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(Natural</a:t>
                      </a:r>
                      <a:r>
                        <a:rPr sz="11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death</a:t>
                      </a:r>
                      <a:r>
                        <a:rPr sz="11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rate)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80"/>
                        </a:lnSpc>
                        <a:spcBef>
                          <a:spcPts val="5"/>
                        </a:spcBef>
                      </a:pPr>
                      <a:r>
                        <a:rPr sz="1100" spc="125" dirty="0">
                          <a:latin typeface="Tahoma"/>
                          <a:cs typeface="Tahoma"/>
                        </a:rPr>
                        <a:t>Υ</a:t>
                      </a:r>
                      <a:r>
                        <a:rPr sz="1200" i="1" spc="187" baseline="38194" dirty="0">
                          <a:latin typeface="Calibri"/>
                          <a:cs typeface="Calibri"/>
                        </a:rPr>
                        <a:t>β</a:t>
                      </a:r>
                      <a:r>
                        <a:rPr sz="1200" i="1" spc="434" baseline="38194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R="151130" algn="ctr">
                        <a:lnSpc>
                          <a:spcPts val="520"/>
                        </a:lnSpc>
                      </a:pPr>
                      <a:r>
                        <a:rPr sz="800" i="1" spc="7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900" spc="104" baseline="-9259" dirty="0">
                          <a:latin typeface="Lucida Console"/>
                          <a:cs typeface="Lucida Console"/>
                        </a:rPr>
                        <a:t>0</a:t>
                      </a:r>
                      <a:endParaRPr sz="900" baseline="-9259">
                        <a:latin typeface="Lucida Console"/>
                        <a:cs typeface="Lucida Console"/>
                      </a:endParaRPr>
                    </a:p>
                    <a:p>
                      <a:pPr algn="ctr">
                        <a:lnSpc>
                          <a:spcPts val="869"/>
                        </a:lnSpc>
                      </a:pPr>
                      <a:r>
                        <a:rPr sz="1100" spc="160" dirty="0">
                          <a:latin typeface="Tahoma"/>
                          <a:cs typeface="Tahoma"/>
                        </a:rPr>
                        <a:t>Υ</a:t>
                      </a:r>
                      <a:r>
                        <a:rPr sz="1200" spc="240" baseline="27777" dirty="0">
                          <a:latin typeface="Calibri"/>
                          <a:cs typeface="Calibri"/>
                        </a:rPr>
                        <a:t>Λ</a:t>
                      </a:r>
                      <a:r>
                        <a:rPr sz="1200" spc="345" baseline="27777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375920">
                        <a:lnSpc>
                          <a:spcPts val="509"/>
                        </a:lnSpc>
                      </a:pPr>
                      <a:r>
                        <a:rPr sz="1200" i="1" spc="104" baseline="-38194" dirty="0">
                          <a:latin typeface="Calibri"/>
                          <a:cs typeface="Calibri"/>
                        </a:rPr>
                        <a:t>γ</a:t>
                      </a:r>
                      <a:r>
                        <a:rPr sz="1200" i="1" spc="727" baseline="-3819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i="1" spc="6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900" spc="89" baseline="-9259" dirty="0">
                          <a:latin typeface="Lucida Console"/>
                          <a:cs typeface="Lucida Console"/>
                        </a:rPr>
                        <a:t>0</a:t>
                      </a:r>
                      <a:endParaRPr sz="900" baseline="-9259">
                        <a:latin typeface="Lucida Console"/>
                        <a:cs typeface="Lucida Console"/>
                      </a:endParaRPr>
                    </a:p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spc="130" dirty="0">
                          <a:latin typeface="Tahoma"/>
                          <a:cs typeface="Tahoma"/>
                        </a:rPr>
                        <a:t>Υ</a:t>
                      </a:r>
                      <a:r>
                        <a:rPr sz="1200" i="1" spc="195" baseline="-2430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900" spc="195" baseline="-41666" dirty="0">
                          <a:latin typeface="Lucida Console"/>
                          <a:cs typeface="Lucida Console"/>
                        </a:rPr>
                        <a:t>0</a:t>
                      </a:r>
                      <a:r>
                        <a:rPr sz="900" spc="97" baseline="-41666" dirty="0"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i="1" spc="-1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90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ts val="969"/>
                        </a:lnSpc>
                        <a:spcBef>
                          <a:spcPts val="80"/>
                        </a:spcBef>
                        <a:tabLst>
                          <a:tab pos="285750" algn="l"/>
                        </a:tabLst>
                      </a:pPr>
                      <a:r>
                        <a:rPr sz="1100" spc="50" dirty="0">
                          <a:latin typeface="Tahoma"/>
                          <a:cs typeface="Tahoma"/>
                        </a:rPr>
                        <a:t>Υ</a:t>
                      </a:r>
                      <a:r>
                        <a:rPr sz="1200" i="1" spc="75" baseline="27777" dirty="0">
                          <a:latin typeface="Calibri"/>
                          <a:cs typeface="Calibri"/>
                        </a:rPr>
                        <a:t>δ</a:t>
                      </a:r>
                      <a:r>
                        <a:rPr sz="1200" i="1" baseline="27777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= </a:t>
                      </a:r>
                      <a:r>
                        <a:rPr sz="1100" spc="-10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i="1" spc="-1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036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341630">
                        <a:lnSpc>
                          <a:spcPts val="509"/>
                        </a:lnSpc>
                      </a:pPr>
                      <a:r>
                        <a:rPr sz="800" i="1" spc="7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900" spc="104" baseline="-9259" dirty="0">
                          <a:latin typeface="Lucida Console"/>
                          <a:cs typeface="Lucida Console"/>
                        </a:rPr>
                        <a:t>0</a:t>
                      </a:r>
                      <a:endParaRPr sz="900" baseline="-9259">
                        <a:latin typeface="Lucida Console"/>
                        <a:cs typeface="Lucida Console"/>
                      </a:endParaRPr>
                    </a:p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1100" spc="140" dirty="0">
                          <a:latin typeface="Tahoma"/>
                          <a:cs typeface="Tahoma"/>
                        </a:rPr>
                        <a:t>Υ</a:t>
                      </a:r>
                      <a:r>
                        <a:rPr sz="1200" i="1" spc="209" baseline="38194" dirty="0">
                          <a:latin typeface="Calibri"/>
                          <a:cs typeface="Calibri"/>
                        </a:rPr>
                        <a:t>µ</a:t>
                      </a:r>
                      <a:r>
                        <a:rPr sz="1200" i="1" spc="405" baseline="38194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i="1" spc="-1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05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375920">
                        <a:lnSpc>
                          <a:spcPts val="490"/>
                        </a:lnSpc>
                      </a:pPr>
                      <a:r>
                        <a:rPr sz="800" i="1" spc="7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900" spc="104" baseline="-9259" dirty="0">
                          <a:latin typeface="Lucida Console"/>
                          <a:cs typeface="Lucida Console"/>
                        </a:rPr>
                        <a:t>0</a:t>
                      </a:r>
                      <a:endParaRPr sz="900" baseline="-9259">
                        <a:latin typeface="Lucida Console"/>
                        <a:cs typeface="Lucida Console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95236" y="2163183"/>
            <a:ext cx="381825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Times New Roman"/>
                <a:cs typeface="Times New Roman"/>
              </a:rPr>
              <a:t>Table</a:t>
            </a:r>
            <a:r>
              <a:rPr sz="1000" spc="16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3333B2"/>
                </a:solidFill>
                <a:latin typeface="Times New Roman"/>
                <a:cs typeface="Times New Roman"/>
              </a:rPr>
              <a:t>2:</a:t>
            </a:r>
            <a:r>
              <a:rPr sz="1000" spc="16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Sensitivity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indices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105" dirty="0">
                <a:latin typeface="Cambria"/>
                <a:cs typeface="Cambria"/>
              </a:rPr>
              <a:t>R</a:t>
            </a:r>
            <a:r>
              <a:rPr sz="1050" spc="157" baseline="-11904" dirty="0">
                <a:latin typeface="Roboto"/>
                <a:cs typeface="Roboto"/>
              </a:rPr>
              <a:t>0</a:t>
            </a:r>
            <a:r>
              <a:rPr sz="1050" spc="457" baseline="-11904" dirty="0">
                <a:latin typeface="Roboto"/>
                <a:cs typeface="Roboto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respect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parameters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7" name="object 7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19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9238" y="325685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59620" y="3252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37423" y="325288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236569" y="3244007"/>
            <a:ext cx="203200" cy="55880"/>
            <a:chOff x="3236569" y="3244007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299738" y="324653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36569" y="3252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13518" y="3242742"/>
            <a:ext cx="203200" cy="58419"/>
            <a:chOff x="3513518" y="3242742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02419" y="325923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13518" y="325288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89719" y="324653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3790455" y="325288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43604" y="324653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4326582" y="3244007"/>
            <a:ext cx="238760" cy="57150"/>
            <a:chOff x="4326582" y="3244007"/>
            <a:chExt cx="238760" cy="57150"/>
          </a:xfrm>
        </p:grpSpPr>
        <p:sp>
          <p:nvSpPr>
            <p:cNvPr id="15" name="object 15"/>
            <p:cNvSpPr/>
            <p:nvPr/>
          </p:nvSpPr>
          <p:spPr>
            <a:xfrm>
              <a:off x="4451033" y="3277018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23969" y="32505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29112" y="324653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35"/>
              </a:spcBef>
            </a:pPr>
            <a:r>
              <a:rPr dirty="0"/>
              <a:t>Local</a:t>
            </a:r>
            <a:r>
              <a:rPr spc="235" dirty="0"/>
              <a:t> </a:t>
            </a:r>
            <a:r>
              <a:rPr dirty="0"/>
              <a:t>Sensitivity</a:t>
            </a:r>
            <a:r>
              <a:rPr spc="240" dirty="0"/>
              <a:t> </a:t>
            </a:r>
            <a:r>
              <a:rPr spc="-10" dirty="0"/>
              <a:t>Analysis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1156917" y="645468"/>
            <a:ext cx="2351405" cy="1936114"/>
            <a:chOff x="1156917" y="645468"/>
            <a:chExt cx="2351405" cy="1936114"/>
          </a:xfrm>
        </p:grpSpPr>
        <p:sp>
          <p:nvSpPr>
            <p:cNvPr id="21" name="object 21"/>
            <p:cNvSpPr/>
            <p:nvPr/>
          </p:nvSpPr>
          <p:spPr>
            <a:xfrm>
              <a:off x="1598544" y="646738"/>
              <a:ext cx="0" cy="1842135"/>
            </a:xfrm>
            <a:custGeom>
              <a:avLst/>
              <a:gdLst/>
              <a:ahLst/>
              <a:cxnLst/>
              <a:rect l="l" t="t" r="r" b="b"/>
              <a:pathLst>
                <a:path h="1842135">
                  <a:moveTo>
                    <a:pt x="0" y="0"/>
                  </a:moveTo>
                  <a:lnTo>
                    <a:pt x="0" y="460501"/>
                  </a:lnTo>
                </a:path>
                <a:path h="1842135">
                  <a:moveTo>
                    <a:pt x="0" y="921001"/>
                  </a:moveTo>
                  <a:lnTo>
                    <a:pt x="0" y="1842004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65504" y="646738"/>
              <a:ext cx="367030" cy="1842135"/>
            </a:xfrm>
            <a:custGeom>
              <a:avLst/>
              <a:gdLst/>
              <a:ahLst/>
              <a:cxnLst/>
              <a:rect l="l" t="t" r="r" b="b"/>
              <a:pathLst>
                <a:path w="367030" h="1842135">
                  <a:moveTo>
                    <a:pt x="0" y="0"/>
                  </a:moveTo>
                  <a:lnTo>
                    <a:pt x="0" y="460501"/>
                  </a:lnTo>
                </a:path>
                <a:path w="367030" h="1842135">
                  <a:moveTo>
                    <a:pt x="0" y="921001"/>
                  </a:moveTo>
                  <a:lnTo>
                    <a:pt x="0" y="1842004"/>
                  </a:lnTo>
                </a:path>
                <a:path w="367030" h="1842135">
                  <a:moveTo>
                    <a:pt x="366959" y="1339640"/>
                  </a:moveTo>
                  <a:lnTo>
                    <a:pt x="366959" y="1842004"/>
                  </a:lnTo>
                </a:path>
                <a:path w="367030" h="1842135">
                  <a:moveTo>
                    <a:pt x="366959" y="0"/>
                  </a:moveTo>
                  <a:lnTo>
                    <a:pt x="366959" y="921001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99423" y="646738"/>
              <a:ext cx="0" cy="1842135"/>
            </a:xfrm>
            <a:custGeom>
              <a:avLst/>
              <a:gdLst/>
              <a:ahLst/>
              <a:cxnLst/>
              <a:rect l="l" t="t" r="r" b="b"/>
              <a:pathLst>
                <a:path h="1842135">
                  <a:moveTo>
                    <a:pt x="0" y="18420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66391" y="646738"/>
              <a:ext cx="0" cy="1842135"/>
            </a:xfrm>
            <a:custGeom>
              <a:avLst/>
              <a:gdLst/>
              <a:ahLst/>
              <a:cxnLst/>
              <a:rect l="l" t="t" r="r" b="b"/>
              <a:pathLst>
                <a:path h="1842135">
                  <a:moveTo>
                    <a:pt x="0" y="1406621"/>
                  </a:moveTo>
                  <a:lnTo>
                    <a:pt x="0" y="1842004"/>
                  </a:lnTo>
                </a:path>
                <a:path h="1842135">
                  <a:moveTo>
                    <a:pt x="0" y="0"/>
                  </a:moveTo>
                  <a:lnTo>
                    <a:pt x="0" y="921001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58187" y="2258492"/>
              <a:ext cx="2348865" cy="230504"/>
            </a:xfrm>
            <a:custGeom>
              <a:avLst/>
              <a:gdLst/>
              <a:ahLst/>
              <a:cxnLst/>
              <a:rect l="l" t="t" r="r" b="b"/>
              <a:pathLst>
                <a:path w="2348865" h="230505">
                  <a:moveTo>
                    <a:pt x="2348554" y="230250"/>
                  </a:moveTo>
                  <a:lnTo>
                    <a:pt x="0" y="230250"/>
                  </a:lnTo>
                </a:path>
                <a:path w="2348865" h="230505">
                  <a:moveTo>
                    <a:pt x="234855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58187" y="2028241"/>
              <a:ext cx="2348865" cy="0"/>
            </a:xfrm>
            <a:custGeom>
              <a:avLst/>
              <a:gdLst/>
              <a:ahLst/>
              <a:cxnLst/>
              <a:rect l="l" t="t" r="r" b="b"/>
              <a:pathLst>
                <a:path w="2348865">
                  <a:moveTo>
                    <a:pt x="0" y="0"/>
                  </a:moveTo>
                  <a:lnTo>
                    <a:pt x="1761415" y="0"/>
                  </a:lnTo>
                </a:path>
                <a:path w="2348865">
                  <a:moveTo>
                    <a:pt x="2054984" y="0"/>
                  </a:moveTo>
                  <a:lnTo>
                    <a:pt x="2348554" y="0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58187" y="1797991"/>
              <a:ext cx="2348865" cy="0"/>
            </a:xfrm>
            <a:custGeom>
              <a:avLst/>
              <a:gdLst/>
              <a:ahLst/>
              <a:cxnLst/>
              <a:rect l="l" t="t" r="r" b="b"/>
              <a:pathLst>
                <a:path w="2348865">
                  <a:moveTo>
                    <a:pt x="0" y="0"/>
                  </a:moveTo>
                  <a:lnTo>
                    <a:pt x="1027496" y="0"/>
                  </a:lnTo>
                </a:path>
                <a:path w="2348865">
                  <a:moveTo>
                    <a:pt x="1321065" y="0"/>
                  </a:moveTo>
                  <a:lnTo>
                    <a:pt x="1761415" y="0"/>
                  </a:lnTo>
                </a:path>
                <a:path w="2348865">
                  <a:moveTo>
                    <a:pt x="2054984" y="0"/>
                  </a:moveTo>
                  <a:lnTo>
                    <a:pt x="2348554" y="0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58187" y="1567740"/>
              <a:ext cx="2348865" cy="0"/>
            </a:xfrm>
            <a:custGeom>
              <a:avLst/>
              <a:gdLst/>
              <a:ahLst/>
              <a:cxnLst/>
              <a:rect l="l" t="t" r="r" b="b"/>
              <a:pathLst>
                <a:path w="2348865">
                  <a:moveTo>
                    <a:pt x="234855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58187" y="1337490"/>
              <a:ext cx="2348865" cy="0"/>
            </a:xfrm>
            <a:custGeom>
              <a:avLst/>
              <a:gdLst/>
              <a:ahLst/>
              <a:cxnLst/>
              <a:rect l="l" t="t" r="r" b="b"/>
              <a:pathLst>
                <a:path w="2348865">
                  <a:moveTo>
                    <a:pt x="0" y="0"/>
                  </a:moveTo>
                  <a:lnTo>
                    <a:pt x="293568" y="0"/>
                  </a:lnTo>
                </a:path>
                <a:path w="2348865">
                  <a:moveTo>
                    <a:pt x="587137" y="0"/>
                  </a:moveTo>
                  <a:lnTo>
                    <a:pt x="660528" y="0"/>
                  </a:lnTo>
                </a:path>
                <a:path w="2348865">
                  <a:moveTo>
                    <a:pt x="954097" y="0"/>
                  </a:moveTo>
                  <a:lnTo>
                    <a:pt x="2348554" y="0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58187" y="646738"/>
              <a:ext cx="2348865" cy="461009"/>
            </a:xfrm>
            <a:custGeom>
              <a:avLst/>
              <a:gdLst/>
              <a:ahLst/>
              <a:cxnLst/>
              <a:rect l="l" t="t" r="r" b="b"/>
              <a:pathLst>
                <a:path w="2348865" h="461009">
                  <a:moveTo>
                    <a:pt x="2348554" y="460500"/>
                  </a:moveTo>
                  <a:lnTo>
                    <a:pt x="0" y="460500"/>
                  </a:lnTo>
                </a:path>
                <a:path w="2348865" h="461009">
                  <a:moveTo>
                    <a:pt x="2348554" y="230250"/>
                  </a:moveTo>
                  <a:lnTo>
                    <a:pt x="0" y="230250"/>
                  </a:lnTo>
                </a:path>
                <a:path w="2348865" h="461009">
                  <a:moveTo>
                    <a:pt x="234855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58187" y="1567740"/>
              <a:ext cx="2348865" cy="0"/>
            </a:xfrm>
            <a:custGeom>
              <a:avLst/>
              <a:gdLst/>
              <a:ahLst/>
              <a:cxnLst/>
              <a:rect l="l" t="t" r="r" b="b"/>
              <a:pathLst>
                <a:path w="2348865">
                  <a:moveTo>
                    <a:pt x="0" y="0"/>
                  </a:moveTo>
                  <a:lnTo>
                    <a:pt x="2348554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51749" y="1107249"/>
              <a:ext cx="1761489" cy="946150"/>
            </a:xfrm>
            <a:custGeom>
              <a:avLst/>
              <a:gdLst/>
              <a:ahLst/>
              <a:cxnLst/>
              <a:rect l="l" t="t" r="r" b="b"/>
              <a:pathLst>
                <a:path w="1761489" h="946150">
                  <a:moveTo>
                    <a:pt x="293573" y="0"/>
                  </a:moveTo>
                  <a:lnTo>
                    <a:pt x="0" y="0"/>
                  </a:lnTo>
                  <a:lnTo>
                    <a:pt x="0" y="460502"/>
                  </a:lnTo>
                  <a:lnTo>
                    <a:pt x="293573" y="460502"/>
                  </a:lnTo>
                  <a:lnTo>
                    <a:pt x="293573" y="0"/>
                  </a:lnTo>
                  <a:close/>
                </a:path>
                <a:path w="1761489" h="946150">
                  <a:moveTo>
                    <a:pt x="660527" y="0"/>
                  </a:moveTo>
                  <a:lnTo>
                    <a:pt x="366953" y="0"/>
                  </a:lnTo>
                  <a:lnTo>
                    <a:pt x="366953" y="460502"/>
                  </a:lnTo>
                  <a:lnTo>
                    <a:pt x="660527" y="460502"/>
                  </a:lnTo>
                  <a:lnTo>
                    <a:pt x="660527" y="0"/>
                  </a:lnTo>
                  <a:close/>
                </a:path>
                <a:path w="1761489" h="946150">
                  <a:moveTo>
                    <a:pt x="1027493" y="460502"/>
                  </a:moveTo>
                  <a:lnTo>
                    <a:pt x="733933" y="460502"/>
                  </a:lnTo>
                  <a:lnTo>
                    <a:pt x="733933" y="879132"/>
                  </a:lnTo>
                  <a:lnTo>
                    <a:pt x="1027493" y="879132"/>
                  </a:lnTo>
                  <a:lnTo>
                    <a:pt x="1027493" y="460502"/>
                  </a:lnTo>
                  <a:close/>
                </a:path>
                <a:path w="1761489" h="946150">
                  <a:moveTo>
                    <a:pt x="1394460" y="460502"/>
                  </a:moveTo>
                  <a:lnTo>
                    <a:pt x="1100886" y="460502"/>
                  </a:lnTo>
                  <a:lnTo>
                    <a:pt x="1100886" y="477240"/>
                  </a:lnTo>
                  <a:lnTo>
                    <a:pt x="1394460" y="477240"/>
                  </a:lnTo>
                  <a:lnTo>
                    <a:pt x="1394460" y="460502"/>
                  </a:lnTo>
                  <a:close/>
                </a:path>
                <a:path w="1761489" h="946150">
                  <a:moveTo>
                    <a:pt x="1761413" y="460502"/>
                  </a:moveTo>
                  <a:lnTo>
                    <a:pt x="1467840" y="460502"/>
                  </a:lnTo>
                  <a:lnTo>
                    <a:pt x="1467840" y="946111"/>
                  </a:lnTo>
                  <a:lnTo>
                    <a:pt x="1761413" y="946111"/>
                  </a:lnTo>
                  <a:lnTo>
                    <a:pt x="1761413" y="460502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51755" y="1107239"/>
              <a:ext cx="1761489" cy="946150"/>
            </a:xfrm>
            <a:custGeom>
              <a:avLst/>
              <a:gdLst/>
              <a:ahLst/>
              <a:cxnLst/>
              <a:rect l="l" t="t" r="r" b="b"/>
              <a:pathLst>
                <a:path w="1761489" h="946150">
                  <a:moveTo>
                    <a:pt x="0" y="460500"/>
                  </a:moveTo>
                  <a:lnTo>
                    <a:pt x="293569" y="460500"/>
                  </a:lnTo>
                  <a:lnTo>
                    <a:pt x="293569" y="0"/>
                  </a:lnTo>
                  <a:lnTo>
                    <a:pt x="0" y="0"/>
                  </a:lnTo>
                  <a:lnTo>
                    <a:pt x="0" y="460500"/>
                  </a:lnTo>
                  <a:close/>
                </a:path>
                <a:path w="1761489" h="946150">
                  <a:moveTo>
                    <a:pt x="366959" y="460500"/>
                  </a:moveTo>
                  <a:lnTo>
                    <a:pt x="660528" y="460500"/>
                  </a:lnTo>
                  <a:lnTo>
                    <a:pt x="660528" y="0"/>
                  </a:lnTo>
                  <a:lnTo>
                    <a:pt x="366959" y="0"/>
                  </a:lnTo>
                  <a:lnTo>
                    <a:pt x="366959" y="460500"/>
                  </a:lnTo>
                  <a:close/>
                </a:path>
                <a:path w="1761489" h="946150">
                  <a:moveTo>
                    <a:pt x="733927" y="879139"/>
                  </a:moveTo>
                  <a:lnTo>
                    <a:pt x="1027497" y="879139"/>
                  </a:lnTo>
                  <a:lnTo>
                    <a:pt x="1027497" y="460500"/>
                  </a:lnTo>
                  <a:lnTo>
                    <a:pt x="733927" y="460500"/>
                  </a:lnTo>
                  <a:lnTo>
                    <a:pt x="733927" y="879139"/>
                  </a:lnTo>
                  <a:close/>
                </a:path>
                <a:path w="1761489" h="946150">
                  <a:moveTo>
                    <a:pt x="1100887" y="477249"/>
                  </a:moveTo>
                  <a:lnTo>
                    <a:pt x="1394456" y="477249"/>
                  </a:lnTo>
                  <a:lnTo>
                    <a:pt x="1394456" y="460502"/>
                  </a:lnTo>
                  <a:lnTo>
                    <a:pt x="1100887" y="460502"/>
                  </a:lnTo>
                  <a:lnTo>
                    <a:pt x="1100887" y="477249"/>
                  </a:lnTo>
                  <a:close/>
                </a:path>
                <a:path w="1761489" h="946150">
                  <a:moveTo>
                    <a:pt x="1467846" y="946120"/>
                  </a:moveTo>
                  <a:lnTo>
                    <a:pt x="1761416" y="946120"/>
                  </a:lnTo>
                  <a:lnTo>
                    <a:pt x="1761416" y="460500"/>
                  </a:lnTo>
                  <a:lnTo>
                    <a:pt x="1467846" y="460500"/>
                  </a:lnTo>
                  <a:lnTo>
                    <a:pt x="1467846" y="9461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58187" y="646738"/>
              <a:ext cx="2348865" cy="1842135"/>
            </a:xfrm>
            <a:custGeom>
              <a:avLst/>
              <a:gdLst/>
              <a:ahLst/>
              <a:cxnLst/>
              <a:rect l="l" t="t" r="r" b="b"/>
              <a:pathLst>
                <a:path w="2348865" h="1842135">
                  <a:moveTo>
                    <a:pt x="0" y="1842004"/>
                  </a:moveTo>
                  <a:lnTo>
                    <a:pt x="2348554" y="1842004"/>
                  </a:lnTo>
                </a:path>
                <a:path w="2348865" h="1842135">
                  <a:moveTo>
                    <a:pt x="0" y="0"/>
                  </a:moveTo>
                  <a:lnTo>
                    <a:pt x="2348554" y="0"/>
                  </a:lnTo>
                </a:path>
                <a:path w="2348865" h="1842135">
                  <a:moveTo>
                    <a:pt x="440357" y="1842004"/>
                  </a:moveTo>
                  <a:lnTo>
                    <a:pt x="440357" y="1818517"/>
                  </a:lnTo>
                </a:path>
                <a:path w="2348865" h="1842135">
                  <a:moveTo>
                    <a:pt x="807317" y="1842004"/>
                  </a:moveTo>
                  <a:lnTo>
                    <a:pt x="807317" y="1818517"/>
                  </a:lnTo>
                </a:path>
                <a:path w="2348865" h="1842135">
                  <a:moveTo>
                    <a:pt x="1174276" y="1842004"/>
                  </a:moveTo>
                  <a:lnTo>
                    <a:pt x="1174276" y="1818517"/>
                  </a:lnTo>
                </a:path>
                <a:path w="2348865" h="1842135">
                  <a:moveTo>
                    <a:pt x="1541236" y="1842004"/>
                  </a:moveTo>
                  <a:lnTo>
                    <a:pt x="1541236" y="1818517"/>
                  </a:lnTo>
                </a:path>
                <a:path w="2348865" h="1842135">
                  <a:moveTo>
                    <a:pt x="1908204" y="1842004"/>
                  </a:moveTo>
                  <a:lnTo>
                    <a:pt x="1908204" y="1818517"/>
                  </a:lnTo>
                </a:path>
                <a:path w="2348865" h="1842135">
                  <a:moveTo>
                    <a:pt x="440357" y="0"/>
                  </a:moveTo>
                  <a:lnTo>
                    <a:pt x="440357" y="23485"/>
                  </a:lnTo>
                </a:path>
                <a:path w="2348865" h="1842135">
                  <a:moveTo>
                    <a:pt x="807317" y="0"/>
                  </a:moveTo>
                  <a:lnTo>
                    <a:pt x="807317" y="23485"/>
                  </a:lnTo>
                </a:path>
                <a:path w="2348865" h="1842135">
                  <a:moveTo>
                    <a:pt x="1174276" y="0"/>
                  </a:moveTo>
                  <a:lnTo>
                    <a:pt x="1174276" y="23485"/>
                  </a:lnTo>
                </a:path>
                <a:path w="2348865" h="1842135">
                  <a:moveTo>
                    <a:pt x="1541236" y="0"/>
                  </a:moveTo>
                  <a:lnTo>
                    <a:pt x="1541236" y="23485"/>
                  </a:lnTo>
                </a:path>
                <a:path w="2348865" h="1842135">
                  <a:moveTo>
                    <a:pt x="1908204" y="0"/>
                  </a:moveTo>
                  <a:lnTo>
                    <a:pt x="1908204" y="23485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79918" y="2525877"/>
              <a:ext cx="1504315" cy="55880"/>
            </a:xfrm>
            <a:custGeom>
              <a:avLst/>
              <a:gdLst/>
              <a:ahLst/>
              <a:cxnLst/>
              <a:rect l="l" t="t" r="r" b="b"/>
              <a:pathLst>
                <a:path w="1504314" h="55880">
                  <a:moveTo>
                    <a:pt x="34010" y="6832"/>
                  </a:moveTo>
                  <a:lnTo>
                    <a:pt x="33769" y="5918"/>
                  </a:lnTo>
                  <a:lnTo>
                    <a:pt x="33667" y="5511"/>
                  </a:lnTo>
                  <a:lnTo>
                    <a:pt x="32258" y="3175"/>
                  </a:lnTo>
                  <a:lnTo>
                    <a:pt x="31318" y="2273"/>
                  </a:lnTo>
                  <a:lnTo>
                    <a:pt x="30086" y="1600"/>
                  </a:lnTo>
                  <a:lnTo>
                    <a:pt x="30086" y="5511"/>
                  </a:lnTo>
                  <a:lnTo>
                    <a:pt x="30086" y="7924"/>
                  </a:lnTo>
                  <a:lnTo>
                    <a:pt x="29895" y="9245"/>
                  </a:lnTo>
                  <a:lnTo>
                    <a:pt x="29502" y="10642"/>
                  </a:lnTo>
                  <a:lnTo>
                    <a:pt x="29146" y="12052"/>
                  </a:lnTo>
                  <a:lnTo>
                    <a:pt x="28625" y="13398"/>
                  </a:lnTo>
                  <a:lnTo>
                    <a:pt x="27216" y="15951"/>
                  </a:lnTo>
                  <a:lnTo>
                    <a:pt x="26619" y="16789"/>
                  </a:lnTo>
                  <a:lnTo>
                    <a:pt x="25615" y="17564"/>
                  </a:lnTo>
                  <a:lnTo>
                    <a:pt x="24536" y="17170"/>
                  </a:lnTo>
                  <a:lnTo>
                    <a:pt x="23507" y="17170"/>
                  </a:lnTo>
                  <a:lnTo>
                    <a:pt x="23507" y="18757"/>
                  </a:lnTo>
                  <a:lnTo>
                    <a:pt x="22504" y="19138"/>
                  </a:lnTo>
                  <a:lnTo>
                    <a:pt x="19380" y="19138"/>
                  </a:lnTo>
                  <a:lnTo>
                    <a:pt x="17932" y="18757"/>
                  </a:lnTo>
                  <a:lnTo>
                    <a:pt x="23507" y="18757"/>
                  </a:lnTo>
                  <a:lnTo>
                    <a:pt x="23507" y="17170"/>
                  </a:lnTo>
                  <a:lnTo>
                    <a:pt x="17995" y="17170"/>
                  </a:lnTo>
                  <a:lnTo>
                    <a:pt x="16700" y="17665"/>
                  </a:lnTo>
                  <a:lnTo>
                    <a:pt x="16700" y="20129"/>
                  </a:lnTo>
                  <a:lnTo>
                    <a:pt x="18262" y="20675"/>
                  </a:lnTo>
                  <a:lnTo>
                    <a:pt x="22707" y="20675"/>
                  </a:lnTo>
                  <a:lnTo>
                    <a:pt x="24041" y="20421"/>
                  </a:lnTo>
                  <a:lnTo>
                    <a:pt x="25374" y="19900"/>
                  </a:lnTo>
                  <a:lnTo>
                    <a:pt x="26568" y="21056"/>
                  </a:lnTo>
                  <a:lnTo>
                    <a:pt x="27152" y="22656"/>
                  </a:lnTo>
                  <a:lnTo>
                    <a:pt x="27152" y="26339"/>
                  </a:lnTo>
                  <a:lnTo>
                    <a:pt x="17589" y="41973"/>
                  </a:lnTo>
                  <a:lnTo>
                    <a:pt x="13309" y="41973"/>
                  </a:lnTo>
                  <a:lnTo>
                    <a:pt x="11442" y="41249"/>
                  </a:lnTo>
                  <a:lnTo>
                    <a:pt x="10591" y="40538"/>
                  </a:lnTo>
                  <a:lnTo>
                    <a:pt x="7975" y="37934"/>
                  </a:lnTo>
                  <a:lnTo>
                    <a:pt x="7518" y="36791"/>
                  </a:lnTo>
                  <a:lnTo>
                    <a:pt x="7150" y="35877"/>
                  </a:lnTo>
                  <a:lnTo>
                    <a:pt x="23241" y="2273"/>
                  </a:lnTo>
                  <a:lnTo>
                    <a:pt x="27571" y="2273"/>
                  </a:lnTo>
                  <a:lnTo>
                    <a:pt x="28321" y="2590"/>
                  </a:lnTo>
                  <a:lnTo>
                    <a:pt x="29730" y="4318"/>
                  </a:lnTo>
                  <a:lnTo>
                    <a:pt x="30086" y="5511"/>
                  </a:lnTo>
                  <a:lnTo>
                    <a:pt x="30086" y="1600"/>
                  </a:lnTo>
                  <a:lnTo>
                    <a:pt x="28943" y="952"/>
                  </a:lnTo>
                  <a:lnTo>
                    <a:pt x="27622" y="622"/>
                  </a:lnTo>
                  <a:lnTo>
                    <a:pt x="24066" y="622"/>
                  </a:lnTo>
                  <a:lnTo>
                    <a:pt x="0" y="53670"/>
                  </a:lnTo>
                  <a:lnTo>
                    <a:pt x="38" y="53911"/>
                  </a:lnTo>
                  <a:lnTo>
                    <a:pt x="292" y="54254"/>
                  </a:lnTo>
                  <a:lnTo>
                    <a:pt x="1638" y="54254"/>
                  </a:lnTo>
                  <a:lnTo>
                    <a:pt x="1689" y="53670"/>
                  </a:lnTo>
                  <a:lnTo>
                    <a:pt x="5956" y="36791"/>
                  </a:lnTo>
                  <a:lnTo>
                    <a:pt x="13449" y="43599"/>
                  </a:lnTo>
                  <a:lnTo>
                    <a:pt x="17741" y="43599"/>
                  </a:lnTo>
                  <a:lnTo>
                    <a:pt x="31711" y="28956"/>
                  </a:lnTo>
                  <a:lnTo>
                    <a:pt x="31623" y="25387"/>
                  </a:lnTo>
                  <a:lnTo>
                    <a:pt x="31419" y="24561"/>
                  </a:lnTo>
                  <a:lnTo>
                    <a:pt x="31267" y="23698"/>
                  </a:lnTo>
                  <a:lnTo>
                    <a:pt x="31026" y="22923"/>
                  </a:lnTo>
                  <a:lnTo>
                    <a:pt x="30708" y="22263"/>
                  </a:lnTo>
                  <a:lnTo>
                    <a:pt x="30416" y="21551"/>
                  </a:lnTo>
                  <a:lnTo>
                    <a:pt x="30111" y="21056"/>
                  </a:lnTo>
                  <a:lnTo>
                    <a:pt x="30022" y="20891"/>
                  </a:lnTo>
                  <a:lnTo>
                    <a:pt x="29197" y="19900"/>
                  </a:lnTo>
                  <a:lnTo>
                    <a:pt x="28994" y="19646"/>
                  </a:lnTo>
                  <a:lnTo>
                    <a:pt x="28435" y="19138"/>
                  </a:lnTo>
                  <a:lnTo>
                    <a:pt x="27851" y="18757"/>
                  </a:lnTo>
                  <a:lnTo>
                    <a:pt x="27698" y="18757"/>
                  </a:lnTo>
                  <a:lnTo>
                    <a:pt x="28892" y="18008"/>
                  </a:lnTo>
                  <a:lnTo>
                    <a:pt x="34010" y="9740"/>
                  </a:lnTo>
                  <a:lnTo>
                    <a:pt x="34010" y="6832"/>
                  </a:lnTo>
                  <a:close/>
                </a:path>
                <a:path w="1504314" h="55880">
                  <a:moveTo>
                    <a:pt x="403618" y="40576"/>
                  </a:moveTo>
                  <a:lnTo>
                    <a:pt x="402209" y="40576"/>
                  </a:lnTo>
                  <a:lnTo>
                    <a:pt x="401053" y="40487"/>
                  </a:lnTo>
                  <a:lnTo>
                    <a:pt x="399262" y="40106"/>
                  </a:lnTo>
                  <a:lnTo>
                    <a:pt x="398640" y="39573"/>
                  </a:lnTo>
                  <a:lnTo>
                    <a:pt x="398284" y="38709"/>
                  </a:lnTo>
                  <a:lnTo>
                    <a:pt x="386092" y="431"/>
                  </a:lnTo>
                  <a:lnTo>
                    <a:pt x="385978" y="279"/>
                  </a:lnTo>
                  <a:lnTo>
                    <a:pt x="385813" y="190"/>
                  </a:lnTo>
                  <a:lnTo>
                    <a:pt x="385660" y="63"/>
                  </a:lnTo>
                  <a:lnTo>
                    <a:pt x="385470" y="0"/>
                  </a:lnTo>
                  <a:lnTo>
                    <a:pt x="384022" y="0"/>
                  </a:lnTo>
                  <a:lnTo>
                    <a:pt x="383743" y="203"/>
                  </a:lnTo>
                  <a:lnTo>
                    <a:pt x="383616" y="622"/>
                  </a:lnTo>
                  <a:lnTo>
                    <a:pt x="371957" y="37084"/>
                  </a:lnTo>
                  <a:lnTo>
                    <a:pt x="371157" y="39408"/>
                  </a:lnTo>
                  <a:lnTo>
                    <a:pt x="369201" y="40576"/>
                  </a:lnTo>
                  <a:lnTo>
                    <a:pt x="366102" y="40576"/>
                  </a:lnTo>
                  <a:lnTo>
                    <a:pt x="366102" y="42697"/>
                  </a:lnTo>
                  <a:lnTo>
                    <a:pt x="378625" y="42697"/>
                  </a:lnTo>
                  <a:lnTo>
                    <a:pt x="378625" y="40576"/>
                  </a:lnTo>
                  <a:lnTo>
                    <a:pt x="377532" y="40576"/>
                  </a:lnTo>
                  <a:lnTo>
                    <a:pt x="376504" y="40360"/>
                  </a:lnTo>
                  <a:lnTo>
                    <a:pt x="375513" y="39916"/>
                  </a:lnTo>
                  <a:lnTo>
                    <a:pt x="374510" y="39433"/>
                  </a:lnTo>
                  <a:lnTo>
                    <a:pt x="374015" y="38696"/>
                  </a:lnTo>
                  <a:lnTo>
                    <a:pt x="374015" y="37541"/>
                  </a:lnTo>
                  <a:lnTo>
                    <a:pt x="374065" y="37338"/>
                  </a:lnTo>
                  <a:lnTo>
                    <a:pt x="374167" y="37084"/>
                  </a:lnTo>
                  <a:lnTo>
                    <a:pt x="383044" y="9105"/>
                  </a:lnTo>
                  <a:lnTo>
                    <a:pt x="392493" y="38709"/>
                  </a:lnTo>
                  <a:lnTo>
                    <a:pt x="392531" y="38874"/>
                  </a:lnTo>
                  <a:lnTo>
                    <a:pt x="392531" y="40055"/>
                  </a:lnTo>
                  <a:lnTo>
                    <a:pt x="390842" y="40576"/>
                  </a:lnTo>
                  <a:lnTo>
                    <a:pt x="387451" y="40576"/>
                  </a:lnTo>
                  <a:lnTo>
                    <a:pt x="387451" y="42697"/>
                  </a:lnTo>
                  <a:lnTo>
                    <a:pt x="403618" y="42697"/>
                  </a:lnTo>
                  <a:lnTo>
                    <a:pt x="403618" y="40576"/>
                  </a:lnTo>
                  <a:close/>
                </a:path>
                <a:path w="1504314" h="55880">
                  <a:moveTo>
                    <a:pt x="767981" y="17157"/>
                  </a:moveTo>
                  <a:lnTo>
                    <a:pt x="767842" y="16979"/>
                  </a:lnTo>
                  <a:lnTo>
                    <a:pt x="766622" y="16979"/>
                  </a:lnTo>
                  <a:lnTo>
                    <a:pt x="766495" y="17030"/>
                  </a:lnTo>
                  <a:lnTo>
                    <a:pt x="765492" y="19037"/>
                  </a:lnTo>
                  <a:lnTo>
                    <a:pt x="763003" y="23901"/>
                  </a:lnTo>
                  <a:lnTo>
                    <a:pt x="760755" y="29057"/>
                  </a:lnTo>
                  <a:lnTo>
                    <a:pt x="758774" y="34493"/>
                  </a:lnTo>
                  <a:lnTo>
                    <a:pt x="758774" y="32766"/>
                  </a:lnTo>
                  <a:lnTo>
                    <a:pt x="758583" y="30911"/>
                  </a:lnTo>
                  <a:lnTo>
                    <a:pt x="758202" y="28930"/>
                  </a:lnTo>
                  <a:lnTo>
                    <a:pt x="757847" y="26936"/>
                  </a:lnTo>
                  <a:lnTo>
                    <a:pt x="757250" y="24968"/>
                  </a:lnTo>
                  <a:lnTo>
                    <a:pt x="756424" y="23025"/>
                  </a:lnTo>
                  <a:lnTo>
                    <a:pt x="755624" y="21069"/>
                  </a:lnTo>
                  <a:lnTo>
                    <a:pt x="754545" y="19469"/>
                  </a:lnTo>
                  <a:lnTo>
                    <a:pt x="753160" y="18224"/>
                  </a:lnTo>
                  <a:lnTo>
                    <a:pt x="751814" y="16954"/>
                  </a:lnTo>
                  <a:lnTo>
                    <a:pt x="750214" y="16306"/>
                  </a:lnTo>
                  <a:lnTo>
                    <a:pt x="746544" y="16306"/>
                  </a:lnTo>
                  <a:lnTo>
                    <a:pt x="744804" y="16840"/>
                  </a:lnTo>
                  <a:lnTo>
                    <a:pt x="743140" y="17894"/>
                  </a:lnTo>
                  <a:lnTo>
                    <a:pt x="741514" y="18910"/>
                  </a:lnTo>
                  <a:lnTo>
                    <a:pt x="736612" y="27101"/>
                  </a:lnTo>
                  <a:lnTo>
                    <a:pt x="736612" y="27647"/>
                  </a:lnTo>
                  <a:lnTo>
                    <a:pt x="736777" y="27825"/>
                  </a:lnTo>
                  <a:lnTo>
                    <a:pt x="738035" y="27825"/>
                  </a:lnTo>
                  <a:lnTo>
                    <a:pt x="738200" y="27711"/>
                  </a:lnTo>
                  <a:lnTo>
                    <a:pt x="738289" y="27482"/>
                  </a:lnTo>
                  <a:lnTo>
                    <a:pt x="738644" y="26212"/>
                  </a:lnTo>
                  <a:lnTo>
                    <a:pt x="739279" y="25069"/>
                  </a:lnTo>
                  <a:lnTo>
                    <a:pt x="741172" y="23050"/>
                  </a:lnTo>
                  <a:lnTo>
                    <a:pt x="742302" y="22250"/>
                  </a:lnTo>
                  <a:lnTo>
                    <a:pt x="744931" y="21107"/>
                  </a:lnTo>
                  <a:lnTo>
                    <a:pt x="746239" y="20815"/>
                  </a:lnTo>
                  <a:lnTo>
                    <a:pt x="750049" y="20815"/>
                  </a:lnTo>
                  <a:lnTo>
                    <a:pt x="751992" y="21564"/>
                  </a:lnTo>
                  <a:lnTo>
                    <a:pt x="753402" y="23075"/>
                  </a:lnTo>
                  <a:lnTo>
                    <a:pt x="754811" y="24549"/>
                  </a:lnTo>
                  <a:lnTo>
                    <a:pt x="755751" y="26377"/>
                  </a:lnTo>
                  <a:lnTo>
                    <a:pt x="756234" y="28587"/>
                  </a:lnTo>
                  <a:lnTo>
                    <a:pt x="756742" y="30797"/>
                  </a:lnTo>
                  <a:lnTo>
                    <a:pt x="756996" y="33172"/>
                  </a:lnTo>
                  <a:lnTo>
                    <a:pt x="756996" y="36753"/>
                  </a:lnTo>
                  <a:lnTo>
                    <a:pt x="756920" y="38265"/>
                  </a:lnTo>
                  <a:lnTo>
                    <a:pt x="756754" y="40246"/>
                  </a:lnTo>
                  <a:lnTo>
                    <a:pt x="756373" y="41490"/>
                  </a:lnTo>
                  <a:lnTo>
                    <a:pt x="754748" y="46939"/>
                  </a:lnTo>
                  <a:lnTo>
                    <a:pt x="754253" y="48768"/>
                  </a:lnTo>
                  <a:lnTo>
                    <a:pt x="753833" y="50457"/>
                  </a:lnTo>
                  <a:lnTo>
                    <a:pt x="753452" y="52184"/>
                  </a:lnTo>
                  <a:lnTo>
                    <a:pt x="753262" y="53505"/>
                  </a:lnTo>
                  <a:lnTo>
                    <a:pt x="753262" y="54394"/>
                  </a:lnTo>
                  <a:lnTo>
                    <a:pt x="753262" y="55168"/>
                  </a:lnTo>
                  <a:lnTo>
                    <a:pt x="753567" y="55549"/>
                  </a:lnTo>
                  <a:lnTo>
                    <a:pt x="754164" y="55549"/>
                  </a:lnTo>
                  <a:lnTo>
                    <a:pt x="754773" y="55486"/>
                  </a:lnTo>
                  <a:lnTo>
                    <a:pt x="755383" y="54444"/>
                  </a:lnTo>
                  <a:lnTo>
                    <a:pt x="755992" y="52425"/>
                  </a:lnTo>
                  <a:lnTo>
                    <a:pt x="756627" y="50419"/>
                  </a:lnTo>
                  <a:lnTo>
                    <a:pt x="757161" y="48247"/>
                  </a:lnTo>
                  <a:lnTo>
                    <a:pt x="757580" y="45910"/>
                  </a:lnTo>
                  <a:lnTo>
                    <a:pt x="758024" y="43599"/>
                  </a:lnTo>
                  <a:lnTo>
                    <a:pt x="758329" y="41783"/>
                  </a:lnTo>
                  <a:lnTo>
                    <a:pt x="758482" y="40436"/>
                  </a:lnTo>
                  <a:lnTo>
                    <a:pt x="759510" y="37147"/>
                  </a:lnTo>
                  <a:lnTo>
                    <a:pt x="766978" y="19710"/>
                  </a:lnTo>
                  <a:lnTo>
                    <a:pt x="767956" y="17716"/>
                  </a:lnTo>
                  <a:lnTo>
                    <a:pt x="767981" y="17157"/>
                  </a:lnTo>
                  <a:close/>
                </a:path>
                <a:path w="1504314" h="55880">
                  <a:moveTo>
                    <a:pt x="1131150" y="2298"/>
                  </a:moveTo>
                  <a:lnTo>
                    <a:pt x="1130515" y="1562"/>
                  </a:lnTo>
                  <a:lnTo>
                    <a:pt x="1129626" y="1346"/>
                  </a:lnTo>
                  <a:lnTo>
                    <a:pt x="1126109" y="546"/>
                  </a:lnTo>
                  <a:lnTo>
                    <a:pt x="1123759" y="139"/>
                  </a:lnTo>
                  <a:lnTo>
                    <a:pt x="1121321" y="139"/>
                  </a:lnTo>
                  <a:lnTo>
                    <a:pt x="1116050" y="7912"/>
                  </a:lnTo>
                  <a:lnTo>
                    <a:pt x="1116317" y="9359"/>
                  </a:lnTo>
                  <a:lnTo>
                    <a:pt x="1119644" y="16687"/>
                  </a:lnTo>
                  <a:lnTo>
                    <a:pt x="1117244" y="17272"/>
                  </a:lnTo>
                  <a:lnTo>
                    <a:pt x="1106525" y="30683"/>
                  </a:lnTo>
                  <a:lnTo>
                    <a:pt x="1106551" y="35420"/>
                  </a:lnTo>
                  <a:lnTo>
                    <a:pt x="1114628" y="43599"/>
                  </a:lnTo>
                  <a:lnTo>
                    <a:pt x="1117854" y="43599"/>
                  </a:lnTo>
                  <a:lnTo>
                    <a:pt x="1127848" y="27355"/>
                  </a:lnTo>
                  <a:lnTo>
                    <a:pt x="1127848" y="21958"/>
                  </a:lnTo>
                  <a:lnTo>
                    <a:pt x="1126718" y="18757"/>
                  </a:lnTo>
                  <a:lnTo>
                    <a:pt x="1126502" y="18415"/>
                  </a:lnTo>
                  <a:lnTo>
                    <a:pt x="1126324" y="18186"/>
                  </a:lnTo>
                  <a:lnTo>
                    <a:pt x="1124343" y="15633"/>
                  </a:lnTo>
                  <a:lnTo>
                    <a:pt x="1123530" y="14643"/>
                  </a:lnTo>
                  <a:lnTo>
                    <a:pt x="1123530" y="25234"/>
                  </a:lnTo>
                  <a:lnTo>
                    <a:pt x="1123530" y="29705"/>
                  </a:lnTo>
                  <a:lnTo>
                    <a:pt x="1123378" y="30683"/>
                  </a:lnTo>
                  <a:lnTo>
                    <a:pt x="1123340" y="30975"/>
                  </a:lnTo>
                  <a:lnTo>
                    <a:pt x="1123238" y="31572"/>
                  </a:lnTo>
                  <a:lnTo>
                    <a:pt x="1122095" y="36017"/>
                  </a:lnTo>
                  <a:lnTo>
                    <a:pt x="1121244" y="37934"/>
                  </a:lnTo>
                  <a:lnTo>
                    <a:pt x="1119009" y="41173"/>
                  </a:lnTo>
                  <a:lnTo>
                    <a:pt x="1117663" y="41973"/>
                  </a:lnTo>
                  <a:lnTo>
                    <a:pt x="1114272" y="41973"/>
                  </a:lnTo>
                  <a:lnTo>
                    <a:pt x="1112862" y="41313"/>
                  </a:lnTo>
                  <a:lnTo>
                    <a:pt x="1110881" y="38696"/>
                  </a:lnTo>
                  <a:lnTo>
                    <a:pt x="1110475" y="37363"/>
                  </a:lnTo>
                  <a:lnTo>
                    <a:pt x="1110386" y="32981"/>
                  </a:lnTo>
                  <a:lnTo>
                    <a:pt x="1110627" y="31572"/>
                  </a:lnTo>
                  <a:lnTo>
                    <a:pt x="1110729" y="30975"/>
                  </a:lnTo>
                  <a:lnTo>
                    <a:pt x="1110767" y="30683"/>
                  </a:lnTo>
                  <a:lnTo>
                    <a:pt x="1112304" y="25819"/>
                  </a:lnTo>
                  <a:lnTo>
                    <a:pt x="1113345" y="23876"/>
                  </a:lnTo>
                  <a:lnTo>
                    <a:pt x="1113447" y="23672"/>
                  </a:lnTo>
                  <a:lnTo>
                    <a:pt x="1116482" y="19964"/>
                  </a:lnTo>
                  <a:lnTo>
                    <a:pt x="1118298" y="18757"/>
                  </a:lnTo>
                  <a:lnTo>
                    <a:pt x="1120406" y="18186"/>
                  </a:lnTo>
                  <a:lnTo>
                    <a:pt x="1122514" y="21958"/>
                  </a:lnTo>
                  <a:lnTo>
                    <a:pt x="1123530" y="25234"/>
                  </a:lnTo>
                  <a:lnTo>
                    <a:pt x="1123530" y="14643"/>
                  </a:lnTo>
                  <a:lnTo>
                    <a:pt x="1117917" y="6235"/>
                  </a:lnTo>
                  <a:lnTo>
                    <a:pt x="1117917" y="4203"/>
                  </a:lnTo>
                  <a:lnTo>
                    <a:pt x="1118222" y="3594"/>
                  </a:lnTo>
                  <a:lnTo>
                    <a:pt x="1118806" y="3111"/>
                  </a:lnTo>
                  <a:lnTo>
                    <a:pt x="1119517" y="2552"/>
                  </a:lnTo>
                  <a:lnTo>
                    <a:pt x="1120254" y="2298"/>
                  </a:lnTo>
                  <a:lnTo>
                    <a:pt x="1121791" y="2298"/>
                  </a:lnTo>
                  <a:lnTo>
                    <a:pt x="1122883" y="2552"/>
                  </a:lnTo>
                  <a:lnTo>
                    <a:pt x="1122680" y="2552"/>
                  </a:lnTo>
                  <a:lnTo>
                    <a:pt x="1123899" y="3111"/>
                  </a:lnTo>
                  <a:lnTo>
                    <a:pt x="1124712" y="3594"/>
                  </a:lnTo>
                  <a:lnTo>
                    <a:pt x="1126236" y="4622"/>
                  </a:lnTo>
                  <a:lnTo>
                    <a:pt x="1127785" y="5562"/>
                  </a:lnTo>
                  <a:lnTo>
                    <a:pt x="1129195" y="5562"/>
                  </a:lnTo>
                  <a:lnTo>
                    <a:pt x="1129766" y="5295"/>
                  </a:lnTo>
                  <a:lnTo>
                    <a:pt x="1130731" y="4203"/>
                  </a:lnTo>
                  <a:lnTo>
                    <a:pt x="1130973" y="3594"/>
                  </a:lnTo>
                  <a:lnTo>
                    <a:pt x="1130973" y="2298"/>
                  </a:lnTo>
                  <a:lnTo>
                    <a:pt x="1131150" y="2298"/>
                  </a:lnTo>
                  <a:close/>
                </a:path>
                <a:path w="1504314" h="55880">
                  <a:moveTo>
                    <a:pt x="1503730" y="34150"/>
                  </a:moveTo>
                  <a:lnTo>
                    <a:pt x="1503667" y="33909"/>
                  </a:lnTo>
                  <a:lnTo>
                    <a:pt x="1501952" y="33909"/>
                  </a:lnTo>
                  <a:lnTo>
                    <a:pt x="1501622" y="35509"/>
                  </a:lnTo>
                  <a:lnTo>
                    <a:pt x="1501508" y="36093"/>
                  </a:lnTo>
                  <a:lnTo>
                    <a:pt x="1500962" y="37947"/>
                  </a:lnTo>
                  <a:lnTo>
                    <a:pt x="1499679" y="41008"/>
                  </a:lnTo>
                  <a:lnTo>
                    <a:pt x="1498739" y="41783"/>
                  </a:lnTo>
                  <a:lnTo>
                    <a:pt x="1496352" y="41783"/>
                  </a:lnTo>
                  <a:lnTo>
                    <a:pt x="1495831" y="41008"/>
                  </a:lnTo>
                  <a:lnTo>
                    <a:pt x="1495767" y="39192"/>
                  </a:lnTo>
                  <a:lnTo>
                    <a:pt x="1495844" y="37947"/>
                  </a:lnTo>
                  <a:lnTo>
                    <a:pt x="1495907" y="37426"/>
                  </a:lnTo>
                  <a:lnTo>
                    <a:pt x="1500505" y="19037"/>
                  </a:lnTo>
                  <a:lnTo>
                    <a:pt x="1500530" y="17907"/>
                  </a:lnTo>
                  <a:lnTo>
                    <a:pt x="1499692" y="17183"/>
                  </a:lnTo>
                  <a:lnTo>
                    <a:pt x="1498727" y="16789"/>
                  </a:lnTo>
                  <a:lnTo>
                    <a:pt x="1497647" y="17183"/>
                  </a:lnTo>
                  <a:lnTo>
                    <a:pt x="1496682" y="17907"/>
                  </a:lnTo>
                  <a:lnTo>
                    <a:pt x="1496352" y="18465"/>
                  </a:lnTo>
                  <a:lnTo>
                    <a:pt x="1491970" y="36093"/>
                  </a:lnTo>
                  <a:lnTo>
                    <a:pt x="1491881" y="36360"/>
                  </a:lnTo>
                  <a:lnTo>
                    <a:pt x="1489671" y="39966"/>
                  </a:lnTo>
                  <a:lnTo>
                    <a:pt x="1487131" y="41783"/>
                  </a:lnTo>
                  <a:lnTo>
                    <a:pt x="1482813" y="41783"/>
                  </a:lnTo>
                  <a:lnTo>
                    <a:pt x="1482483" y="41630"/>
                  </a:lnTo>
                  <a:lnTo>
                    <a:pt x="1482153" y="41490"/>
                  </a:lnTo>
                  <a:lnTo>
                    <a:pt x="1481886" y="41490"/>
                  </a:lnTo>
                  <a:lnTo>
                    <a:pt x="1481099" y="40462"/>
                  </a:lnTo>
                  <a:lnTo>
                    <a:pt x="1480375" y="39433"/>
                  </a:lnTo>
                  <a:lnTo>
                    <a:pt x="1480096" y="38404"/>
                  </a:lnTo>
                  <a:lnTo>
                    <a:pt x="1480032" y="35509"/>
                  </a:lnTo>
                  <a:lnTo>
                    <a:pt x="1480223" y="34150"/>
                  </a:lnTo>
                  <a:lnTo>
                    <a:pt x="1480616" y="32423"/>
                  </a:lnTo>
                  <a:lnTo>
                    <a:pt x="1484109" y="18465"/>
                  </a:lnTo>
                  <a:lnTo>
                    <a:pt x="1484033" y="17183"/>
                  </a:lnTo>
                  <a:lnTo>
                    <a:pt x="1484172" y="17183"/>
                  </a:lnTo>
                  <a:lnTo>
                    <a:pt x="1483677" y="16789"/>
                  </a:lnTo>
                  <a:lnTo>
                    <a:pt x="1483347" y="16484"/>
                  </a:lnTo>
                  <a:lnTo>
                    <a:pt x="1482890" y="16306"/>
                  </a:lnTo>
                  <a:lnTo>
                    <a:pt x="1481810" y="16306"/>
                  </a:lnTo>
                  <a:lnTo>
                    <a:pt x="1481277" y="16484"/>
                  </a:lnTo>
                  <a:lnTo>
                    <a:pt x="1480362" y="17183"/>
                  </a:lnTo>
                  <a:lnTo>
                    <a:pt x="1480019" y="17741"/>
                  </a:lnTo>
                  <a:lnTo>
                    <a:pt x="1471079" y="53530"/>
                  </a:lnTo>
                  <a:lnTo>
                    <a:pt x="1471180" y="54698"/>
                  </a:lnTo>
                  <a:lnTo>
                    <a:pt x="1471244" y="54825"/>
                  </a:lnTo>
                  <a:lnTo>
                    <a:pt x="1471942" y="55410"/>
                  </a:lnTo>
                  <a:lnTo>
                    <a:pt x="1472361" y="55549"/>
                  </a:lnTo>
                  <a:lnTo>
                    <a:pt x="1473441" y="55549"/>
                  </a:lnTo>
                  <a:lnTo>
                    <a:pt x="1475282" y="53670"/>
                  </a:lnTo>
                  <a:lnTo>
                    <a:pt x="1477873" y="43370"/>
                  </a:lnTo>
                  <a:lnTo>
                    <a:pt x="1477962" y="42989"/>
                  </a:lnTo>
                  <a:lnTo>
                    <a:pt x="1478076" y="42532"/>
                  </a:lnTo>
                  <a:lnTo>
                    <a:pt x="1478153" y="42252"/>
                  </a:lnTo>
                  <a:lnTo>
                    <a:pt x="1478267" y="41783"/>
                  </a:lnTo>
                  <a:lnTo>
                    <a:pt x="1478305" y="41630"/>
                  </a:lnTo>
                  <a:lnTo>
                    <a:pt x="1479753" y="42786"/>
                  </a:lnTo>
                  <a:lnTo>
                    <a:pt x="1481709" y="43370"/>
                  </a:lnTo>
                  <a:lnTo>
                    <a:pt x="1485684" y="43370"/>
                  </a:lnTo>
                  <a:lnTo>
                    <a:pt x="1487017" y="42989"/>
                  </a:lnTo>
                  <a:lnTo>
                    <a:pt x="1491881" y="39192"/>
                  </a:lnTo>
                  <a:lnTo>
                    <a:pt x="1492084" y="39966"/>
                  </a:lnTo>
                  <a:lnTo>
                    <a:pt x="1496060" y="43370"/>
                  </a:lnTo>
                  <a:lnTo>
                    <a:pt x="1499260" y="43370"/>
                  </a:lnTo>
                  <a:lnTo>
                    <a:pt x="1500593" y="42532"/>
                  </a:lnTo>
                  <a:lnTo>
                    <a:pt x="1500974" y="41783"/>
                  </a:lnTo>
                  <a:lnTo>
                    <a:pt x="1502130" y="39433"/>
                  </a:lnTo>
                  <a:lnTo>
                    <a:pt x="1502257" y="39192"/>
                  </a:lnTo>
                  <a:lnTo>
                    <a:pt x="1503032" y="36931"/>
                  </a:lnTo>
                  <a:lnTo>
                    <a:pt x="1503730" y="3415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129423" y="2570189"/>
            <a:ext cx="365125" cy="104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10" dirty="0">
                <a:solidFill>
                  <a:srgbClr val="252525"/>
                </a:solidFill>
                <a:latin typeface="Arial MT"/>
                <a:cs typeface="Arial MT"/>
              </a:rPr>
              <a:t>Parameters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58187" y="646738"/>
            <a:ext cx="2348865" cy="1842135"/>
          </a:xfrm>
          <a:custGeom>
            <a:avLst/>
            <a:gdLst/>
            <a:ahLst/>
            <a:cxnLst/>
            <a:rect l="l" t="t" r="r" b="b"/>
            <a:pathLst>
              <a:path w="2348865" h="1842135">
                <a:moveTo>
                  <a:pt x="0" y="1842004"/>
                </a:moveTo>
                <a:lnTo>
                  <a:pt x="0" y="0"/>
                </a:lnTo>
              </a:path>
              <a:path w="2348865" h="1842135">
                <a:moveTo>
                  <a:pt x="2348554" y="1842004"/>
                </a:moveTo>
                <a:lnTo>
                  <a:pt x="2348554" y="0"/>
                </a:lnTo>
              </a:path>
              <a:path w="2348865" h="1842135">
                <a:moveTo>
                  <a:pt x="0" y="1842004"/>
                </a:moveTo>
                <a:lnTo>
                  <a:pt x="23484" y="1842004"/>
                </a:lnTo>
              </a:path>
              <a:path w="2348865" h="1842135">
                <a:moveTo>
                  <a:pt x="0" y="1611753"/>
                </a:moveTo>
                <a:lnTo>
                  <a:pt x="23484" y="1611753"/>
                </a:lnTo>
              </a:path>
              <a:path w="2348865" h="1842135">
                <a:moveTo>
                  <a:pt x="0" y="1381502"/>
                </a:moveTo>
                <a:lnTo>
                  <a:pt x="23484" y="1381502"/>
                </a:lnTo>
              </a:path>
              <a:path w="2348865" h="1842135">
                <a:moveTo>
                  <a:pt x="0" y="1151252"/>
                </a:moveTo>
                <a:lnTo>
                  <a:pt x="23484" y="1151252"/>
                </a:lnTo>
              </a:path>
              <a:path w="2348865" h="1842135">
                <a:moveTo>
                  <a:pt x="0" y="921001"/>
                </a:moveTo>
                <a:lnTo>
                  <a:pt x="23484" y="921001"/>
                </a:lnTo>
              </a:path>
              <a:path w="2348865" h="1842135">
                <a:moveTo>
                  <a:pt x="0" y="690751"/>
                </a:moveTo>
                <a:lnTo>
                  <a:pt x="23484" y="690751"/>
                </a:lnTo>
              </a:path>
              <a:path w="2348865" h="1842135">
                <a:moveTo>
                  <a:pt x="0" y="460500"/>
                </a:moveTo>
                <a:lnTo>
                  <a:pt x="23484" y="460500"/>
                </a:lnTo>
              </a:path>
              <a:path w="2348865" h="1842135">
                <a:moveTo>
                  <a:pt x="0" y="230250"/>
                </a:moveTo>
                <a:lnTo>
                  <a:pt x="23484" y="230250"/>
                </a:lnTo>
              </a:path>
              <a:path w="2348865" h="1842135">
                <a:moveTo>
                  <a:pt x="0" y="0"/>
                </a:moveTo>
                <a:lnTo>
                  <a:pt x="23484" y="0"/>
                </a:lnTo>
              </a:path>
              <a:path w="2348865" h="1842135">
                <a:moveTo>
                  <a:pt x="2348554" y="1842004"/>
                </a:moveTo>
                <a:lnTo>
                  <a:pt x="2325068" y="1842004"/>
                </a:lnTo>
              </a:path>
              <a:path w="2348865" h="1842135">
                <a:moveTo>
                  <a:pt x="2348554" y="1611753"/>
                </a:moveTo>
                <a:lnTo>
                  <a:pt x="2325068" y="1611753"/>
                </a:lnTo>
              </a:path>
              <a:path w="2348865" h="1842135">
                <a:moveTo>
                  <a:pt x="2348554" y="1381502"/>
                </a:moveTo>
                <a:lnTo>
                  <a:pt x="2325068" y="1381502"/>
                </a:lnTo>
              </a:path>
              <a:path w="2348865" h="1842135">
                <a:moveTo>
                  <a:pt x="2348554" y="1151252"/>
                </a:moveTo>
                <a:lnTo>
                  <a:pt x="2325068" y="1151252"/>
                </a:lnTo>
              </a:path>
              <a:path w="2348865" h="1842135">
                <a:moveTo>
                  <a:pt x="2348554" y="921001"/>
                </a:moveTo>
                <a:lnTo>
                  <a:pt x="2325068" y="921001"/>
                </a:lnTo>
              </a:path>
              <a:path w="2348865" h="1842135">
                <a:moveTo>
                  <a:pt x="2348554" y="690751"/>
                </a:moveTo>
                <a:lnTo>
                  <a:pt x="2325068" y="690751"/>
                </a:lnTo>
              </a:path>
              <a:path w="2348865" h="1842135">
                <a:moveTo>
                  <a:pt x="2348554" y="460500"/>
                </a:moveTo>
                <a:lnTo>
                  <a:pt x="2325068" y="460500"/>
                </a:lnTo>
              </a:path>
              <a:path w="2348865" h="1842135">
                <a:moveTo>
                  <a:pt x="2348554" y="230250"/>
                </a:moveTo>
                <a:lnTo>
                  <a:pt x="2325068" y="230250"/>
                </a:lnTo>
              </a:path>
              <a:path w="2348865" h="1842135">
                <a:moveTo>
                  <a:pt x="2348554" y="0"/>
                </a:moveTo>
                <a:lnTo>
                  <a:pt x="232506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008359" y="595835"/>
            <a:ext cx="135890" cy="193928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0"/>
              </a:spcBef>
            </a:pPr>
            <a:r>
              <a:rPr sz="450" spc="-50" dirty="0">
                <a:solidFill>
                  <a:srgbClr val="252525"/>
                </a:solidFill>
                <a:latin typeface="Arial MT"/>
                <a:cs typeface="Arial MT"/>
              </a:rPr>
              <a:t>2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450">
              <a:latin typeface="Arial MT"/>
              <a:cs typeface="Arial MT"/>
            </a:endParaRPr>
          </a:p>
          <a:p>
            <a:pPr marR="10160" algn="r">
              <a:lnSpc>
                <a:spcPct val="100000"/>
              </a:lnSpc>
            </a:pPr>
            <a:r>
              <a:rPr sz="450" spc="-25" dirty="0">
                <a:solidFill>
                  <a:srgbClr val="252525"/>
                </a:solidFill>
                <a:latin typeface="Arial MT"/>
                <a:cs typeface="Arial MT"/>
              </a:rPr>
              <a:t>1.5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4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450" spc="-50" dirty="0">
                <a:solidFill>
                  <a:srgbClr val="252525"/>
                </a:solidFill>
                <a:latin typeface="Arial MT"/>
                <a:cs typeface="Arial MT"/>
              </a:rPr>
              <a:t>1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450">
              <a:latin typeface="Arial MT"/>
              <a:cs typeface="Arial MT"/>
            </a:endParaRPr>
          </a:p>
          <a:p>
            <a:pPr marR="10160" algn="r">
              <a:lnSpc>
                <a:spcPct val="100000"/>
              </a:lnSpc>
              <a:spcBef>
                <a:spcPts val="5"/>
              </a:spcBef>
            </a:pPr>
            <a:r>
              <a:rPr sz="450" spc="-25" dirty="0">
                <a:solidFill>
                  <a:srgbClr val="252525"/>
                </a:solidFill>
                <a:latin typeface="Arial MT"/>
                <a:cs typeface="Arial MT"/>
              </a:rPr>
              <a:t>0.5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4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450" spc="-50" dirty="0">
                <a:solidFill>
                  <a:srgbClr val="252525"/>
                </a:solidFill>
                <a:latin typeface="Arial MT"/>
                <a:cs typeface="Arial MT"/>
              </a:rPr>
              <a:t>0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450">
              <a:latin typeface="Arial MT"/>
              <a:cs typeface="Arial MT"/>
            </a:endParaRPr>
          </a:p>
          <a:p>
            <a:pPr marR="12065" algn="r">
              <a:lnSpc>
                <a:spcPct val="100000"/>
              </a:lnSpc>
            </a:pP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-</a:t>
            </a:r>
            <a:r>
              <a:rPr sz="450" spc="-25" dirty="0">
                <a:solidFill>
                  <a:srgbClr val="252525"/>
                </a:solidFill>
                <a:latin typeface="Arial MT"/>
                <a:cs typeface="Arial MT"/>
              </a:rPr>
              <a:t>0.5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450">
              <a:latin typeface="Arial MT"/>
              <a:cs typeface="Arial MT"/>
            </a:endParaRPr>
          </a:p>
          <a:p>
            <a:pPr marR="6350" algn="r">
              <a:lnSpc>
                <a:spcPct val="100000"/>
              </a:lnSpc>
            </a:pP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-</a:t>
            </a:r>
            <a:r>
              <a:rPr sz="450" spc="-50" dirty="0">
                <a:solidFill>
                  <a:srgbClr val="252525"/>
                </a:solidFill>
                <a:latin typeface="Arial MT"/>
                <a:cs typeface="Arial MT"/>
              </a:rPr>
              <a:t>1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450">
              <a:latin typeface="Arial MT"/>
              <a:cs typeface="Arial MT"/>
            </a:endParaRPr>
          </a:p>
          <a:p>
            <a:pPr marR="12065" algn="r">
              <a:lnSpc>
                <a:spcPct val="100000"/>
              </a:lnSpc>
            </a:pP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-</a:t>
            </a:r>
            <a:r>
              <a:rPr sz="450" spc="-25" dirty="0">
                <a:solidFill>
                  <a:srgbClr val="252525"/>
                </a:solidFill>
                <a:latin typeface="Arial MT"/>
                <a:cs typeface="Arial MT"/>
              </a:rPr>
              <a:t>1.5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450">
              <a:latin typeface="Arial MT"/>
              <a:cs typeface="Arial MT"/>
            </a:endParaRPr>
          </a:p>
          <a:p>
            <a:pPr marR="6350" algn="r">
              <a:lnSpc>
                <a:spcPct val="100000"/>
              </a:lnSpc>
              <a:spcBef>
                <a:spcPts val="5"/>
              </a:spcBef>
            </a:pPr>
            <a:r>
              <a:rPr sz="450" dirty="0">
                <a:solidFill>
                  <a:srgbClr val="252525"/>
                </a:solidFill>
                <a:latin typeface="Arial MT"/>
                <a:cs typeface="Arial MT"/>
              </a:rPr>
              <a:t>-</a:t>
            </a:r>
            <a:r>
              <a:rPr sz="450" spc="-50" dirty="0">
                <a:solidFill>
                  <a:srgbClr val="252525"/>
                </a:solidFill>
                <a:latin typeface="Arial MT"/>
                <a:cs typeface="Arial MT"/>
              </a:rPr>
              <a:t>2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26410" y="1353845"/>
            <a:ext cx="91440" cy="5003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dirty="0">
                <a:solidFill>
                  <a:srgbClr val="252525"/>
                </a:solidFill>
                <a:latin typeface="Arial MT"/>
                <a:cs typeface="Arial MT"/>
              </a:rPr>
              <a:t>Sensitivity</a:t>
            </a:r>
            <a:r>
              <a:rPr sz="500" spc="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252525"/>
                </a:solidFill>
                <a:latin typeface="Arial MT"/>
                <a:cs typeface="Arial MT"/>
              </a:rPr>
              <a:t>Index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46" y="2975965"/>
            <a:ext cx="63220" cy="6322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377532" y="2860685"/>
            <a:ext cx="3883025" cy="41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16900"/>
              </a:lnSpc>
              <a:spcBef>
                <a:spcPts val="100"/>
              </a:spcBef>
            </a:pPr>
            <a:r>
              <a:rPr sz="1100" spc="20" dirty="0">
                <a:latin typeface="Times New Roman"/>
                <a:cs typeface="Times New Roman"/>
              </a:rPr>
              <a:t>Positive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indices: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Parameters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80" dirty="0">
                <a:latin typeface="Times New Roman"/>
                <a:cs typeface="Times New Roman"/>
              </a:rPr>
              <a:t>that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increase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375" baseline="-10416" dirty="0">
                <a:latin typeface="Calibri"/>
                <a:cs typeface="Calibri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when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increased. </a:t>
            </a:r>
            <a:r>
              <a:rPr sz="1100" spc="20" dirty="0">
                <a:latin typeface="Times New Roman"/>
                <a:cs typeface="Times New Roman"/>
              </a:rPr>
              <a:t>Negative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indices: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Parameters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80" dirty="0">
                <a:latin typeface="Times New Roman"/>
                <a:cs typeface="Times New Roman"/>
              </a:rPr>
              <a:t>that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decrease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352" baseline="-10416" dirty="0">
                <a:latin typeface="Calibri"/>
                <a:cs typeface="Calibri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when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incr</a:t>
            </a:r>
            <a:r>
              <a:rPr sz="1100" u="dbl" spc="-10" dirty="0">
                <a:uFill>
                  <a:solidFill>
                    <a:srgbClr val="ADADE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1100" spc="-10" dirty="0">
                <a:latin typeface="Times New Roman"/>
                <a:cs typeface="Times New Roman"/>
              </a:rPr>
              <a:t>ased.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46" y="3172028"/>
            <a:ext cx="63220" cy="63220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44" name="object 44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20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2430"/>
            <a:ext cx="20770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Global</a:t>
            </a:r>
            <a:r>
              <a:rPr sz="14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Sensitivity</a:t>
            </a:r>
            <a:r>
              <a:rPr sz="14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68051" y="1019221"/>
          <a:ext cx="3749675" cy="1394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4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b="1" spc="-10" dirty="0">
                          <a:latin typeface="Georgia"/>
                          <a:cs typeface="Georgia"/>
                        </a:rPr>
                        <a:t>Parameter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b="1" spc="-10" dirty="0">
                          <a:latin typeface="Georgia"/>
                          <a:cs typeface="Georgia"/>
                        </a:rPr>
                        <a:t>Description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b="1" spc="-10" dirty="0">
                          <a:latin typeface="Georgia"/>
                          <a:cs typeface="Georgia"/>
                        </a:rPr>
                        <a:t>Values</a:t>
                      </a:r>
                      <a:r>
                        <a:rPr sz="750" b="1" spc="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b="1" spc="-10" dirty="0">
                          <a:latin typeface="Georgia"/>
                          <a:cs typeface="Georgia"/>
                        </a:rPr>
                        <a:t>(year)</a:t>
                      </a:r>
                      <a:r>
                        <a:rPr sz="750" spc="-15" baseline="33333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750" spc="-15" baseline="33333" dirty="0">
                          <a:latin typeface="Lucida Console"/>
                          <a:cs typeface="Lucida Console"/>
                        </a:rPr>
                        <a:t>1</a:t>
                      </a:r>
                      <a:endParaRPr sz="750" baseline="33333">
                        <a:latin typeface="Lucida Console"/>
                        <a:cs typeface="Lucida Console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spc="-50" dirty="0">
                          <a:latin typeface="Lucida Sans Unicode"/>
                          <a:cs typeface="Lucida Sans Unicode"/>
                        </a:rPr>
                        <a:t>Λ</a:t>
                      </a:r>
                      <a:endParaRPr sz="7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dirty="0">
                          <a:latin typeface="Georgia"/>
                          <a:cs typeface="Georgia"/>
                        </a:rPr>
                        <a:t>Recruitment</a:t>
                      </a:r>
                      <a:r>
                        <a:rPr sz="750" spc="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750" spc="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into</a:t>
                      </a:r>
                      <a:r>
                        <a:rPr sz="750" spc="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the</a:t>
                      </a:r>
                      <a:r>
                        <a:rPr sz="750" spc="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susceptible</a:t>
                      </a:r>
                      <a:r>
                        <a:rPr sz="750" spc="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10" dirty="0">
                          <a:latin typeface="Georgia"/>
                          <a:cs typeface="Georgia"/>
                        </a:rPr>
                        <a:t>individuals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dirty="0">
                          <a:latin typeface="Georgia"/>
                          <a:cs typeface="Georgia"/>
                        </a:rPr>
                        <a:t>(5,</a:t>
                      </a:r>
                      <a:r>
                        <a:rPr sz="750" spc="8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25" dirty="0">
                          <a:latin typeface="Georgia"/>
                          <a:cs typeface="Georgia"/>
                        </a:rPr>
                        <a:t>40)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i="1" spc="-50" dirty="0">
                          <a:latin typeface="Palatino Linotype"/>
                          <a:cs typeface="Palatino Linotype"/>
                        </a:rPr>
                        <a:t>β</a:t>
                      </a:r>
                      <a:endParaRPr sz="750">
                        <a:latin typeface="Palatino Linotype"/>
                        <a:cs typeface="Palatino Linotype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spc="-10" dirty="0">
                          <a:latin typeface="Georgia"/>
                          <a:cs typeface="Georgia"/>
                        </a:rPr>
                        <a:t>Transmission</a:t>
                      </a:r>
                      <a:r>
                        <a:rPr sz="750" spc="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750" spc="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750" spc="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contact</a:t>
                      </a:r>
                      <a:r>
                        <a:rPr sz="750" spc="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with</a:t>
                      </a:r>
                      <a:r>
                        <a:rPr sz="750" spc="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10" dirty="0">
                          <a:latin typeface="Georgia"/>
                          <a:cs typeface="Georgia"/>
                        </a:rPr>
                        <a:t>individuals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dirty="0">
                          <a:latin typeface="Georgia"/>
                          <a:cs typeface="Georgia"/>
                        </a:rPr>
                        <a:t>(0.1,</a:t>
                      </a:r>
                      <a:r>
                        <a:rPr sz="750" spc="8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20" dirty="0">
                          <a:latin typeface="Georgia"/>
                          <a:cs typeface="Georgia"/>
                        </a:rPr>
                        <a:t>1.0)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algn="ctr">
                        <a:lnSpc>
                          <a:spcPts val="680"/>
                        </a:lnSpc>
                      </a:pPr>
                      <a:r>
                        <a:rPr sz="1125" i="1" spc="-37" baseline="-22222" dirty="0">
                          <a:latin typeface="Palatino Linotype"/>
                          <a:cs typeface="Palatino Linotype"/>
                        </a:rPr>
                        <a:t>α</a:t>
                      </a:r>
                      <a:r>
                        <a:rPr sz="500" spc="-25" dirty="0">
                          <a:latin typeface="Cambria"/>
                          <a:cs typeface="Cambria"/>
                        </a:rPr>
                        <a:t>′</a:t>
                      </a:r>
                      <a:endParaRPr sz="5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dirty="0">
                          <a:latin typeface="Georgia"/>
                          <a:cs typeface="Georgia"/>
                        </a:rPr>
                        <a:t>Saturation</a:t>
                      </a:r>
                      <a:r>
                        <a:rPr sz="750" spc="6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10" dirty="0">
                          <a:latin typeface="Georgia"/>
                          <a:cs typeface="Georgia"/>
                        </a:rPr>
                        <a:t>factor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spc="-25" dirty="0">
                          <a:latin typeface="Georgia"/>
                          <a:cs typeface="Georgia"/>
                        </a:rPr>
                        <a:t>(0.005,</a:t>
                      </a:r>
                      <a:r>
                        <a:rPr sz="750" spc="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10" dirty="0">
                          <a:latin typeface="Georgia"/>
                          <a:cs typeface="Georgia"/>
                        </a:rPr>
                        <a:t>0.02)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i="1" spc="-50" dirty="0">
                          <a:latin typeface="Palatino Linotype"/>
                          <a:cs typeface="Palatino Linotype"/>
                        </a:rPr>
                        <a:t>γ</a:t>
                      </a:r>
                      <a:endParaRPr sz="750">
                        <a:latin typeface="Palatino Linotype"/>
                        <a:cs typeface="Palatino Linotype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dirty="0">
                          <a:latin typeface="Georgia"/>
                          <a:cs typeface="Georgia"/>
                        </a:rPr>
                        <a:t>Recovery</a:t>
                      </a:r>
                      <a:r>
                        <a:rPr sz="750" spc="7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750" spc="7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due</a:t>
                      </a:r>
                      <a:r>
                        <a:rPr sz="750" spc="7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to</a:t>
                      </a:r>
                      <a:r>
                        <a:rPr sz="750" spc="7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natural</a:t>
                      </a:r>
                      <a:r>
                        <a:rPr sz="750" spc="7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10" dirty="0">
                          <a:latin typeface="Georgia"/>
                          <a:cs typeface="Georgia"/>
                        </a:rPr>
                        <a:t>immunity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dirty="0">
                          <a:latin typeface="Georgia"/>
                          <a:cs typeface="Georgia"/>
                        </a:rPr>
                        <a:t>(0.01,</a:t>
                      </a:r>
                      <a:r>
                        <a:rPr sz="750" spc="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20" dirty="0">
                          <a:latin typeface="Georgia"/>
                          <a:cs typeface="Georgia"/>
                        </a:rPr>
                        <a:t>1.0)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i="1" spc="-50" dirty="0">
                          <a:latin typeface="Palatino Linotype"/>
                          <a:cs typeface="Palatino Linotype"/>
                        </a:rPr>
                        <a:t>δ</a:t>
                      </a:r>
                      <a:endParaRPr sz="750">
                        <a:latin typeface="Palatino Linotype"/>
                        <a:cs typeface="Palatino Linotype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spc="-10" dirty="0">
                          <a:latin typeface="Georgia"/>
                          <a:cs typeface="Georgia"/>
                        </a:rPr>
                        <a:t>Progression</a:t>
                      </a:r>
                      <a:r>
                        <a:rPr sz="750" spc="8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750" spc="8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750" spc="9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HPV</a:t>
                      </a:r>
                      <a:r>
                        <a:rPr sz="750" spc="8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to</a:t>
                      </a:r>
                      <a:r>
                        <a:rPr sz="750" spc="8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cervical</a:t>
                      </a:r>
                      <a:r>
                        <a:rPr sz="750" spc="9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10" dirty="0">
                          <a:latin typeface="Georgia"/>
                          <a:cs typeface="Georgia"/>
                        </a:rPr>
                        <a:t>cancer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spc="-10" dirty="0">
                          <a:latin typeface="Georgia"/>
                          <a:cs typeface="Georgia"/>
                        </a:rPr>
                        <a:t>(0.001,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20" dirty="0">
                          <a:latin typeface="Georgia"/>
                          <a:cs typeface="Georgia"/>
                        </a:rPr>
                        <a:t>0.6)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i="1" spc="-50" dirty="0">
                          <a:latin typeface="Palatino Linotype"/>
                          <a:cs typeface="Palatino Linotype"/>
                        </a:rPr>
                        <a:t>ξ</a:t>
                      </a:r>
                      <a:endParaRPr sz="750">
                        <a:latin typeface="Palatino Linotype"/>
                        <a:cs typeface="Palatino Linotype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dirty="0">
                          <a:latin typeface="Georgia"/>
                          <a:cs typeface="Georgia"/>
                        </a:rPr>
                        <a:t>Death</a:t>
                      </a:r>
                      <a:r>
                        <a:rPr sz="750" spc="6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750" spc="6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750" spc="6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individuals</a:t>
                      </a:r>
                      <a:r>
                        <a:rPr sz="750" spc="6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with</a:t>
                      </a:r>
                      <a:r>
                        <a:rPr sz="750" spc="6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cervical</a:t>
                      </a:r>
                      <a:r>
                        <a:rPr sz="750" spc="6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10" dirty="0">
                          <a:latin typeface="Georgia"/>
                          <a:cs typeface="Georgia"/>
                        </a:rPr>
                        <a:t>cancer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dirty="0">
                          <a:latin typeface="Georgia"/>
                          <a:cs typeface="Georgia"/>
                        </a:rPr>
                        <a:t>(0.1,</a:t>
                      </a:r>
                      <a:r>
                        <a:rPr sz="750" spc="8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10" dirty="0">
                          <a:latin typeface="Georgia"/>
                          <a:cs typeface="Georgia"/>
                        </a:rPr>
                        <a:t>0.25)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i="1" spc="-50" dirty="0">
                          <a:latin typeface="Palatino Linotype"/>
                          <a:cs typeface="Palatino Linotype"/>
                        </a:rPr>
                        <a:t>µ</a:t>
                      </a:r>
                      <a:endParaRPr sz="750">
                        <a:latin typeface="Palatino Linotype"/>
                        <a:cs typeface="Palatino Linotype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dirty="0">
                          <a:latin typeface="Georgia"/>
                          <a:cs typeface="Georgia"/>
                        </a:rPr>
                        <a:t>Natural</a:t>
                      </a:r>
                      <a:r>
                        <a:rPr sz="750" spc="7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750" spc="7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750" spc="7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10" dirty="0">
                          <a:latin typeface="Georgia"/>
                          <a:cs typeface="Georgia"/>
                        </a:rPr>
                        <a:t>mortality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dirty="0">
                          <a:latin typeface="Georgia"/>
                          <a:cs typeface="Georgia"/>
                        </a:rPr>
                        <a:t>(0.01,</a:t>
                      </a:r>
                      <a:r>
                        <a:rPr sz="750" spc="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20" dirty="0">
                          <a:latin typeface="Georgia"/>
                          <a:cs typeface="Georgia"/>
                        </a:rPr>
                        <a:t>0.8)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i="1" spc="-50" dirty="0">
                          <a:latin typeface="Palatino Linotype"/>
                          <a:cs typeface="Palatino Linotype"/>
                        </a:rPr>
                        <a:t>α</a:t>
                      </a:r>
                      <a:endParaRPr sz="750">
                        <a:latin typeface="Palatino Linotype"/>
                        <a:cs typeface="Palatino Linotype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dirty="0">
                          <a:latin typeface="Georgia"/>
                          <a:cs typeface="Georgia"/>
                        </a:rPr>
                        <a:t>Rate</a:t>
                      </a:r>
                      <a:r>
                        <a:rPr sz="750" spc="5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750" spc="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loss</a:t>
                      </a:r>
                      <a:r>
                        <a:rPr sz="750" spc="5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dirty="0">
                          <a:latin typeface="Georgia"/>
                          <a:cs typeface="Georgia"/>
                        </a:rPr>
                        <a:t>of</a:t>
                      </a:r>
                      <a:r>
                        <a:rPr sz="750" spc="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10" dirty="0">
                          <a:latin typeface="Georgia"/>
                          <a:cs typeface="Georgia"/>
                        </a:rPr>
                        <a:t>immunity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750" dirty="0">
                          <a:latin typeface="Georgia"/>
                          <a:cs typeface="Georgia"/>
                        </a:rPr>
                        <a:t>(0.01,</a:t>
                      </a:r>
                      <a:r>
                        <a:rPr sz="750" spc="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50" spc="-20" dirty="0">
                          <a:latin typeface="Georgia"/>
                          <a:cs typeface="Georgia"/>
                        </a:rPr>
                        <a:t>0.2)</a:t>
                      </a:r>
                      <a:endParaRPr sz="750">
                        <a:latin typeface="Georgia"/>
                        <a:cs typeface="Georgia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6" name="object 6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21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2430"/>
            <a:ext cx="2776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Partial</a:t>
            </a:r>
            <a:r>
              <a:rPr sz="14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Rank</a:t>
            </a:r>
            <a:r>
              <a:rPr sz="14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Correlation</a:t>
            </a:r>
            <a:r>
              <a:rPr sz="14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Coefficient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157" y="788834"/>
            <a:ext cx="3408750" cy="198639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6" name="object 6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22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spc="55" dirty="0"/>
              <a:t>to</a:t>
            </a:r>
            <a:r>
              <a:rPr spc="110" dirty="0"/>
              <a:t> </a:t>
            </a:r>
            <a:r>
              <a:rPr dirty="0"/>
              <a:t>Reduce</a:t>
            </a:r>
            <a:r>
              <a:rPr spc="110" dirty="0"/>
              <a:t> </a:t>
            </a:r>
            <a:r>
              <a:rPr spc="55" dirty="0"/>
              <a:t>HPV</a:t>
            </a:r>
            <a:r>
              <a:rPr spc="110" dirty="0"/>
              <a:t> </a:t>
            </a:r>
            <a:r>
              <a:rPr spc="-10" dirty="0"/>
              <a:t>Infection?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46" y="758494"/>
            <a:ext cx="63220" cy="632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528" y="947915"/>
            <a:ext cx="50926" cy="509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2528" y="1099743"/>
            <a:ext cx="50926" cy="509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46" y="1277239"/>
            <a:ext cx="63220" cy="632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2528" y="1466672"/>
            <a:ext cx="50926" cy="5092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2528" y="1618500"/>
            <a:ext cx="50926" cy="5092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2528" y="1770329"/>
            <a:ext cx="50926" cy="5092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3146" y="1947824"/>
            <a:ext cx="63220" cy="6322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2528" y="2137257"/>
            <a:ext cx="50926" cy="5092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2528" y="2289086"/>
            <a:ext cx="50926" cy="5092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83146" y="2466581"/>
            <a:ext cx="63220" cy="6322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2528" y="2656014"/>
            <a:ext cx="50926" cy="5092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2528" y="2807843"/>
            <a:ext cx="50926" cy="5092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02932" y="647915"/>
            <a:ext cx="3860165" cy="225171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b="1" spc="-20" dirty="0">
                <a:latin typeface="Georgia"/>
                <a:cs typeface="Georgia"/>
              </a:rPr>
              <a:t>Reduce</a:t>
            </a:r>
            <a:r>
              <a:rPr sz="1100" b="1" spc="8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the</a:t>
            </a:r>
            <a:r>
              <a:rPr sz="1100" b="1" spc="80" dirty="0">
                <a:latin typeface="Georgia"/>
                <a:cs typeface="Georgia"/>
              </a:rPr>
              <a:t> </a:t>
            </a:r>
            <a:r>
              <a:rPr sz="1100" b="1" spc="-60" dirty="0">
                <a:latin typeface="Georgia"/>
                <a:cs typeface="Georgia"/>
              </a:rPr>
              <a:t>Transmission</a:t>
            </a:r>
            <a:r>
              <a:rPr sz="1100" b="1" spc="8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Rate</a:t>
            </a:r>
            <a:r>
              <a:rPr sz="1100" b="1" spc="35" dirty="0">
                <a:latin typeface="Georgia"/>
                <a:cs typeface="Georgia"/>
              </a:rPr>
              <a:t> </a:t>
            </a:r>
            <a:r>
              <a:rPr sz="1100" spc="30" dirty="0">
                <a:latin typeface="Times New Roman"/>
                <a:cs typeface="Times New Roman"/>
              </a:rPr>
              <a:t>(</a:t>
            </a:r>
            <a:r>
              <a:rPr sz="1100" i="1" spc="30" dirty="0">
                <a:latin typeface="Calibri"/>
                <a:cs typeface="Calibri"/>
              </a:rPr>
              <a:t>β</a:t>
            </a:r>
            <a:r>
              <a:rPr sz="1100" spc="30" dirty="0">
                <a:latin typeface="Times New Roman"/>
                <a:cs typeface="Times New Roman"/>
              </a:rPr>
              <a:t>):</a:t>
            </a:r>
            <a:endParaRPr sz="1100">
              <a:latin typeface="Times New Roman"/>
              <a:cs typeface="Times New Roman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Times New Roman"/>
                <a:cs typeface="Times New Roman"/>
              </a:rPr>
              <a:t>Introduce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HPV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vaccination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prevent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virus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from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spreading. </a:t>
            </a:r>
            <a:r>
              <a:rPr sz="1000" dirty="0">
                <a:latin typeface="Times New Roman"/>
                <a:cs typeface="Times New Roman"/>
              </a:rPr>
              <a:t>School-based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education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HPV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prevention.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100" b="1" spc="-45" dirty="0">
                <a:latin typeface="Georgia"/>
                <a:cs typeface="Georgia"/>
              </a:rPr>
              <a:t>Increase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the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Recovery</a:t>
            </a:r>
            <a:r>
              <a:rPr sz="1100" b="1" spc="7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Rate</a:t>
            </a:r>
            <a:r>
              <a:rPr sz="1100" b="1" spc="20" dirty="0">
                <a:latin typeface="Georgia"/>
                <a:cs typeface="Georgia"/>
              </a:rPr>
              <a:t> </a:t>
            </a:r>
            <a:r>
              <a:rPr sz="1100" spc="40" dirty="0">
                <a:latin typeface="Times New Roman"/>
                <a:cs typeface="Times New Roman"/>
              </a:rPr>
              <a:t>(</a:t>
            </a:r>
            <a:r>
              <a:rPr sz="1100" i="1" spc="40" dirty="0">
                <a:latin typeface="Calibri"/>
                <a:cs typeface="Calibri"/>
              </a:rPr>
              <a:t>γ</a:t>
            </a:r>
            <a:r>
              <a:rPr sz="1100" spc="40" dirty="0">
                <a:latin typeface="Times New Roman"/>
                <a:cs typeface="Times New Roman"/>
              </a:rPr>
              <a:t>):</a:t>
            </a:r>
            <a:endParaRPr sz="1100">
              <a:latin typeface="Times New Roman"/>
              <a:cs typeface="Times New Roman"/>
            </a:endParaRPr>
          </a:p>
          <a:p>
            <a:pPr marL="289560" marR="81661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Times New Roman"/>
                <a:cs typeface="Times New Roman"/>
              </a:rPr>
              <a:t>Early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detection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treatment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HPV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infections. </a:t>
            </a:r>
            <a:r>
              <a:rPr sz="1000" dirty="0">
                <a:latin typeface="Times New Roman"/>
                <a:cs typeface="Times New Roman"/>
              </a:rPr>
              <a:t>Regular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screening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like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Pap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smear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tests.</a:t>
            </a:r>
            <a:endParaRPr sz="1000">
              <a:latin typeface="Times New Roman"/>
              <a:cs typeface="Times New Roman"/>
            </a:endParaRPr>
          </a:p>
          <a:p>
            <a:pPr marL="289560">
              <a:lnSpc>
                <a:spcPts val="1190"/>
              </a:lnSpc>
            </a:pPr>
            <a:r>
              <a:rPr sz="1000" spc="10" dirty="0">
                <a:latin typeface="Times New Roman"/>
                <a:cs typeface="Times New Roman"/>
              </a:rPr>
              <a:t>Promote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healthy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immunity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via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nutrition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and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wellness.</a:t>
            </a:r>
            <a:endParaRPr sz="1000">
              <a:latin typeface="Times New Roman"/>
              <a:cs typeface="Times New Roman"/>
            </a:endParaRPr>
          </a:p>
          <a:p>
            <a:pPr marL="289560" marR="1426210" indent="-277495">
              <a:lnSpc>
                <a:spcPct val="106400"/>
              </a:lnSpc>
              <a:spcBef>
                <a:spcPts val="110"/>
              </a:spcBef>
            </a:pPr>
            <a:r>
              <a:rPr sz="1100" b="1" dirty="0">
                <a:latin typeface="Georgia"/>
                <a:cs typeface="Georgia"/>
              </a:rPr>
              <a:t>Limit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Recruitment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Rate</a:t>
            </a:r>
            <a:r>
              <a:rPr sz="1100" b="1" spc="30" dirty="0">
                <a:latin typeface="Georgia"/>
                <a:cs typeface="Georgia"/>
              </a:rPr>
              <a:t> </a:t>
            </a:r>
            <a:r>
              <a:rPr sz="1100" spc="30" dirty="0">
                <a:latin typeface="Times New Roman"/>
                <a:cs typeface="Times New Roman"/>
              </a:rPr>
              <a:t>(</a:t>
            </a:r>
            <a:r>
              <a:rPr sz="1100" spc="30" dirty="0">
                <a:latin typeface="Tahoma"/>
                <a:cs typeface="Tahoma"/>
              </a:rPr>
              <a:t>Λ</a:t>
            </a:r>
            <a:r>
              <a:rPr sz="1100" spc="30" dirty="0">
                <a:latin typeface="Times New Roman"/>
                <a:cs typeface="Times New Roman"/>
              </a:rPr>
              <a:t>): </a:t>
            </a:r>
            <a:r>
              <a:rPr sz="1000" dirty="0">
                <a:latin typeface="Times New Roman"/>
                <a:cs typeface="Times New Roman"/>
              </a:rPr>
              <a:t>Vaccinate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adolescents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before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exposure. </a:t>
            </a:r>
            <a:r>
              <a:rPr sz="1000" spc="10" dirty="0">
                <a:latin typeface="Times New Roman"/>
                <a:cs typeface="Times New Roman"/>
              </a:rPr>
              <a:t>Use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targeted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10" dirty="0">
                <a:latin typeface="Times New Roman"/>
                <a:cs typeface="Times New Roman"/>
              </a:rPr>
              <a:t>vaccination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campaigns.</a:t>
            </a:r>
            <a:endParaRPr sz="1000">
              <a:latin typeface="Times New Roman"/>
              <a:cs typeface="Times New Roman"/>
            </a:endParaRPr>
          </a:p>
          <a:p>
            <a:pPr marL="289560" marR="1224280" indent="-277495">
              <a:lnSpc>
                <a:spcPct val="106400"/>
              </a:lnSpc>
              <a:spcBef>
                <a:spcPts val="110"/>
              </a:spcBef>
            </a:pPr>
            <a:r>
              <a:rPr sz="1100" b="1" dirty="0">
                <a:latin typeface="Georgia"/>
                <a:cs typeface="Georgia"/>
              </a:rPr>
              <a:t>Delay</a:t>
            </a:r>
            <a:r>
              <a:rPr sz="1100" b="1" spc="55" dirty="0">
                <a:latin typeface="Georgia"/>
                <a:cs typeface="Georgia"/>
              </a:rPr>
              <a:t> </a:t>
            </a:r>
            <a:r>
              <a:rPr sz="1100" b="1" spc="-50" dirty="0">
                <a:latin typeface="Georgia"/>
                <a:cs typeface="Georgia"/>
              </a:rPr>
              <a:t>Progression</a:t>
            </a:r>
            <a:r>
              <a:rPr sz="1100" b="1" spc="5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to</a:t>
            </a:r>
            <a:r>
              <a:rPr sz="1100" b="1" spc="6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Cancer</a:t>
            </a:r>
            <a:r>
              <a:rPr sz="1100" b="1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(</a:t>
            </a:r>
            <a:r>
              <a:rPr sz="1100" i="1" spc="-20" dirty="0">
                <a:latin typeface="Calibri"/>
                <a:cs typeface="Calibri"/>
              </a:rPr>
              <a:t>δ</a:t>
            </a:r>
            <a:r>
              <a:rPr sz="1100" spc="-20" dirty="0">
                <a:latin typeface="Times New Roman"/>
                <a:cs typeface="Times New Roman"/>
              </a:rPr>
              <a:t>):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Timely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treatment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Times New Roman"/>
                <a:cs typeface="Times New Roman"/>
              </a:rPr>
              <a:t>to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prevent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cancer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stage. </a:t>
            </a:r>
            <a:r>
              <a:rPr sz="1000" dirty="0">
                <a:latin typeface="Times New Roman"/>
                <a:cs typeface="Times New Roman"/>
              </a:rPr>
              <a:t>Follow-up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regular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medical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checkups.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19" name="object 19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23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150" dirty="0"/>
              <a:t> </a:t>
            </a:r>
            <a:r>
              <a:rPr spc="-10" dirty="0"/>
              <a:t>Results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46" y="1210005"/>
            <a:ext cx="63220" cy="632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1124520"/>
            <a:ext cx="4130040" cy="11283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spc="20" dirty="0">
                <a:latin typeface="Times New Roman"/>
                <a:cs typeface="Times New Roman"/>
              </a:rPr>
              <a:t>Developed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compartmental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model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study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spread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control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cervical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cancer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HPV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dynamics.</a:t>
            </a:r>
            <a:endParaRPr sz="1100">
              <a:latin typeface="Times New Roman"/>
              <a:cs typeface="Times New Roman"/>
            </a:endParaRPr>
          </a:p>
          <a:p>
            <a:pPr marL="38100" marR="25717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Found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80" dirty="0">
                <a:latin typeface="Times New Roman"/>
                <a:cs typeface="Times New Roman"/>
              </a:rPr>
              <a:t>that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284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&lt;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dies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out;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200" spc="179" baseline="-10416" dirty="0">
                <a:latin typeface="Calibri"/>
                <a:cs typeface="Calibri"/>
              </a:rPr>
              <a:t>0</a:t>
            </a:r>
            <a:r>
              <a:rPr sz="1200" spc="277" baseline="-10416" dirty="0">
                <a:latin typeface="Calibri"/>
                <a:cs typeface="Calibri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&gt;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it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persists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becomes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endemic.</a:t>
            </a:r>
            <a:endParaRPr sz="1100">
              <a:latin typeface="Times New Roman"/>
              <a:cs typeface="Times New Roman"/>
            </a:endParaRPr>
          </a:p>
          <a:p>
            <a:pPr marL="38100" marR="304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Numerical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simulations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confirm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stability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disease-free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endemic </a:t>
            </a:r>
            <a:r>
              <a:rPr sz="1100" spc="10" dirty="0">
                <a:latin typeface="Times New Roman"/>
                <a:cs typeface="Times New Roman"/>
              </a:rPr>
              <a:t>equilibria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based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on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parameter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values.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46" y="1592122"/>
            <a:ext cx="63220" cy="632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46" y="1974227"/>
            <a:ext cx="63220" cy="6322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9" name="object 9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24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Conclusion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46" y="1210005"/>
            <a:ext cx="63220" cy="632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5018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10" dirty="0">
                <a:latin typeface="Times New Roman"/>
                <a:cs typeface="Times New Roman"/>
              </a:rPr>
              <a:t>Reducing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transmission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rate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65" dirty="0">
                <a:latin typeface="Times New Roman"/>
                <a:cs typeface="Times New Roman"/>
              </a:rPr>
              <a:t>(</a:t>
            </a:r>
            <a:r>
              <a:rPr sz="1100" i="1" spc="65" dirty="0">
                <a:latin typeface="Calibri"/>
                <a:cs typeface="Calibri"/>
              </a:rPr>
              <a:t>β</a:t>
            </a:r>
            <a:r>
              <a:rPr sz="1100" spc="65" dirty="0">
                <a:latin typeface="Times New Roman"/>
                <a:cs typeface="Times New Roman"/>
              </a:rPr>
              <a:t>)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through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vaccination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awareness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controlling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HPV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spread.</a:t>
            </a:r>
            <a:endParaRPr sz="1100">
              <a:latin typeface="Times New Roman"/>
              <a:cs typeface="Times New Roman"/>
            </a:endParaRPr>
          </a:p>
          <a:p>
            <a:pPr marL="12700" marR="31686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Higher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recovery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rate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80" dirty="0">
                <a:latin typeface="Times New Roman"/>
                <a:cs typeface="Times New Roman"/>
              </a:rPr>
              <a:t>(</a:t>
            </a:r>
            <a:r>
              <a:rPr sz="1100" i="1" spc="80" dirty="0">
                <a:latin typeface="Calibri"/>
                <a:cs typeface="Calibri"/>
              </a:rPr>
              <a:t>γ</a:t>
            </a:r>
            <a:r>
              <a:rPr sz="1100" spc="80" dirty="0">
                <a:latin typeface="Times New Roman"/>
                <a:cs typeface="Times New Roman"/>
              </a:rPr>
              <a:t>)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leads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better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disease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outcomes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reduced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cancer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risk.</a:t>
            </a:r>
            <a:endParaRPr sz="1100">
              <a:latin typeface="Times New Roman"/>
              <a:cs typeface="Times New Roman"/>
            </a:endParaRPr>
          </a:p>
          <a:p>
            <a:pPr marL="12700" marR="27940">
              <a:lnSpc>
                <a:spcPct val="102600"/>
              </a:lnSpc>
              <a:spcBef>
                <a:spcPts val="300"/>
              </a:spcBef>
            </a:pPr>
            <a:r>
              <a:rPr sz="1100" spc="10" dirty="0">
                <a:latin typeface="Times New Roman"/>
                <a:cs typeface="Times New Roman"/>
              </a:rPr>
              <a:t>Mathematical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models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spc="45" dirty="0">
                <a:latin typeface="Times New Roman"/>
                <a:cs typeface="Times New Roman"/>
              </a:rPr>
              <a:t>support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targeted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public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health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strategies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HPV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prevention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40" dirty="0">
                <a:latin typeface="Times New Roman"/>
                <a:cs typeface="Times New Roman"/>
              </a:rPr>
              <a:t>treatment.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46" y="1592122"/>
            <a:ext cx="63220" cy="632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46" y="1974227"/>
            <a:ext cx="63220" cy="6322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9" name="object 9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25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Future</a:t>
            </a:r>
            <a:r>
              <a:rPr spc="390" dirty="0"/>
              <a:t> </a:t>
            </a:r>
            <a:r>
              <a:rPr spc="-20" dirty="0"/>
              <a:t>Work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46" y="1210005"/>
            <a:ext cx="63220" cy="632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5018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HPV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infection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trends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</a:t>
            </a:r>
            <a:r>
              <a:rPr sz="1100" spc="-10" dirty="0">
                <a:latin typeface="Times New Roman"/>
                <a:cs typeface="Times New Roman"/>
              </a:rPr>
              <a:t>world </a:t>
            </a:r>
            <a:r>
              <a:rPr sz="1100" dirty="0">
                <a:latin typeface="Times New Roman"/>
                <a:cs typeface="Times New Roman"/>
              </a:rPr>
              <a:t>epidemiological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datasets.</a:t>
            </a:r>
            <a:endParaRPr sz="1100">
              <a:latin typeface="Times New Roman"/>
              <a:cs typeface="Times New Roman"/>
            </a:endParaRPr>
          </a:p>
          <a:p>
            <a:pPr marL="12700" marR="17526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Train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neural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identify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high-risk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groups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optimize </a:t>
            </a:r>
            <a:r>
              <a:rPr sz="1100" dirty="0">
                <a:latin typeface="Times New Roman"/>
                <a:cs typeface="Times New Roman"/>
              </a:rPr>
              <a:t>screening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strategies.</a:t>
            </a:r>
            <a:endParaRPr sz="1100">
              <a:latin typeface="Times New Roman"/>
              <a:cs typeface="Times New Roman"/>
            </a:endParaRPr>
          </a:p>
          <a:p>
            <a:pPr marL="12700" marR="128270">
              <a:lnSpc>
                <a:spcPct val="102600"/>
              </a:lnSpc>
              <a:spcBef>
                <a:spcPts val="300"/>
              </a:spcBef>
            </a:pPr>
            <a:r>
              <a:rPr sz="1100" spc="10" dirty="0">
                <a:latin typeface="Times New Roman"/>
                <a:cs typeface="Times New Roman"/>
              </a:rPr>
              <a:t>Integrate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real-time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65" dirty="0">
                <a:latin typeface="Times New Roman"/>
                <a:cs typeface="Times New Roman"/>
              </a:rPr>
              <a:t>data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for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adaptive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Modelling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intervention planning.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46" y="1592122"/>
            <a:ext cx="63220" cy="632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46" y="1974227"/>
            <a:ext cx="63220" cy="6322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9" name="object 9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26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244"/>
                </a:lnTo>
                <a:lnTo>
                  <a:pt x="4608004" y="35524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46" y="1053439"/>
            <a:ext cx="63220" cy="632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1230" rIns="0" bIns="0" rtlCol="0">
            <a:spAutoFit/>
          </a:bodyPr>
          <a:lstStyle/>
          <a:p>
            <a:pPr marL="12700" marR="67945">
              <a:lnSpc>
                <a:spcPts val="700"/>
              </a:lnSpc>
              <a:spcBef>
                <a:spcPts val="135"/>
              </a:spcBef>
            </a:pPr>
            <a:r>
              <a:rPr spc="65" dirty="0"/>
              <a:t>Rajan,</a:t>
            </a:r>
            <a:r>
              <a:rPr spc="160" dirty="0"/>
              <a:t> </a:t>
            </a:r>
            <a:r>
              <a:rPr spc="65" dirty="0"/>
              <a:t>P.K.,</a:t>
            </a:r>
            <a:r>
              <a:rPr spc="160" dirty="0"/>
              <a:t> </a:t>
            </a:r>
            <a:r>
              <a:rPr spc="55" dirty="0"/>
              <a:t>Kuppusamy,</a:t>
            </a:r>
            <a:r>
              <a:rPr spc="165" dirty="0"/>
              <a:t> </a:t>
            </a:r>
            <a:r>
              <a:rPr spc="55" dirty="0"/>
              <a:t>M.,</a:t>
            </a:r>
            <a:r>
              <a:rPr spc="160" dirty="0"/>
              <a:t> </a:t>
            </a:r>
            <a:r>
              <a:rPr spc="50" dirty="0"/>
              <a:t>Egbelowo,</a:t>
            </a:r>
            <a:r>
              <a:rPr spc="165" dirty="0"/>
              <a:t> </a:t>
            </a:r>
            <a:r>
              <a:rPr spc="70" dirty="0"/>
              <a:t>O.F.</a:t>
            </a:r>
            <a:r>
              <a:rPr spc="160" dirty="0"/>
              <a:t> </a:t>
            </a:r>
            <a:r>
              <a:rPr dirty="0"/>
              <a:t>(2023).</a:t>
            </a:r>
            <a:r>
              <a:rPr spc="260" dirty="0"/>
              <a:t> </a:t>
            </a:r>
            <a:r>
              <a:rPr spc="105" dirty="0"/>
              <a:t>*A</a:t>
            </a:r>
            <a:r>
              <a:rPr spc="165" dirty="0"/>
              <a:t> </a:t>
            </a:r>
            <a:r>
              <a:rPr spc="50" dirty="0"/>
              <a:t>mathematical</a:t>
            </a:r>
            <a:r>
              <a:rPr spc="160" dirty="0"/>
              <a:t> </a:t>
            </a:r>
            <a:r>
              <a:rPr dirty="0"/>
              <a:t>model</a:t>
            </a:r>
            <a:r>
              <a:rPr spc="160" dirty="0"/>
              <a:t> </a:t>
            </a:r>
            <a:r>
              <a:rPr dirty="0"/>
              <a:t>for</a:t>
            </a:r>
            <a:r>
              <a:rPr spc="170" dirty="0"/>
              <a:t> </a:t>
            </a:r>
            <a:r>
              <a:rPr spc="40" dirty="0"/>
              <a:t>human</a:t>
            </a:r>
            <a:r>
              <a:rPr spc="500" dirty="0"/>
              <a:t> </a:t>
            </a:r>
            <a:r>
              <a:rPr spc="30" dirty="0"/>
              <a:t>papillomavirus</a:t>
            </a:r>
            <a:r>
              <a:rPr spc="160" dirty="0"/>
              <a:t> </a:t>
            </a:r>
            <a:r>
              <a:rPr spc="50" dirty="0"/>
              <a:t>and</a:t>
            </a:r>
            <a:r>
              <a:rPr spc="160" dirty="0"/>
              <a:t> </a:t>
            </a:r>
            <a:r>
              <a:rPr spc="30" dirty="0"/>
              <a:t>its</a:t>
            </a:r>
            <a:r>
              <a:rPr spc="165" dirty="0"/>
              <a:t> </a:t>
            </a:r>
            <a:r>
              <a:rPr spc="60" dirty="0"/>
              <a:t>impact</a:t>
            </a:r>
            <a:r>
              <a:rPr spc="160" dirty="0"/>
              <a:t> </a:t>
            </a:r>
            <a:r>
              <a:rPr spc="30" dirty="0"/>
              <a:t>on</a:t>
            </a:r>
            <a:r>
              <a:rPr spc="160" dirty="0"/>
              <a:t> </a:t>
            </a:r>
            <a:r>
              <a:rPr spc="30" dirty="0"/>
              <a:t>cervical</a:t>
            </a:r>
            <a:r>
              <a:rPr spc="165" dirty="0"/>
              <a:t> </a:t>
            </a:r>
            <a:r>
              <a:rPr spc="30" dirty="0"/>
              <a:t>cancer</a:t>
            </a:r>
            <a:r>
              <a:rPr spc="160" dirty="0"/>
              <a:t> </a:t>
            </a:r>
            <a:r>
              <a:rPr spc="30" dirty="0"/>
              <a:t>in</a:t>
            </a:r>
            <a:r>
              <a:rPr spc="165" dirty="0"/>
              <a:t> </a:t>
            </a:r>
            <a:r>
              <a:rPr spc="45" dirty="0"/>
              <a:t>India*.</a:t>
            </a:r>
            <a:r>
              <a:rPr spc="254" dirty="0"/>
              <a:t> </a:t>
            </a:r>
            <a:r>
              <a:rPr spc="30" dirty="0"/>
              <a:t>Journal</a:t>
            </a:r>
            <a:r>
              <a:rPr spc="165" dirty="0"/>
              <a:t> </a:t>
            </a:r>
            <a:r>
              <a:rPr spc="30" dirty="0"/>
              <a:t>of</a:t>
            </a:r>
            <a:r>
              <a:rPr spc="160" dirty="0"/>
              <a:t> </a:t>
            </a:r>
            <a:r>
              <a:rPr spc="50" dirty="0"/>
              <a:t>Applied</a:t>
            </a:r>
            <a:r>
              <a:rPr spc="165" dirty="0"/>
              <a:t> </a:t>
            </a:r>
            <a:r>
              <a:rPr spc="50" dirty="0"/>
              <a:t>Mathematics</a:t>
            </a:r>
            <a:r>
              <a:rPr spc="160" dirty="0"/>
              <a:t> </a:t>
            </a:r>
            <a:r>
              <a:rPr spc="25" dirty="0"/>
              <a:t>and</a:t>
            </a:r>
            <a:r>
              <a:rPr spc="55" dirty="0"/>
              <a:t> Computing,</a:t>
            </a:r>
            <a:r>
              <a:rPr spc="229" dirty="0"/>
              <a:t>  </a:t>
            </a:r>
            <a:r>
              <a:rPr dirty="0"/>
              <a:t>69,</a:t>
            </a:r>
            <a:r>
              <a:rPr spc="235" dirty="0"/>
              <a:t>  </a:t>
            </a:r>
            <a:r>
              <a:rPr dirty="0"/>
              <a:t>753–770.</a:t>
            </a:r>
            <a:r>
              <a:rPr spc="355" dirty="0"/>
              <a:t>  </a:t>
            </a:r>
            <a:r>
              <a:rPr dirty="0">
                <a:hlinkClick r:id="rId3"/>
              </a:rPr>
              <a:t>https://doi.org/10.1007/s12190-022-01767-</a:t>
            </a:r>
            <a:r>
              <a:rPr spc="-50" dirty="0">
                <a:hlinkClick r:id="rId3"/>
              </a:rPr>
              <a:t>2</a:t>
            </a:r>
          </a:p>
          <a:p>
            <a:pPr marL="12700" marR="29845">
              <a:lnSpc>
                <a:spcPts val="700"/>
              </a:lnSpc>
              <a:spcBef>
                <a:spcPts val="290"/>
              </a:spcBef>
            </a:pPr>
            <a:r>
              <a:rPr spc="30" dirty="0"/>
              <a:t>World</a:t>
            </a:r>
            <a:r>
              <a:rPr spc="160" dirty="0"/>
              <a:t> </a:t>
            </a:r>
            <a:r>
              <a:rPr spc="30" dirty="0"/>
              <a:t>Health</a:t>
            </a:r>
            <a:r>
              <a:rPr spc="160" dirty="0"/>
              <a:t> </a:t>
            </a:r>
            <a:r>
              <a:rPr spc="50" dirty="0"/>
              <a:t>Organization.</a:t>
            </a:r>
            <a:r>
              <a:rPr spc="260" dirty="0"/>
              <a:t> </a:t>
            </a:r>
            <a:r>
              <a:rPr spc="55" dirty="0"/>
              <a:t>*Global</a:t>
            </a:r>
            <a:r>
              <a:rPr spc="160" dirty="0"/>
              <a:t> </a:t>
            </a:r>
            <a:r>
              <a:rPr spc="55" dirty="0"/>
              <a:t>strategy</a:t>
            </a:r>
            <a:r>
              <a:rPr spc="170" dirty="0"/>
              <a:t> </a:t>
            </a:r>
            <a:r>
              <a:rPr spc="55" dirty="0"/>
              <a:t>to</a:t>
            </a:r>
            <a:r>
              <a:rPr spc="160" dirty="0"/>
              <a:t> </a:t>
            </a:r>
            <a:r>
              <a:rPr spc="30" dirty="0"/>
              <a:t>accelerate</a:t>
            </a:r>
            <a:r>
              <a:rPr spc="160" dirty="0"/>
              <a:t> </a:t>
            </a:r>
            <a:r>
              <a:rPr spc="50" dirty="0"/>
              <a:t>the</a:t>
            </a:r>
            <a:r>
              <a:rPr spc="165" dirty="0"/>
              <a:t> </a:t>
            </a:r>
            <a:r>
              <a:rPr spc="30" dirty="0"/>
              <a:t>elimination</a:t>
            </a:r>
            <a:r>
              <a:rPr spc="160" dirty="0"/>
              <a:t> </a:t>
            </a:r>
            <a:r>
              <a:rPr spc="30" dirty="0"/>
              <a:t>of</a:t>
            </a:r>
            <a:r>
              <a:rPr spc="160" dirty="0"/>
              <a:t> </a:t>
            </a:r>
            <a:r>
              <a:rPr spc="45" dirty="0"/>
              <a:t>cervical</a:t>
            </a:r>
            <a:r>
              <a:rPr spc="165" dirty="0"/>
              <a:t> </a:t>
            </a:r>
            <a:r>
              <a:rPr spc="30" dirty="0"/>
              <a:t>cancer</a:t>
            </a:r>
            <a:r>
              <a:rPr spc="160" dirty="0"/>
              <a:t> </a:t>
            </a:r>
            <a:r>
              <a:rPr spc="30" dirty="0"/>
              <a:t>as</a:t>
            </a:r>
            <a:r>
              <a:rPr spc="160" dirty="0"/>
              <a:t> </a:t>
            </a:r>
            <a:r>
              <a:rPr spc="10" dirty="0"/>
              <a:t>a</a:t>
            </a:r>
            <a:r>
              <a:rPr spc="500" dirty="0"/>
              <a:t> </a:t>
            </a:r>
            <a:r>
              <a:rPr spc="10" dirty="0"/>
              <a:t>public</a:t>
            </a:r>
            <a:r>
              <a:rPr spc="480" dirty="0"/>
              <a:t> </a:t>
            </a:r>
            <a:r>
              <a:rPr spc="10" dirty="0"/>
              <a:t>health</a:t>
            </a:r>
            <a:r>
              <a:rPr spc="484" dirty="0"/>
              <a:t> </a:t>
            </a:r>
            <a:r>
              <a:rPr spc="50" dirty="0"/>
              <a:t>problem*</a:t>
            </a:r>
            <a:r>
              <a:rPr spc="484" dirty="0"/>
              <a:t> </a:t>
            </a:r>
            <a:r>
              <a:rPr spc="10" dirty="0"/>
              <a:t>(2020).</a:t>
            </a:r>
            <a:r>
              <a:rPr spc="265" dirty="0"/>
              <a:t>  </a:t>
            </a:r>
            <a:r>
              <a:rPr spc="-10" dirty="0">
                <a:hlinkClick r:id="rId4"/>
              </a:rPr>
              <a:t>https://www.who.int/publications/i/item/9789240014107</a:t>
            </a:r>
          </a:p>
          <a:p>
            <a:pPr marL="12700">
              <a:lnSpc>
                <a:spcPts val="710"/>
              </a:lnSpc>
              <a:spcBef>
                <a:spcPts val="254"/>
              </a:spcBef>
            </a:pPr>
            <a:r>
              <a:rPr spc="50" dirty="0"/>
              <a:t>Bruni,</a:t>
            </a:r>
            <a:r>
              <a:rPr spc="150" dirty="0"/>
              <a:t> </a:t>
            </a:r>
            <a:r>
              <a:rPr spc="60" dirty="0"/>
              <a:t>L.</a:t>
            </a:r>
            <a:r>
              <a:rPr spc="155" dirty="0"/>
              <a:t> </a:t>
            </a:r>
            <a:r>
              <a:rPr spc="55" dirty="0"/>
              <a:t>et</a:t>
            </a:r>
            <a:r>
              <a:rPr spc="155" dirty="0"/>
              <a:t> </a:t>
            </a:r>
            <a:r>
              <a:rPr spc="10" dirty="0"/>
              <a:t>al.</a:t>
            </a:r>
            <a:r>
              <a:rPr spc="245" dirty="0"/>
              <a:t> </a:t>
            </a:r>
            <a:r>
              <a:rPr spc="55" dirty="0"/>
              <a:t>*Human</a:t>
            </a:r>
            <a:r>
              <a:rPr spc="155" dirty="0"/>
              <a:t> </a:t>
            </a:r>
            <a:r>
              <a:rPr spc="50" dirty="0"/>
              <a:t>Papillomavirus</a:t>
            </a:r>
            <a:r>
              <a:rPr spc="155" dirty="0"/>
              <a:t> </a:t>
            </a:r>
            <a:r>
              <a:rPr spc="50" dirty="0"/>
              <a:t>and</a:t>
            </a:r>
            <a:r>
              <a:rPr spc="155" dirty="0"/>
              <a:t> </a:t>
            </a:r>
            <a:r>
              <a:rPr spc="55" dirty="0"/>
              <a:t>Related</a:t>
            </a:r>
            <a:r>
              <a:rPr spc="150" dirty="0"/>
              <a:t> </a:t>
            </a:r>
            <a:r>
              <a:rPr spc="10" dirty="0"/>
              <a:t>Diseases</a:t>
            </a:r>
            <a:r>
              <a:rPr spc="155" dirty="0"/>
              <a:t> </a:t>
            </a:r>
            <a:r>
              <a:rPr spc="10" dirty="0"/>
              <a:t>in</a:t>
            </a:r>
            <a:r>
              <a:rPr spc="155" dirty="0"/>
              <a:t> </a:t>
            </a:r>
            <a:r>
              <a:rPr spc="10" dirty="0"/>
              <a:t>India.</a:t>
            </a:r>
            <a:r>
              <a:rPr spc="250" dirty="0"/>
              <a:t> </a:t>
            </a:r>
            <a:r>
              <a:rPr spc="60" dirty="0"/>
              <a:t>Summary</a:t>
            </a:r>
            <a:r>
              <a:rPr spc="150" dirty="0"/>
              <a:t> </a:t>
            </a:r>
            <a:r>
              <a:rPr spc="60" dirty="0"/>
              <a:t>Report*</a:t>
            </a:r>
            <a:r>
              <a:rPr spc="155" dirty="0"/>
              <a:t> </a:t>
            </a:r>
            <a:r>
              <a:rPr spc="-10" dirty="0"/>
              <a:t>(2018).</a:t>
            </a:r>
          </a:p>
          <a:p>
            <a:pPr marL="12700">
              <a:lnSpc>
                <a:spcPts val="710"/>
              </a:lnSpc>
            </a:pPr>
            <a:r>
              <a:rPr spc="-10" dirty="0">
                <a:hlinkClick r:id="rId5"/>
              </a:rPr>
              <a:t>https://hpvcentre.net/</a:t>
            </a:r>
          </a:p>
          <a:p>
            <a:pPr marL="12700" marR="36830">
              <a:lnSpc>
                <a:spcPts val="700"/>
              </a:lnSpc>
              <a:spcBef>
                <a:spcPts val="315"/>
              </a:spcBef>
            </a:pPr>
            <a:r>
              <a:rPr spc="50" dirty="0"/>
              <a:t>Sung,</a:t>
            </a:r>
            <a:r>
              <a:rPr spc="180" dirty="0"/>
              <a:t> </a:t>
            </a:r>
            <a:r>
              <a:rPr spc="20" dirty="0"/>
              <a:t>H.</a:t>
            </a:r>
            <a:r>
              <a:rPr spc="185" dirty="0"/>
              <a:t> </a:t>
            </a:r>
            <a:r>
              <a:rPr spc="55" dirty="0"/>
              <a:t>et</a:t>
            </a:r>
            <a:r>
              <a:rPr spc="180" dirty="0"/>
              <a:t> </a:t>
            </a:r>
            <a:r>
              <a:rPr spc="20" dirty="0"/>
              <a:t>al.</a:t>
            </a:r>
            <a:r>
              <a:rPr spc="290" dirty="0"/>
              <a:t> </a:t>
            </a:r>
            <a:r>
              <a:rPr spc="55" dirty="0"/>
              <a:t>*Global</a:t>
            </a:r>
            <a:r>
              <a:rPr spc="185" dirty="0"/>
              <a:t> </a:t>
            </a:r>
            <a:r>
              <a:rPr spc="20" dirty="0"/>
              <a:t>cancer</a:t>
            </a:r>
            <a:r>
              <a:rPr spc="180" dirty="0"/>
              <a:t> </a:t>
            </a:r>
            <a:r>
              <a:rPr spc="20" dirty="0"/>
              <a:t>statistics</a:t>
            </a:r>
            <a:r>
              <a:rPr spc="185" dirty="0"/>
              <a:t> </a:t>
            </a:r>
            <a:r>
              <a:rPr spc="20" dirty="0"/>
              <a:t>2020:</a:t>
            </a:r>
            <a:r>
              <a:rPr spc="285" dirty="0"/>
              <a:t> </a:t>
            </a:r>
            <a:r>
              <a:rPr spc="105" dirty="0"/>
              <a:t>GLOBOCAN</a:t>
            </a:r>
            <a:r>
              <a:rPr spc="185" dirty="0"/>
              <a:t> </a:t>
            </a:r>
            <a:r>
              <a:rPr spc="20" dirty="0"/>
              <a:t>estimates</a:t>
            </a:r>
            <a:r>
              <a:rPr spc="185" dirty="0"/>
              <a:t> </a:t>
            </a:r>
            <a:r>
              <a:rPr spc="20" dirty="0"/>
              <a:t>of</a:t>
            </a:r>
            <a:r>
              <a:rPr spc="180" dirty="0"/>
              <a:t> </a:t>
            </a:r>
            <a:r>
              <a:rPr spc="20" dirty="0"/>
              <a:t>incidence</a:t>
            </a:r>
            <a:r>
              <a:rPr spc="185" dirty="0"/>
              <a:t> </a:t>
            </a:r>
            <a:r>
              <a:rPr spc="50" dirty="0"/>
              <a:t>and</a:t>
            </a:r>
            <a:r>
              <a:rPr spc="185" dirty="0"/>
              <a:t> </a:t>
            </a:r>
            <a:r>
              <a:rPr spc="40" dirty="0"/>
              <a:t>mortality</a:t>
            </a:r>
            <a:r>
              <a:rPr spc="500" dirty="0"/>
              <a:t> </a:t>
            </a:r>
            <a:r>
              <a:rPr spc="20" dirty="0"/>
              <a:t>worldwide</a:t>
            </a:r>
            <a:r>
              <a:rPr spc="160" dirty="0"/>
              <a:t> </a:t>
            </a:r>
            <a:r>
              <a:rPr spc="20" dirty="0"/>
              <a:t>for</a:t>
            </a:r>
            <a:r>
              <a:rPr spc="165" dirty="0"/>
              <a:t> </a:t>
            </a:r>
            <a:r>
              <a:rPr spc="20" dirty="0"/>
              <a:t>36</a:t>
            </a:r>
            <a:r>
              <a:rPr spc="165" dirty="0"/>
              <a:t> </a:t>
            </a:r>
            <a:r>
              <a:rPr spc="20" dirty="0"/>
              <a:t>cancers</a:t>
            </a:r>
            <a:r>
              <a:rPr spc="160" dirty="0"/>
              <a:t> </a:t>
            </a:r>
            <a:r>
              <a:rPr spc="20" dirty="0"/>
              <a:t>in</a:t>
            </a:r>
            <a:r>
              <a:rPr spc="165" dirty="0"/>
              <a:t> </a:t>
            </a:r>
            <a:r>
              <a:rPr spc="50" dirty="0"/>
              <a:t>185</a:t>
            </a:r>
            <a:r>
              <a:rPr spc="165" dirty="0"/>
              <a:t> </a:t>
            </a:r>
            <a:r>
              <a:rPr spc="20" dirty="0"/>
              <a:t>countries*.</a:t>
            </a:r>
            <a:r>
              <a:rPr spc="260" dirty="0"/>
              <a:t> </a:t>
            </a:r>
            <a:r>
              <a:rPr spc="125" dirty="0"/>
              <a:t>CA</a:t>
            </a:r>
            <a:r>
              <a:rPr spc="165" dirty="0"/>
              <a:t> </a:t>
            </a:r>
            <a:r>
              <a:rPr spc="60" dirty="0"/>
              <a:t>Cancer</a:t>
            </a:r>
            <a:r>
              <a:rPr spc="160" dirty="0"/>
              <a:t> </a:t>
            </a:r>
            <a:r>
              <a:rPr spc="20" dirty="0"/>
              <a:t>J.</a:t>
            </a:r>
            <a:r>
              <a:rPr spc="165" dirty="0"/>
              <a:t> </a:t>
            </a:r>
            <a:r>
              <a:rPr spc="55" dirty="0"/>
              <a:t>Clin.</a:t>
            </a:r>
            <a:r>
              <a:rPr spc="260" dirty="0"/>
              <a:t> </a:t>
            </a:r>
            <a:r>
              <a:rPr spc="55" dirty="0"/>
              <a:t>71(3),</a:t>
            </a:r>
            <a:r>
              <a:rPr spc="165" dirty="0"/>
              <a:t> </a:t>
            </a:r>
            <a:r>
              <a:rPr spc="20" dirty="0"/>
              <a:t>209–249</a:t>
            </a:r>
            <a:r>
              <a:rPr spc="165" dirty="0"/>
              <a:t> </a:t>
            </a:r>
            <a:r>
              <a:rPr spc="-10" dirty="0"/>
              <a:t>(2021).</a:t>
            </a:r>
            <a:r>
              <a:rPr spc="500" dirty="0"/>
              <a:t> </a:t>
            </a:r>
            <a:r>
              <a:rPr spc="-10" dirty="0">
                <a:hlinkClick r:id="rId6"/>
              </a:rPr>
              <a:t>https://doi.org/10.3322/caac.21660</a:t>
            </a:r>
          </a:p>
          <a:p>
            <a:pPr marL="12700" marR="54610">
              <a:lnSpc>
                <a:spcPts val="700"/>
              </a:lnSpc>
              <a:spcBef>
                <a:spcPts val="295"/>
              </a:spcBef>
            </a:pPr>
            <a:r>
              <a:rPr spc="55" dirty="0"/>
              <a:t>Patil,</a:t>
            </a:r>
            <a:r>
              <a:rPr spc="185" dirty="0"/>
              <a:t> </a:t>
            </a:r>
            <a:r>
              <a:rPr spc="85" dirty="0"/>
              <a:t>A.</a:t>
            </a:r>
            <a:r>
              <a:rPr spc="185" dirty="0"/>
              <a:t> </a:t>
            </a:r>
            <a:r>
              <a:rPr spc="20" dirty="0"/>
              <a:t>(2021).</a:t>
            </a:r>
            <a:r>
              <a:rPr spc="290" dirty="0"/>
              <a:t> </a:t>
            </a:r>
            <a:r>
              <a:rPr spc="55" dirty="0"/>
              <a:t>*Routh-Hurwitz</a:t>
            </a:r>
            <a:r>
              <a:rPr spc="190" dirty="0"/>
              <a:t> </a:t>
            </a:r>
            <a:r>
              <a:rPr spc="20" dirty="0"/>
              <a:t>criterion</a:t>
            </a:r>
            <a:r>
              <a:rPr spc="185" dirty="0"/>
              <a:t> </a:t>
            </a:r>
            <a:r>
              <a:rPr spc="20" dirty="0"/>
              <a:t>for</a:t>
            </a:r>
            <a:r>
              <a:rPr spc="185" dirty="0"/>
              <a:t> </a:t>
            </a:r>
            <a:r>
              <a:rPr spc="20" dirty="0"/>
              <a:t>stability:</a:t>
            </a:r>
            <a:r>
              <a:rPr spc="290" dirty="0"/>
              <a:t> </a:t>
            </a:r>
            <a:r>
              <a:rPr spc="55" dirty="0"/>
              <a:t>an</a:t>
            </a:r>
            <a:r>
              <a:rPr spc="190" dirty="0"/>
              <a:t> </a:t>
            </a:r>
            <a:r>
              <a:rPr spc="20" dirty="0"/>
              <a:t>overview</a:t>
            </a:r>
            <a:r>
              <a:rPr spc="185" dirty="0"/>
              <a:t> </a:t>
            </a:r>
            <a:r>
              <a:rPr spc="50" dirty="0"/>
              <a:t>and</a:t>
            </a:r>
            <a:r>
              <a:rPr spc="185" dirty="0"/>
              <a:t> </a:t>
            </a:r>
            <a:r>
              <a:rPr spc="20" dirty="0"/>
              <a:t>its</a:t>
            </a:r>
            <a:r>
              <a:rPr spc="185" dirty="0"/>
              <a:t> </a:t>
            </a:r>
            <a:r>
              <a:rPr spc="45" dirty="0"/>
              <a:t>implementation</a:t>
            </a:r>
            <a:r>
              <a:rPr spc="185" dirty="0"/>
              <a:t> </a:t>
            </a:r>
            <a:r>
              <a:rPr spc="-25" dirty="0"/>
              <a:t>on</a:t>
            </a:r>
            <a:r>
              <a:rPr spc="500" dirty="0"/>
              <a:t> </a:t>
            </a:r>
            <a:r>
              <a:rPr spc="30" dirty="0"/>
              <a:t>characteristic</a:t>
            </a:r>
            <a:r>
              <a:rPr spc="170" dirty="0"/>
              <a:t> </a:t>
            </a:r>
            <a:r>
              <a:rPr spc="30" dirty="0"/>
              <a:t>equation</a:t>
            </a:r>
            <a:r>
              <a:rPr spc="175" dirty="0"/>
              <a:t> </a:t>
            </a:r>
            <a:r>
              <a:rPr spc="30" dirty="0"/>
              <a:t>vectors</a:t>
            </a:r>
            <a:r>
              <a:rPr spc="170" dirty="0"/>
              <a:t> </a:t>
            </a:r>
            <a:r>
              <a:rPr spc="30" dirty="0"/>
              <a:t>using</a:t>
            </a:r>
            <a:r>
              <a:rPr spc="175" dirty="0"/>
              <a:t> </a:t>
            </a:r>
            <a:r>
              <a:rPr spc="90" dirty="0"/>
              <a:t>MATLAB*.</a:t>
            </a:r>
            <a:r>
              <a:rPr spc="275" dirty="0"/>
              <a:t> </a:t>
            </a:r>
            <a:r>
              <a:rPr spc="30" dirty="0"/>
              <a:t>In:</a:t>
            </a:r>
            <a:r>
              <a:rPr spc="275" dirty="0"/>
              <a:t> </a:t>
            </a:r>
            <a:r>
              <a:rPr spc="55" dirty="0"/>
              <a:t>Emerging</a:t>
            </a:r>
            <a:r>
              <a:rPr spc="170" dirty="0"/>
              <a:t> </a:t>
            </a:r>
            <a:r>
              <a:rPr spc="30" dirty="0"/>
              <a:t>Technologies</a:t>
            </a:r>
            <a:r>
              <a:rPr spc="175" dirty="0"/>
              <a:t> </a:t>
            </a:r>
            <a:r>
              <a:rPr spc="30" dirty="0"/>
              <a:t>in</a:t>
            </a:r>
            <a:r>
              <a:rPr spc="170" dirty="0"/>
              <a:t> </a:t>
            </a:r>
            <a:r>
              <a:rPr spc="75" dirty="0"/>
              <a:t>Data</a:t>
            </a:r>
            <a:r>
              <a:rPr spc="175" dirty="0"/>
              <a:t> </a:t>
            </a:r>
            <a:r>
              <a:rPr spc="50" dirty="0"/>
              <a:t>Mining</a:t>
            </a:r>
            <a:r>
              <a:rPr spc="175" dirty="0"/>
              <a:t> </a:t>
            </a:r>
            <a:r>
              <a:rPr spc="25" dirty="0"/>
              <a:t>and</a:t>
            </a:r>
            <a:r>
              <a:rPr spc="500" dirty="0"/>
              <a:t> </a:t>
            </a:r>
            <a:r>
              <a:rPr spc="30" dirty="0"/>
              <a:t>Information</a:t>
            </a:r>
            <a:r>
              <a:rPr spc="135" dirty="0"/>
              <a:t> </a:t>
            </a:r>
            <a:r>
              <a:rPr spc="45" dirty="0"/>
              <a:t>Security:</a:t>
            </a:r>
            <a:r>
              <a:rPr spc="235" dirty="0"/>
              <a:t> </a:t>
            </a:r>
            <a:r>
              <a:rPr spc="30" dirty="0"/>
              <a:t>Proceedings</a:t>
            </a:r>
            <a:r>
              <a:rPr spc="140" dirty="0"/>
              <a:t> </a:t>
            </a:r>
            <a:r>
              <a:rPr spc="30" dirty="0"/>
              <a:t>of</a:t>
            </a:r>
            <a:r>
              <a:rPr spc="140" dirty="0"/>
              <a:t> </a:t>
            </a:r>
            <a:r>
              <a:rPr spc="55" dirty="0"/>
              <a:t>IEMIS</a:t>
            </a:r>
            <a:r>
              <a:rPr spc="135" dirty="0"/>
              <a:t> </a:t>
            </a:r>
            <a:r>
              <a:rPr spc="30" dirty="0"/>
              <a:t>2020,</a:t>
            </a:r>
            <a:r>
              <a:rPr spc="140" dirty="0"/>
              <a:t> </a:t>
            </a:r>
            <a:r>
              <a:rPr spc="50" dirty="0"/>
              <a:t>Volume</a:t>
            </a:r>
            <a:r>
              <a:rPr spc="140" dirty="0"/>
              <a:t> </a:t>
            </a:r>
            <a:r>
              <a:rPr spc="70" dirty="0"/>
              <a:t>1,</a:t>
            </a:r>
            <a:r>
              <a:rPr spc="140" dirty="0"/>
              <a:t> </a:t>
            </a:r>
            <a:r>
              <a:rPr spc="55" dirty="0"/>
              <a:t>pp.</a:t>
            </a:r>
            <a:r>
              <a:rPr spc="229" dirty="0"/>
              <a:t> </a:t>
            </a:r>
            <a:r>
              <a:rPr spc="-10" dirty="0"/>
              <a:t>319–329.</a:t>
            </a:r>
          </a:p>
        </p:txBody>
      </p:sp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46" y="1357096"/>
            <a:ext cx="63220" cy="632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46" y="1572183"/>
            <a:ext cx="63220" cy="632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3146" y="1787283"/>
            <a:ext cx="63220" cy="632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3146" y="2090940"/>
            <a:ext cx="63220" cy="6322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1623"/>
            <a:ext cx="4608195" cy="114935"/>
            <a:chOff x="0" y="3341623"/>
            <a:chExt cx="4608195" cy="114935"/>
          </a:xfrm>
        </p:grpSpPr>
        <p:sp>
          <p:nvSpPr>
            <p:cNvPr id="11" name="object 11"/>
            <p:cNvSpPr/>
            <p:nvPr/>
          </p:nvSpPr>
          <p:spPr>
            <a:xfrm>
              <a:off x="0" y="3341623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584" y="3341623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27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2912" y="1214956"/>
            <a:ext cx="158242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0000"/>
                </a:solidFill>
                <a:latin typeface="Cambria"/>
                <a:cs typeface="Cambria"/>
              </a:rPr>
              <a:t>Thank</a:t>
            </a:r>
            <a:r>
              <a:rPr sz="2450" b="1" spc="3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50" b="1" spc="-25" dirty="0">
                <a:solidFill>
                  <a:srgbClr val="000000"/>
                </a:solidFill>
                <a:latin typeface="Cambria"/>
                <a:cs typeface="Cambria"/>
              </a:rPr>
              <a:t>you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28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244007"/>
            <a:ext cx="4608195" cy="212090"/>
            <a:chOff x="0" y="3244007"/>
            <a:chExt cx="4608195" cy="212090"/>
          </a:xfrm>
        </p:grpSpPr>
        <p:sp>
          <p:nvSpPr>
            <p:cNvPr id="3" name="object 3"/>
            <p:cNvSpPr/>
            <p:nvPr/>
          </p:nvSpPr>
          <p:spPr>
            <a:xfrm>
              <a:off x="0" y="3341624"/>
              <a:ext cx="3225800" cy="114935"/>
            </a:xfrm>
            <a:custGeom>
              <a:avLst/>
              <a:gdLst/>
              <a:ahLst/>
              <a:cxnLst/>
              <a:rect l="l" t="t" r="r" b="b"/>
              <a:pathLst>
                <a:path w="3225800" h="114935">
                  <a:moveTo>
                    <a:pt x="3225584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3225584" y="114376"/>
                  </a:lnTo>
                  <a:lnTo>
                    <a:pt x="322558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25584" y="3341624"/>
              <a:ext cx="1383030" cy="114935"/>
            </a:xfrm>
            <a:custGeom>
              <a:avLst/>
              <a:gdLst/>
              <a:ahLst/>
              <a:cxnLst/>
              <a:rect l="l" t="t" r="r" b="b"/>
              <a:pathLst>
                <a:path w="1383029" h="114935">
                  <a:moveTo>
                    <a:pt x="1382420" y="0"/>
                  </a:moveTo>
                  <a:lnTo>
                    <a:pt x="0" y="0"/>
                  </a:lnTo>
                  <a:lnTo>
                    <a:pt x="0" y="114376"/>
                  </a:lnTo>
                  <a:lnTo>
                    <a:pt x="1382420" y="114376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992325" y="684646"/>
            <a:ext cx="624205" cy="1355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700" b="1" spc="-50" dirty="0">
                <a:latin typeface="Georgia"/>
                <a:cs typeface="Georgia"/>
              </a:rPr>
              <a:t>?</a:t>
            </a:r>
            <a:endParaRPr sz="8700">
              <a:latin typeface="Georgia"/>
              <a:cs typeface="Georg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Indian</a:t>
            </a:r>
            <a:r>
              <a:rPr spc="95" dirty="0"/>
              <a:t> </a:t>
            </a:r>
            <a:r>
              <a:rPr dirty="0"/>
              <a:t>Institute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Information</a:t>
            </a:r>
            <a:r>
              <a:rPr spc="100" dirty="0"/>
              <a:t> </a:t>
            </a:r>
            <a:r>
              <a:rPr dirty="0"/>
              <a:t>Technology,</a:t>
            </a:r>
            <a:r>
              <a:rPr spc="100" dirty="0"/>
              <a:t> </a:t>
            </a:r>
            <a:r>
              <a:rPr spc="-10" dirty="0"/>
              <a:t>Kalyani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70" dirty="0"/>
              <a:t>29</a:t>
            </a:fld>
            <a:r>
              <a:rPr spc="105" dirty="0"/>
              <a:t> </a:t>
            </a:r>
            <a:r>
              <a:rPr dirty="0"/>
              <a:t>/</a:t>
            </a:r>
            <a:r>
              <a:rPr spc="110" dirty="0"/>
              <a:t> </a:t>
            </a: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2446</Words>
  <Application>Microsoft Office PowerPoint</Application>
  <PresentationFormat>Custom</PresentationFormat>
  <Paragraphs>509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Arial</vt:lpstr>
      <vt:lpstr>Arial MT</vt:lpstr>
      <vt:lpstr>Calibri</vt:lpstr>
      <vt:lpstr>Cambria</vt:lpstr>
      <vt:lpstr>Georgia</vt:lpstr>
      <vt:lpstr>Lucida Console</vt:lpstr>
      <vt:lpstr>Lucida Sans Unicode</vt:lpstr>
      <vt:lpstr>Palatino Linotype</vt:lpstr>
      <vt:lpstr>Roboto</vt:lpstr>
      <vt:lpstr>Tahoma</vt:lpstr>
      <vt:lpstr>Times New Roman</vt:lpstr>
      <vt:lpstr>Office Theme</vt:lpstr>
      <vt:lpstr>Mathematical Modelling of Cervical Cancer With HPV Infection</vt:lpstr>
      <vt:lpstr>Mathematical Modelling of Cervical Cancer with HPV Infection</vt:lpstr>
      <vt:lpstr>Introduction</vt:lpstr>
      <vt:lpstr>Objective of the Project</vt:lpstr>
      <vt:lpstr>PowerPoint Presentation</vt:lpstr>
      <vt:lpstr>Model Equations</vt:lpstr>
      <vt:lpstr>PowerPoint Presentation</vt:lpstr>
      <vt:lpstr>Basic Reproduction Number (R0)</vt:lpstr>
      <vt:lpstr>Equilibrium Points</vt:lpstr>
      <vt:lpstr>Stability Analysis: Disease-Free Equilibrium</vt:lpstr>
      <vt:lpstr>Time Series for Disease-Free Equilibrium</vt:lpstr>
      <vt:lpstr>Stability Analysis: Endemic Equilibrium</vt:lpstr>
      <vt:lpstr>Stability Analysis: Endemic Equilibrium</vt:lpstr>
      <vt:lpstr>Time Series for Endemic Equilibrium</vt:lpstr>
      <vt:lpstr>Bifurcation Analysis</vt:lpstr>
      <vt:lpstr>Bifurcation Analysis</vt:lpstr>
      <vt:lpstr>Bifurcation Analysis</vt:lpstr>
      <vt:lpstr>Stability regions for the disease-free and Endemic Eq.</vt:lpstr>
      <vt:lpstr>Local Sensitivity Analysis</vt:lpstr>
      <vt:lpstr>Local Sensitivity Analysis</vt:lpstr>
      <vt:lpstr>PowerPoint Presentation</vt:lpstr>
      <vt:lpstr>PowerPoint Presentation</vt:lpstr>
      <vt:lpstr>How to Reduce HPV Infection?</vt:lpstr>
      <vt:lpstr>Key Results</vt:lpstr>
      <vt:lpstr>Conclusion</vt:lpstr>
      <vt:lpstr>Future Work</vt:lpstr>
      <vt:lpstr>References</vt:lpstr>
      <vt:lpstr>Thank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Modelling of Cervical Cancer With HPV Infection</dc:title>
  <dc:creator> 0.2cm Presented by:  Abhishek Pal (856)  Aditya Vishwakarma (860)  Amit Chausali (866)  Arindam Mondal (880) 0.2cm Under the Supervision of Dr. Sudeshna Mondal  </dc:creator>
  <cp:lastModifiedBy>Abhishek Pal</cp:lastModifiedBy>
  <cp:revision>1</cp:revision>
  <dcterms:created xsi:type="dcterms:W3CDTF">2025-05-14T07:10:32Z</dcterms:created>
  <dcterms:modified xsi:type="dcterms:W3CDTF">2025-05-14T02:32:37Z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2025-05-14T00:00:00Z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